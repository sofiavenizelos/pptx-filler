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67" r:id="rId2"/>
    <p:sldId id="269" r:id="rId3"/>
    <p:sldId id="268" r:id="rId4"/>
    <p:sldId id="270" r:id="rId5"/>
    <p:sldId id="271" r:id="rId6"/>
    <p:sldId id="258" r:id="rId7"/>
    <p:sldId id="266" r:id="rId8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554" autoAdjust="0"/>
    <p:restoredTop sz="96247" autoAdjust="0"/>
  </p:normalViewPr>
  <p:slideViewPr>
    <p:cSldViewPr snapToGrid="0">
      <p:cViewPr>
        <p:scale>
          <a:sx n="100" d="100"/>
          <a:sy n="100" d="100"/>
        </p:scale>
        <p:origin x="-1164" y="-978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64191"/>
            <a:ext cx="7729509" cy="8268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Supports {{</a:t>
            </a:r>
            <a:r>
              <a:rPr lang="en-GB" sz="1400" dirty="0" err="1"/>
              <a:t>data_rate</a:t>
            </a:r>
            <a:r>
              <a:rPr lang="en-GB" sz="1400" dirty="0"/>
              <a:t>}} {{modulation}}{{</a:t>
            </a:r>
            <a:r>
              <a:rPr lang="en-GB" sz="1400" dirty="0" err="1"/>
              <a:t>lane_config</a:t>
            </a:r>
            <a:r>
              <a:rPr lang="en-GB" sz="1400" dirty="0"/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z="1400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4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4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709504" y="384911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788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</a:rPr>
              <a:t>{{</a:t>
            </a:r>
            <a:r>
              <a:rPr lang="en-GB" dirty="0" err="1">
                <a:latin typeface="Courier New" panose="02070309020205020404" pitchFamily="49" charset="0"/>
              </a:rPr>
              <a:t>technical_drawing</a:t>
            </a:r>
            <a:r>
              <a:rPr lang="en-GB" dirty="0">
                <a:latin typeface="Courier New" panose="02070309020205020404" pitchFamily="49" charset="0"/>
              </a:rPr>
              <a:t>}}</a:t>
            </a:r>
            <a:r>
              <a:rPr lang="en-GB" dirty="0"/>
              <a:t>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520613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7921690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825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7258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4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4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4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_1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{{branded_equiv_1}}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_2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{{branded_equiv_2}}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_3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{{branded_equiv_3}}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{{part_number_4}}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{{part_description_4}}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{{compatibility</a:t>
                      </a:r>
                      <a:r>
                        <a:rPr lang="en-GB" sz="1200" dirty="0"/>
                        <a:t>_4</a:t>
                      </a:r>
                      <a:r>
                        <a:rPr lang="en-GB" sz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lang="en-GB" sz="12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200" dirty="0"/>
                        <a:t>{{branded_equiv_4}}</a:t>
                      </a:r>
                      <a:endParaRPr lang="en-GB" sz="12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4062344" y="4510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963DCD38-7A51-9CBE-79CC-3387B723F75E}"/>
              </a:ext>
            </a:extLst>
          </p:cNvPr>
          <p:cNvSpPr txBox="1"/>
          <p:nvPr/>
        </p:nvSpPr>
        <p:spPr>
          <a:xfrm>
            <a:off x="483205" y="1494790"/>
            <a:ext cx="427291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</a:t>
            </a:r>
            <a:r>
              <a:rPr sz="1400" b="1" spc="-5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Maximum</a:t>
            </a:r>
            <a:r>
              <a:rPr sz="1400" b="1" spc="-6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6733C3CE-01E8-AFE3-8E28-87F4156B8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0638515"/>
              </p:ext>
            </p:extLst>
          </p:nvPr>
        </p:nvGraphicFramePr>
        <p:xfrm>
          <a:off x="444501" y="1822801"/>
          <a:ext cx="8496300" cy="778860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462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375">
                  <a:extLst>
                    <a:ext uri="{9D8B030D-6E8A-4147-A177-3AD203B41FA5}">
                      <a16:colId xmlns:a16="http://schemas.microsoft.com/office/drawing/2014/main" val="3444705841"/>
                    </a:ext>
                  </a:extLst>
                </a:gridCol>
                <a:gridCol w="7954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33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843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1">
                  <a:extLst>
                    <a:ext uri="{9D8B030D-6E8A-4147-A177-3AD203B41FA5}">
                      <a16:colId xmlns:a16="http://schemas.microsoft.com/office/drawing/2014/main" val="35989859"/>
                    </a:ext>
                  </a:extLst>
                </a:gridCol>
              </a:tblGrid>
              <a:tr h="31754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Storage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abs_storage_temp_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22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Operating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abs_operating_case_temp_symbol</a:t>
                      </a:r>
                      <a:r>
                        <a:rPr lang="en-GB" sz="1200" dirty="0"/>
                        <a:t>}}</a:t>
                      </a: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abs_operating_case_temp_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Relative Humidity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abs_relative_humidity_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Damage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abs_damage_power_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ESD Rating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abs_esd_rating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abs_esd_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Input Voltage on Control Pins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abs_input_voltage_min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abs_input_voltage_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66317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Optical Input Power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abs_optical_input_power_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8526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Module Case Temperature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abs_module_case_temp_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5288000"/>
                  </a:ext>
                </a:extLst>
              </a:tr>
              <a:tr h="8346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>
                          <a:latin typeface="+mn-lt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abs_supply_voltage_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576460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52AD3EA4-D51B-968B-56AF-3323A3372F3F}"/>
              </a:ext>
            </a:extLst>
          </p:cNvPr>
          <p:cNvSpPr txBox="1"/>
          <p:nvPr/>
        </p:nvSpPr>
        <p:spPr>
          <a:xfrm>
            <a:off x="9342618" y="1495431"/>
            <a:ext cx="4108255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</a:t>
            </a:r>
            <a:r>
              <a:rPr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Operating</a:t>
            </a:r>
            <a:r>
              <a:rPr sz="1400" b="1" spc="-7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5" name="object 7">
            <a:extLst>
              <a:ext uri="{FF2B5EF4-FFF2-40B4-BE49-F238E27FC236}">
                <a16:creationId xmlns:a16="http://schemas.microsoft.com/office/drawing/2014/main" id="{9C7AF0EE-ACFC-C400-B539-04EB259980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6628530"/>
              </p:ext>
            </p:extLst>
          </p:nvPr>
        </p:nvGraphicFramePr>
        <p:xfrm>
          <a:off x="9363074" y="1818817"/>
          <a:ext cx="8074025" cy="711435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4038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4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4599">
                  <a:extLst>
                    <a:ext uri="{9D8B030D-6E8A-4147-A177-3AD203B41FA5}">
                      <a16:colId xmlns:a16="http://schemas.microsoft.com/office/drawing/2014/main" val="1032077835"/>
                    </a:ext>
                  </a:extLst>
                </a:gridCol>
              </a:tblGrid>
              <a:tr h="352883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1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Operating Case Temperature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op_case_temp_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97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Supply Voltage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op_supply_voltage_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55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Supply Current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op_supply_current_unit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</a:t>
                      </a:r>
                      <a:r>
                        <a:rPr lang="en-GB" sz="1200" dirty="0" err="1"/>
                        <a:t>op_supply_current_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192887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op_data_rate_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 Accuracy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op_data_rate_accuracy_symbol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op_data_rate_accuracy_min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op_data_rate_accuracy_typical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op_data_rate_accuracy_max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op_data_rate_accuracy_unit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>
                          <a:latin typeface="+mn-lt"/>
                        </a:rPr>
                        <a:t>{{</a:t>
                      </a:r>
                      <a:r>
                        <a:rPr lang="en-GB" sz="1200" dirty="0" err="1">
                          <a:latin typeface="+mn-lt"/>
                        </a:rPr>
                        <a:t>op_data_rate_accuracy_notes</a:t>
                      </a:r>
                      <a:r>
                        <a:rPr lang="en-GB" sz="1200" dirty="0">
                          <a:latin typeface="+mn-lt"/>
                        </a:rPr>
                        <a:t>}}</a:t>
                      </a: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884492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Pre-FEC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op_pre_fec_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048075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/>
                        <a:t>Post-FEC BER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op_post_fec_ber_symbol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op_post_fec_ber_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45050"/>
                  </a:ext>
                </a:extLst>
              </a:tr>
              <a:tr h="566981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/>
                        <a:t>Fiber Length 9/125</a:t>
                      </a:r>
                      <a:r>
                        <a:rPr lang="el-GR" sz="1100" dirty="0"/>
                        <a:t>μ</a:t>
                      </a:r>
                      <a:r>
                        <a:rPr lang="en-GB" sz="1100" dirty="0"/>
                        <a:t>m core SMF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4368146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FEC Requirement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op_fec_requirment_symbol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op_fiber_length_typical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op_fiber_length_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1906222"/>
                  </a:ext>
                </a:extLst>
              </a:tr>
              <a:tr h="7289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Dissipation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op_power_dissipation_symbol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op_power_dissipation_min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op_power_dissipation_typical</a:t>
                      </a:r>
                      <a:r>
                        <a:rPr lang="en-GB" sz="12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op_power_dissipation_max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op_power_dissipation_unit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200" dirty="0"/>
                        <a:t>{{</a:t>
                      </a:r>
                      <a:r>
                        <a:rPr lang="en-GB" sz="1200" dirty="0" err="1"/>
                        <a:t>op_power_dissipation_</a:t>
                      </a:r>
                      <a:r>
                        <a:rPr lang="en-GB" sz="1200" dirty="0" err="1">
                          <a:latin typeface="+mn-lt"/>
                        </a:rPr>
                        <a:t>notes</a:t>
                      </a:r>
                      <a:r>
                        <a:rPr lang="en-GB" sz="1200" dirty="0"/>
                        <a:t>}}</a:t>
                      </a:r>
                      <a:endParaRPr lang="en-GB" sz="1200" dirty="0">
                        <a:latin typeface="+mn-lt"/>
                      </a:endParaRPr>
                    </a:p>
                    <a:p>
                      <a:pPr>
                        <a:buNone/>
                      </a:pPr>
                      <a:endParaRPr lang="en-GB" sz="12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812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824068-31E3-D46F-492A-0B66D5514B05}"/>
              </a:ext>
            </a:extLst>
          </p:cNvPr>
          <p:cNvSpPr txBox="1"/>
          <p:nvPr/>
        </p:nvSpPr>
        <p:spPr>
          <a:xfrm>
            <a:off x="3860800" y="25294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7300158"/>
              </p:ext>
            </p:extLst>
          </p:nvPr>
        </p:nvGraphicFramePr>
        <p:xfrm>
          <a:off x="560280" y="1802178"/>
          <a:ext cx="8129552" cy="795364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30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08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163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93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31919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6107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lang="en-GB"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{{rx_wavelength_l0_max}}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 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{{rx_wavelength_l1_min}}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{{rx_wavelength_l1_max}}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36793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/>
                        <a:t>{{rx_wavelength_l2_min}}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{{rx_wavelength_l2_typ}}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{{rx_wavelength_l2_max}}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{{rx_wavelength_l3_max}}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{{rx_wavelength_l4_max}}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{{rx_wavelength_l5_max}}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{{rx_wavelength_l6_max}}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366107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/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{{rx_wavelength_l7_min}}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{{rx_wavelength_l7_typ}}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{{rx_wavelength_l7_max}}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100" dirty="0"/>
                        <a:t>nm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579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Data Rate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rx_data_rate_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57952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rx_modulation_format_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727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Average Receive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rx_average_receive_power_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5046628"/>
                  </a:ext>
                </a:extLst>
              </a:tr>
              <a:tr h="3612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 Power (OMA outer)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rx_receive_power_oma_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69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Receiver Sensitivity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rx_receiver_sensitivity_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84517126"/>
                  </a:ext>
                </a:extLst>
              </a:tr>
              <a:tr h="611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Stressed Receiver Sensitivity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rx_stressed_receiver_sensitivity_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804011"/>
                  </a:ext>
                </a:extLst>
              </a:tr>
            </a:tbl>
          </a:graphicData>
        </a:graphic>
      </p:graphicFrame>
      <p:sp>
        <p:nvSpPr>
          <p:cNvPr id="5" name="object 5">
            <a:extLst>
              <a:ext uri="{FF2B5EF4-FFF2-40B4-BE49-F238E27FC236}">
                <a16:creationId xmlns:a16="http://schemas.microsoft.com/office/drawing/2014/main" id="{AC002B7D-0AA6-D993-E337-3969F6495031}"/>
              </a:ext>
            </a:extLst>
          </p:cNvPr>
          <p:cNvSpPr txBox="1"/>
          <p:nvPr/>
        </p:nvSpPr>
        <p:spPr>
          <a:xfrm>
            <a:off x="506448" y="132544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- Receiver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21" name="object 5">
            <a:extLst>
              <a:ext uri="{FF2B5EF4-FFF2-40B4-BE49-F238E27FC236}">
                <a16:creationId xmlns:a16="http://schemas.microsoft.com/office/drawing/2014/main" id="{9E96D691-A839-5053-FBA3-555027B47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6481209"/>
              </p:ext>
            </p:extLst>
          </p:nvPr>
        </p:nvGraphicFramePr>
        <p:xfrm>
          <a:off x="9347201" y="1802178"/>
          <a:ext cx="8027951" cy="732277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1302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155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28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9802">
                  <a:extLst>
                    <a:ext uri="{9D8B030D-6E8A-4147-A177-3AD203B41FA5}">
                      <a16:colId xmlns:a16="http://schemas.microsoft.com/office/drawing/2014/main" val="3561619983"/>
                    </a:ext>
                  </a:extLst>
                </a:gridCol>
              </a:tblGrid>
              <a:tr h="369077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968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Damage Threshold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rx_damage_threshold_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634215"/>
                  </a:ext>
                </a:extLst>
              </a:tr>
              <a:tr h="8148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Input Overload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rx_optical_input_overload_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11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Receiver 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rx_receiver_reflectance_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BER Floor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rx_ber_floor_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4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SECQ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rx_secq_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Aggressor Lane OMA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/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rx_aggressor_lane_oma_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8148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Receive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rx_receive_power_difference_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9607864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Assert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rx_los_assert_symbol</a:t>
                      </a:r>
                      <a:r>
                        <a:rPr lang="en-GB" sz="1100" dirty="0"/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rx_los_assert_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106048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De assert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rx_los_deassert_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598932"/>
                  </a:ext>
                </a:extLst>
              </a:tr>
              <a:tr h="6338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LOS Hysteresis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rx_los_hysteresis_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033036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6525A80-2451-A546-AB91-E6E884999DF7}"/>
              </a:ext>
            </a:extLst>
          </p:cNvPr>
          <p:cNvSpPr txBox="1"/>
          <p:nvPr/>
        </p:nvSpPr>
        <p:spPr>
          <a:xfrm>
            <a:off x="4219432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5">
            <a:extLst>
              <a:ext uri="{FF2B5EF4-FFF2-40B4-BE49-F238E27FC236}">
                <a16:creationId xmlns:a16="http://schemas.microsoft.com/office/drawing/2014/main" id="{F050F449-BAD1-4C4A-09C9-E67A515AF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7188265"/>
              </p:ext>
            </p:extLst>
          </p:nvPr>
        </p:nvGraphicFramePr>
        <p:xfrm>
          <a:off x="493486" y="1929568"/>
          <a:ext cx="8157029" cy="73423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72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87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50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2486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15052">
                  <a:extLst>
                    <a:ext uri="{9D8B030D-6E8A-4147-A177-3AD203B41FA5}">
                      <a16:colId xmlns:a16="http://schemas.microsoft.com/office/drawing/2014/main" val="1637991353"/>
                    </a:ext>
                  </a:extLst>
                </a:gridCol>
              </a:tblGrid>
              <a:tr h="375938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565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+mn-lt"/>
                        </a:rPr>
                        <a:t>Centre Wavelength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L0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{{tx_wavelength_l0_typ}}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L1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{{tx_wavelength_l1_typ}}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{{tx_wavelength_l1_max}}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L2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{{tx_wavelength_l2_typ}}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{{tx_wavelength_l2_max}}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L3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{{tx_wavelength_l3_typ}}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{{tx_wavelength_l3_max}}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L4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{{tx_wavelength_l4_typ}}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{{tx_wavelength_l4_max}}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18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L5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{{tx_wavelength_l5_typ}}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{{tx_wavelength_l5_max}}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L6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{{tx_wavelength_l6_typ}}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{{tx_wavelength_l6_max}}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565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+mn-lt"/>
                        </a:rPr>
                        <a:t>L7</a:t>
                      </a:r>
                      <a:endParaRPr sz="1100" dirty="0">
                        <a:latin typeface="+mn-lt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{{tx_wavelength_l7_typ}}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+mn-lt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3025245"/>
                  </a:ext>
                </a:extLst>
              </a:tr>
              <a:tr h="75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tx_optical_data_rate_notes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7910634"/>
                  </a:ext>
                </a:extLst>
              </a:tr>
              <a:tr h="7502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Modulation Format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tx_modulation_format_notes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2182687"/>
                  </a:ext>
                </a:extLst>
              </a:tr>
              <a:tr h="513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Signal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tx_signal_rate_notes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78"/>
                  </a:ext>
                </a:extLst>
              </a:tr>
              <a:tr h="61628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Total Average Launch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tx_launched_power_lane_notes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9709884"/>
                  </a:ext>
                </a:extLst>
              </a:tr>
              <a:tr h="58518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tx_oma_outer_symbol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tx_oma_outer_min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tx_oma_outer_typ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tx_oma_outer_max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tx_oma_outer_unit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+mn-lt"/>
                        </a:rPr>
                        <a:t>{{</a:t>
                      </a:r>
                      <a:r>
                        <a:rPr lang="en-GB" sz="1100" dirty="0" err="1">
                          <a:latin typeface="+mn-lt"/>
                        </a:rPr>
                        <a:t>tx_oma_outer_notes</a:t>
                      </a:r>
                      <a:r>
                        <a:rPr lang="en-GB" sz="1100" dirty="0">
                          <a:latin typeface="+mn-lt"/>
                        </a:rPr>
                        <a:t>}}</a:t>
                      </a:r>
                    </a:p>
                    <a:p>
                      <a:pPr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452835"/>
                  </a:ext>
                </a:extLst>
              </a:tr>
            </a:tbl>
          </a:graphicData>
        </a:graphic>
      </p:graphicFrame>
      <p:sp>
        <p:nvSpPr>
          <p:cNvPr id="7" name="object 5">
            <a:extLst>
              <a:ext uri="{FF2B5EF4-FFF2-40B4-BE49-F238E27FC236}">
                <a16:creationId xmlns:a16="http://schemas.microsoft.com/office/drawing/2014/main" id="{337CA71C-FC53-F4CE-86FB-44E8B09A9BD5}"/>
              </a:ext>
            </a:extLst>
          </p:cNvPr>
          <p:cNvSpPr txBox="1"/>
          <p:nvPr/>
        </p:nvSpPr>
        <p:spPr>
          <a:xfrm>
            <a:off x="473432" y="1388689"/>
            <a:ext cx="3712984" cy="323165"/>
          </a:xfrm>
          <a:prstGeom prst="rect">
            <a:avLst/>
          </a:prstGeom>
        </p:spPr>
        <p:txBody>
          <a:bodyPr vert="horz" wrap="square" lIns="0" tIns="106680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</a:t>
            </a:r>
            <a:r>
              <a:rPr lang="en-GB"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Characteristics - Transmitter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6A8295DD-8CE7-A6F8-DD94-BF5E35D994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4681028"/>
              </p:ext>
            </p:extLst>
          </p:nvPr>
        </p:nvGraphicFramePr>
        <p:xfrm>
          <a:off x="8940800" y="1069384"/>
          <a:ext cx="8610601" cy="96841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5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7721">
                  <a:extLst>
                    <a:ext uri="{9D8B030D-6E8A-4147-A177-3AD203B41FA5}">
                      <a16:colId xmlns:a16="http://schemas.microsoft.com/office/drawing/2014/main" val="1017605864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79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31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0801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5315">
                  <a:extLst>
                    <a:ext uri="{9D8B030D-6E8A-4147-A177-3AD203B41FA5}">
                      <a16:colId xmlns:a16="http://schemas.microsoft.com/office/drawing/2014/main" val="833981636"/>
                    </a:ext>
                  </a:extLst>
                </a:gridCol>
              </a:tblGrid>
              <a:tr h="3572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Modulation Amplitude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tx_optical_modulation_amplitude_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Extinction Ratio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tx_extinction_ratio_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and Dispersion Eye Closure for PAM4 (TDECQ),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eye closure for PAM4 (TECQ), each Lane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tx_tecq_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Transmitter Dispersion Penalty (TDP)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tx_tdp_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821450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Over/Undershoot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tx_over_undershoot_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2563038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Peak-to-Peak Power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tx_peak_to_peak_power_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5259243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Power Excursion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tx_power_excursion_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200471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Difference Between Lane Powers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tx_lane_power_difference_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0879306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Optical Return Loss Tolerance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tx_optical_return_loss_tolerance_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691175"/>
                  </a:ext>
                </a:extLst>
              </a:tr>
              <a:tr h="1532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RIN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tx_rin_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921612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Reflectance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6229673"/>
                  </a:ext>
                </a:extLst>
              </a:tr>
              <a:tr h="275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Rise/Fall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  <a:p>
                      <a:pPr algn="ctr">
                        <a:buNone/>
                      </a:pP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tx_rise_fall_time_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374120"/>
                  </a:ext>
                </a:extLst>
              </a:tr>
              <a:tr h="2145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/>
                        <a:t>Transition Time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tx_transition_time_typ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tx_transition_time_</a:t>
                      </a:r>
                      <a:r>
                        <a:rPr lang="en-GB" sz="1100" dirty="0" err="1">
                          <a:latin typeface="+mn-lt"/>
                        </a:rPr>
                        <a:t>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+mn-l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375562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200B808-03D4-B782-F89B-D4F74205078F}"/>
              </a:ext>
            </a:extLst>
          </p:cNvPr>
          <p:cNvSpPr txBox="1"/>
          <p:nvPr/>
        </p:nvSpPr>
        <p:spPr>
          <a:xfrm>
            <a:off x="4186416" y="488434"/>
            <a:ext cx="894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1800" dirty="0"/>
              <a:t>{{</a:t>
            </a:r>
            <a:r>
              <a:rPr lang="en-GB" sz="1800" dirty="0" err="1"/>
              <a:t>product_title</a:t>
            </a:r>
            <a:r>
              <a:rPr lang="en-GB" sz="1800" dirty="0"/>
              <a:t>}}</a:t>
            </a:r>
            <a:endParaRPr lang="en-GB" sz="1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483205" y="15199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Courier New" panose="02070309020205020404" pitchFamily="49" charset="0"/>
              </a:rPr>
              <a:t>{{</a:t>
            </a:r>
            <a:r>
              <a:rPr lang="en-GB" sz="1400" dirty="0" err="1">
                <a:latin typeface="Courier New" panose="02070309020205020404" pitchFamily="49" charset="0"/>
              </a:rPr>
              <a:t>technical_drawing</a:t>
            </a:r>
            <a:r>
              <a:rPr lang="en-GB" sz="1400" dirty="0">
                <a:latin typeface="Courier New" panose="02070309020205020404" pitchFamily="49" charset="0"/>
              </a:rPr>
              <a:t>}}</a:t>
            </a:r>
            <a:r>
              <a:rPr lang="en-GB" sz="1400" dirty="0"/>
              <a:t>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FDCAB4-97F7-4400-A9B2-0DF8FAD30A55}"/>
              </a:ext>
            </a:extLst>
          </p:cNvPr>
          <p:cNvSpPr txBox="1"/>
          <p:nvPr/>
        </p:nvSpPr>
        <p:spPr>
          <a:xfrm>
            <a:off x="4107070" y="368778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4308519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Courier New" panose="02070309020205020404" pitchFamily="49" charset="0"/>
                        </a:rPr>
                        <a:t>{{</a:t>
                      </a:r>
                      <a:r>
                        <a:rPr lang="en-GB" dirty="0" err="1">
                          <a:latin typeface="Courier New" panose="02070309020205020404" pitchFamily="49" charset="0"/>
                        </a:rPr>
                        <a:t>technical_drawing</a:t>
                      </a:r>
                      <a:r>
                        <a:rPr lang="en-GB" dirty="0">
                          <a:latin typeface="Courier New" panose="02070309020205020404" pitchFamily="49" charset="0"/>
                        </a:rPr>
                        <a:t>}}</a:t>
                      </a:r>
                      <a:r>
                        <a:rPr lang="en-GB" dirty="0"/>
                        <a:t>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481874" y="1525290"/>
            <a:ext cx="1912983" cy="22826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/>
            <a:r>
              <a:rPr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</a:t>
            </a:r>
            <a:r>
              <a:rPr sz="1400" b="1" spc="-6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Compliance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4095"/>
              </p:ext>
            </p:extLst>
          </p:nvPr>
        </p:nvGraphicFramePr>
        <p:xfrm>
          <a:off x="481874" y="1942386"/>
          <a:ext cx="8103327" cy="5210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81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220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95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2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2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43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compliance_esd_pins_standard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3841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compliance_esd_immunity_standard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848394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compliance_emi_standard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647406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compliance_immunity_feature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1259555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compliance_laser_standard</a:t>
                      </a:r>
                      <a:r>
                        <a:rPr lang="en-GB" sz="1100" dirty="0"/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520500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compliance_environmental_feature</a:t>
                      </a:r>
                      <a:r>
                        <a:rPr lang="en-GB" sz="1100" dirty="0"/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FB13DC2-987C-4042-92E4-F7333CCB4C66}"/>
              </a:ext>
            </a:extLst>
          </p:cNvPr>
          <p:cNvSpPr txBox="1"/>
          <p:nvPr/>
        </p:nvSpPr>
        <p:spPr>
          <a:xfrm>
            <a:off x="3683000" y="514552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dirty="0"/>
              <a:t>{{</a:t>
            </a:r>
            <a:r>
              <a:rPr lang="en-GB" sz="2800" dirty="0" err="1"/>
              <a:t>product_title</a:t>
            </a:r>
            <a:r>
              <a:rPr lang="en-GB" sz="2800" dirty="0"/>
              <a:t>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 pitchFamily="2" charset="0"/>
              <a:ea typeface="Roboto Condensed Black" panose="02000000000000000000" pitchFamily="2" charset="0"/>
              <a:cs typeface="Roboto Condensed Black" panose="02000000000000000000" pitchFamily="2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1258</TotalTime>
  <Words>4278</Words>
  <Application>Microsoft Office PowerPoint</Application>
  <PresentationFormat>Custom</PresentationFormat>
  <Paragraphs>597</Paragraphs>
  <Slides>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Aptos</vt:lpstr>
      <vt:lpstr>Arial</vt:lpstr>
      <vt:lpstr>Courier New</vt:lpstr>
      <vt:lpstr>Roboto</vt:lpstr>
      <vt:lpstr>Roboto Condensed</vt:lpstr>
      <vt:lpstr>Roboto Condensed Black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94</cp:revision>
  <dcterms:created xsi:type="dcterms:W3CDTF">2024-09-20T08:07:20Z</dcterms:created>
  <dcterms:modified xsi:type="dcterms:W3CDTF">2026-06-29T13:12:18Z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