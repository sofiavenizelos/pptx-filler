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7" r:id="rId2"/>
    <p:sldId id="269" r:id="rId3"/>
    <p:sldId id="268" r:id="rId4"/>
    <p:sldId id="270" r:id="rId5"/>
    <p:sldId id="271" r:id="rId6"/>
    <p:sldId id="258" r:id="rId7"/>
    <p:sldId id="266" r:id="rId8"/>
  </p:sldIdLst>
  <p:sldSz cx="178816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7" autoAdjust="0"/>
  </p:normalViewPr>
  <p:slideViewPr>
    <p:cSldViewPr snapToGrid="0">
      <p:cViewPr varScale="1">
        <p:scale>
          <a:sx n="76" d="100"/>
          <a:sy n="76" d="100"/>
        </p:scale>
        <p:origin x="864" y="10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38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1A36AF-244D-6EFD-B5E0-B984446CCA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E9FF1-F8EA-82B9-6BD3-1A34A03958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A462C-7B8E-41CC-A074-F2F31662260A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EECF1-22B8-6DF9-D838-292DCF94A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E3512-641B-EACA-7998-1ACC71B9D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90B1C-02A5-43DA-8D2F-65BE895173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396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2EEEB-836D-594B-9F80-250148AC814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F8E8C-FAAB-A446-9714-2504BBD1D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8E8C-FAAB-A446-9714-2504BBD1DA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4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9DEE-0B44-7DC8-E7B6-49467CE2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963D1-57AB-9FEE-F986-5D5185DE3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AE9CF-854F-FBA0-2A4E-1E67617F7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B8DA8-D1DE-F533-2E35-2B1DC9067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8E8C-FAAB-A446-9714-2504BBD1DA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73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D089-E960-7BDB-DD6C-098B4506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35B5F-953D-1439-39F7-7C7E1791E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68B43-4F36-7B71-16E8-FCC18E6F6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D0998-7319-668B-7D4F-63A61BCBB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F8E8C-FAAB-A446-9714-2504BBD1DA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4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hyperlink" Target="mailto:sales@completeconnect.co.uk?subject=MTP%20Fibre%20Cables" TargetMode="External"/><Relationship Id="rId4" Type="http://schemas.openxmlformats.org/officeDocument/2006/relationships/slideLayout" Target="../slideLayouts/slideLayout4.xml"/><Relationship Id="rId9" Type="http://schemas.openxmlformats.org/officeDocument/2006/relationships/hyperlink" Target="https://www.completeconnect.co.uk/40g-ethernet-mtp-mpo-fibre-networking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blue text on a black background&#10;&#10;Description automatically generated">
            <a:extLst>
              <a:ext uri="{FF2B5EF4-FFF2-40B4-BE49-F238E27FC236}">
                <a16:creationId xmlns:a16="http://schemas.microsoft.com/office/drawing/2014/main" id="{61283C21-452F-6F63-F846-3C81E4CC293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6" y="317009"/>
            <a:ext cx="3533956" cy="853268"/>
          </a:xfrm>
          <a:prstGeom prst="rect">
            <a:avLst/>
          </a:prstGeom>
        </p:spPr>
      </p:pic>
      <p:pic>
        <p:nvPicPr>
          <p:cNvPr id="3" name="Picture 2" descr="A black background with a curved line&#10;&#10;Description automatically generated">
            <a:extLst>
              <a:ext uri="{FF2B5EF4-FFF2-40B4-BE49-F238E27FC236}">
                <a16:creationId xmlns:a16="http://schemas.microsoft.com/office/drawing/2014/main" id="{7EEF87CA-BD4C-4606-571B-3BC5807B1F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3" y="6024880"/>
            <a:ext cx="10083797" cy="4033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9769B4-2DE1-B12A-B227-4A3F7D156652}"/>
              </a:ext>
            </a:extLst>
          </p:cNvPr>
          <p:cNvSpPr txBox="1"/>
          <p:nvPr userDrawn="1"/>
        </p:nvSpPr>
        <p:spPr>
          <a:xfrm>
            <a:off x="791073" y="9601200"/>
            <a:ext cx="4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4455"/>
                </a:solidFill>
              </a:rPr>
              <a:t>Company No. 07246926. Registered in England and Wales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DEC85-7F22-0674-9FC8-A098A74C1D68}"/>
              </a:ext>
            </a:extLst>
          </p:cNvPr>
          <p:cNvSpPr txBox="1"/>
          <p:nvPr userDrawn="1"/>
        </p:nvSpPr>
        <p:spPr>
          <a:xfrm>
            <a:off x="9793167" y="9601200"/>
            <a:ext cx="1833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4455"/>
                </a:solidFill>
                <a:hlinkClick r:id="rId9"/>
              </a:rPr>
              <a:t>completeconnect</a:t>
            </a:r>
            <a:endParaRPr lang="en-US" sz="1200" dirty="0">
              <a:solidFill>
                <a:srgbClr val="00445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87C00-052F-F0F0-7FA4-E52483B1D671}"/>
              </a:ext>
            </a:extLst>
          </p:cNvPr>
          <p:cNvSpPr txBox="1"/>
          <p:nvPr userDrawn="1"/>
        </p:nvSpPr>
        <p:spPr>
          <a:xfrm>
            <a:off x="12655959" y="9601200"/>
            <a:ext cx="2315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4455"/>
                </a:solidFill>
                <a:hlinkClick r:id="rId10"/>
              </a:rPr>
              <a:t>sales@completeconnect.co.uk</a:t>
            </a:r>
            <a:endParaRPr lang="en-US" sz="1200" dirty="0">
              <a:solidFill>
                <a:srgbClr val="00445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08A05-685C-4C78-A98E-86FDE110D3BD}"/>
              </a:ext>
            </a:extLst>
          </p:cNvPr>
          <p:cNvSpPr txBox="1"/>
          <p:nvPr userDrawn="1"/>
        </p:nvSpPr>
        <p:spPr>
          <a:xfrm>
            <a:off x="15825810" y="9601200"/>
            <a:ext cx="1670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4455"/>
                </a:solidFill>
              </a:rPr>
              <a:t>+44 (0)20 8286 6529</a:t>
            </a:r>
          </a:p>
        </p:txBody>
      </p:sp>
      <p:pic>
        <p:nvPicPr>
          <p:cNvPr id="8" name="Graphic 7" descr="Internet outline">
            <a:extLst>
              <a:ext uri="{FF2B5EF4-FFF2-40B4-BE49-F238E27FC236}">
                <a16:creationId xmlns:a16="http://schemas.microsoft.com/office/drawing/2014/main" id="{D9166DC4-01AC-38D5-B802-AB8F66157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2836" y="9573953"/>
            <a:ext cx="381000" cy="381000"/>
          </a:xfrm>
          <a:prstGeom prst="rect">
            <a:avLst/>
          </a:prstGeom>
        </p:spPr>
      </p:pic>
      <p:pic>
        <p:nvPicPr>
          <p:cNvPr id="9" name="Graphic 8" descr="Receiver outline">
            <a:extLst>
              <a:ext uri="{FF2B5EF4-FFF2-40B4-BE49-F238E27FC236}">
                <a16:creationId xmlns:a16="http://schemas.microsoft.com/office/drawing/2014/main" id="{2CD260E5-6D11-AA23-5C79-A60A5BF7B0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38932" y="9623685"/>
            <a:ext cx="281536" cy="281536"/>
          </a:xfrm>
          <a:prstGeom prst="rect">
            <a:avLst/>
          </a:prstGeom>
        </p:spPr>
      </p:pic>
      <p:pic>
        <p:nvPicPr>
          <p:cNvPr id="10" name="Graphic 9" descr="Envelope outline">
            <a:hlinkClick r:id="rId10"/>
            <a:extLst>
              <a:ext uri="{FF2B5EF4-FFF2-40B4-BE49-F238E27FC236}">
                <a16:creationId xmlns:a16="http://schemas.microsoft.com/office/drawing/2014/main" id="{5AACFDA2-A934-02E0-CEE2-644363574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193763" y="9601200"/>
            <a:ext cx="326506" cy="32650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0CA8B0-CC93-4FB3-780C-5D38989E0CB7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71600"/>
            <a:ext cx="17013732" cy="0"/>
          </a:xfrm>
          <a:prstGeom prst="line">
            <a:avLst/>
          </a:prstGeom>
          <a:ln w="15875">
            <a:solidFill>
              <a:srgbClr val="00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5182DF-541B-BE09-DCAA-4D7FEBEF0EFF}"/>
              </a:ext>
            </a:extLst>
          </p:cNvPr>
          <p:cNvCxnSpPr>
            <a:cxnSpLocks/>
          </p:cNvCxnSpPr>
          <p:nvPr userDrawn="1"/>
        </p:nvCxnSpPr>
        <p:spPr>
          <a:xfrm>
            <a:off x="482600" y="1371600"/>
            <a:ext cx="17013732" cy="0"/>
          </a:xfrm>
          <a:prstGeom prst="line">
            <a:avLst/>
          </a:prstGeom>
          <a:ln w="15875">
            <a:solidFill>
              <a:srgbClr val="0044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52B809-65DD-1F4D-4524-76C110A826E5}"/>
              </a:ext>
            </a:extLst>
          </p:cNvPr>
          <p:cNvSpPr txBox="1"/>
          <p:nvPr userDrawn="1"/>
        </p:nvSpPr>
        <p:spPr>
          <a:xfrm>
            <a:off x="15298061" y="533400"/>
            <a:ext cx="2209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745"/>
              </a:spcBef>
            </a:pPr>
            <a:r>
              <a:rPr lang="en-US" sz="2800" b="1" i="0" dirty="0">
                <a:solidFill>
                  <a:srgbClr val="004455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Transceivers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2B990C-8109-F153-A609-A640D92F1010}"/>
              </a:ext>
            </a:extLst>
          </p:cNvPr>
          <p:cNvCxnSpPr>
            <a:cxnSpLocks/>
          </p:cNvCxnSpPr>
          <p:nvPr userDrawn="1"/>
        </p:nvCxnSpPr>
        <p:spPr>
          <a:xfrm>
            <a:off x="205591" y="915549"/>
            <a:ext cx="175429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D93333-EEE0-4EF8-B70B-B460586830E0}"/>
              </a:ext>
            </a:extLst>
          </p:cNvPr>
          <p:cNvCxnSpPr>
            <a:cxnSpLocks/>
          </p:cNvCxnSpPr>
          <p:nvPr userDrawn="1"/>
        </p:nvCxnSpPr>
        <p:spPr>
          <a:xfrm flipH="1">
            <a:off x="9305257" y="719607"/>
            <a:ext cx="7021" cy="8350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43D97B-29D7-80B5-4C49-64420C7B6940}"/>
              </a:ext>
            </a:extLst>
          </p:cNvPr>
          <p:cNvCxnSpPr>
            <a:cxnSpLocks/>
          </p:cNvCxnSpPr>
          <p:nvPr userDrawn="1"/>
        </p:nvCxnSpPr>
        <p:spPr>
          <a:xfrm>
            <a:off x="466222" y="973681"/>
            <a:ext cx="0" cy="826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2F178E-4CC5-3F05-49A1-CF92C0A17347}"/>
              </a:ext>
            </a:extLst>
          </p:cNvPr>
          <p:cNvCxnSpPr>
            <a:cxnSpLocks/>
          </p:cNvCxnSpPr>
          <p:nvPr userDrawn="1"/>
        </p:nvCxnSpPr>
        <p:spPr>
          <a:xfrm>
            <a:off x="8625193" y="739580"/>
            <a:ext cx="0" cy="8380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0759A-05EF-B74E-9D1D-37FE7F424EE8}"/>
              </a:ext>
            </a:extLst>
          </p:cNvPr>
          <p:cNvCxnSpPr>
            <a:cxnSpLocks/>
          </p:cNvCxnSpPr>
          <p:nvPr userDrawn="1"/>
        </p:nvCxnSpPr>
        <p:spPr>
          <a:xfrm>
            <a:off x="17399000" y="739580"/>
            <a:ext cx="0" cy="8331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8747A4-FA00-B925-3810-77E538B320D6}"/>
              </a:ext>
            </a:extLst>
          </p:cNvPr>
          <p:cNvCxnSpPr>
            <a:cxnSpLocks/>
          </p:cNvCxnSpPr>
          <p:nvPr userDrawn="1"/>
        </p:nvCxnSpPr>
        <p:spPr>
          <a:xfrm flipV="1">
            <a:off x="169302" y="1930108"/>
            <a:ext cx="17542993" cy="1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355491-B010-8761-5430-75D42848367F}"/>
              </a:ext>
            </a:extLst>
          </p:cNvPr>
          <p:cNvCxnSpPr>
            <a:cxnSpLocks/>
          </p:cNvCxnSpPr>
          <p:nvPr userDrawn="1"/>
        </p:nvCxnSpPr>
        <p:spPr>
          <a:xfrm>
            <a:off x="169303" y="1703312"/>
            <a:ext cx="175429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D22106-7DAD-6CFA-0B81-93CF3A83BBED}"/>
              </a:ext>
            </a:extLst>
          </p:cNvPr>
          <p:cNvCxnSpPr>
            <a:cxnSpLocks/>
          </p:cNvCxnSpPr>
          <p:nvPr userDrawn="1"/>
        </p:nvCxnSpPr>
        <p:spPr>
          <a:xfrm>
            <a:off x="166255" y="2355274"/>
            <a:ext cx="17387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52">
        <a:defRPr>
          <a:latin typeface="+mn-lt"/>
          <a:ea typeface="+mn-ea"/>
          <a:cs typeface="+mn-cs"/>
        </a:defRPr>
      </a:lvl2pPr>
      <a:lvl3pPr marL="914504">
        <a:defRPr>
          <a:latin typeface="+mn-lt"/>
          <a:ea typeface="+mn-ea"/>
          <a:cs typeface="+mn-cs"/>
        </a:defRPr>
      </a:lvl3pPr>
      <a:lvl4pPr marL="1371757">
        <a:defRPr>
          <a:latin typeface="+mn-lt"/>
          <a:ea typeface="+mn-ea"/>
          <a:cs typeface="+mn-cs"/>
        </a:defRPr>
      </a:lvl4pPr>
      <a:lvl5pPr marL="1829009">
        <a:defRPr>
          <a:latin typeface="+mn-lt"/>
          <a:ea typeface="+mn-ea"/>
          <a:cs typeface="+mn-cs"/>
        </a:defRPr>
      </a:lvl5pPr>
      <a:lvl6pPr marL="2286261">
        <a:defRPr>
          <a:latin typeface="+mn-lt"/>
          <a:ea typeface="+mn-ea"/>
          <a:cs typeface="+mn-cs"/>
        </a:defRPr>
      </a:lvl6pPr>
      <a:lvl7pPr marL="2743513">
        <a:defRPr>
          <a:latin typeface="+mn-lt"/>
          <a:ea typeface="+mn-ea"/>
          <a:cs typeface="+mn-cs"/>
        </a:defRPr>
      </a:lvl7pPr>
      <a:lvl8pPr marL="3200766">
        <a:defRPr>
          <a:latin typeface="+mn-lt"/>
          <a:ea typeface="+mn-ea"/>
          <a:cs typeface="+mn-cs"/>
        </a:defRPr>
      </a:lvl8pPr>
      <a:lvl9pPr marL="365801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52">
        <a:defRPr>
          <a:latin typeface="+mn-lt"/>
          <a:ea typeface="+mn-ea"/>
          <a:cs typeface="+mn-cs"/>
        </a:defRPr>
      </a:lvl2pPr>
      <a:lvl3pPr marL="914504">
        <a:defRPr>
          <a:latin typeface="+mn-lt"/>
          <a:ea typeface="+mn-ea"/>
          <a:cs typeface="+mn-cs"/>
        </a:defRPr>
      </a:lvl3pPr>
      <a:lvl4pPr marL="1371757">
        <a:defRPr>
          <a:latin typeface="+mn-lt"/>
          <a:ea typeface="+mn-ea"/>
          <a:cs typeface="+mn-cs"/>
        </a:defRPr>
      </a:lvl4pPr>
      <a:lvl5pPr marL="1829009">
        <a:defRPr>
          <a:latin typeface="+mn-lt"/>
          <a:ea typeface="+mn-ea"/>
          <a:cs typeface="+mn-cs"/>
        </a:defRPr>
      </a:lvl5pPr>
      <a:lvl6pPr marL="2286261">
        <a:defRPr>
          <a:latin typeface="+mn-lt"/>
          <a:ea typeface="+mn-ea"/>
          <a:cs typeface="+mn-cs"/>
        </a:defRPr>
      </a:lvl6pPr>
      <a:lvl7pPr marL="2743513">
        <a:defRPr>
          <a:latin typeface="+mn-lt"/>
          <a:ea typeface="+mn-ea"/>
          <a:cs typeface="+mn-cs"/>
        </a:defRPr>
      </a:lvl7pPr>
      <a:lvl8pPr marL="3200766">
        <a:defRPr>
          <a:latin typeface="+mn-lt"/>
          <a:ea typeface="+mn-ea"/>
          <a:cs typeface="+mn-cs"/>
        </a:defRPr>
      </a:lvl8pPr>
      <a:lvl9pPr marL="365801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6491" y="1464191"/>
            <a:ext cx="7729509" cy="8268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/>
            <a:r>
              <a:rPr lang="en-GB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 Summary</a:t>
            </a:r>
          </a:p>
          <a:p>
            <a:pPr marL="12701"/>
            <a:endParaRPr lang="en-GB" b="1" spc="-1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Supports {{</a:t>
            </a:r>
            <a:r>
              <a:rPr lang="en-GB" sz="1400" dirty="0" err="1"/>
              <a:t>data_rate</a:t>
            </a:r>
            <a:r>
              <a:rPr lang="en-GB" sz="1400" dirty="0"/>
              <a:t>}} {{modulation}}{{</a:t>
            </a:r>
            <a:r>
              <a:rPr lang="en-GB" sz="1400" dirty="0" err="1"/>
              <a:t>lane_config</a:t>
            </a:r>
            <a:r>
              <a:rPr lang="en-GB" sz="1400" dirty="0"/>
              <a:t>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{{feature_1}}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{{feature_2}} 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{{feature_3}} 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{{feature_4}} 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{{feature_5}}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{{feature_6}}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{{feature_7}} 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{{feature_8}}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{{feature_9}} 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{{feature_10}}</a:t>
            </a:r>
          </a:p>
          <a:p>
            <a:pPr marL="298450" indent="-285750"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{{feature_11}}</a:t>
            </a:r>
          </a:p>
          <a:p>
            <a:pPr marL="298450" indent="-285750"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{{feature_12}}</a:t>
            </a:r>
          </a:p>
          <a:p>
            <a:pPr marL="298450" indent="-285750">
              <a:spcBef>
                <a:spcPts val="660"/>
              </a:spcBef>
              <a:buClr>
                <a:srgbClr val="40AD48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endParaRPr lang="en-GB" sz="1400" spc="-1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>
              <a:spcBef>
                <a:spcPts val="685"/>
              </a:spcBef>
              <a:buClr>
                <a:srgbClr val="40AD49"/>
              </a:buClr>
              <a:tabLst>
                <a:tab pos="278765" algn="l"/>
              </a:tabLst>
            </a:pPr>
            <a:r>
              <a:rPr lang="en-GB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Applications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9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{{application_1}}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9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{{application_2}}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9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{{application_3}}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9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r>
              <a:rPr lang="en-GB" sz="1400" dirty="0"/>
              <a:t>{{application_4}}</a:t>
            </a:r>
          </a:p>
          <a:p>
            <a:pPr marL="298450" indent="-285750">
              <a:lnSpc>
                <a:spcPct val="100000"/>
              </a:lnSpc>
              <a:spcBef>
                <a:spcPts val="660"/>
              </a:spcBef>
              <a:buClr>
                <a:srgbClr val="40AD49"/>
              </a:buClr>
              <a:buFont typeface="Arial" panose="020B0604020202020204" pitchFamily="34" charset="0"/>
              <a:buChar char="•"/>
              <a:tabLst>
                <a:tab pos="278765" algn="l"/>
              </a:tabLst>
            </a:pPr>
            <a:endParaRPr lang="fr-FR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>
              <a:spcBef>
                <a:spcPts val="685"/>
              </a:spcBef>
              <a:buClr>
                <a:srgbClr val="40AD49"/>
              </a:buClr>
              <a:tabLst>
                <a:tab pos="278765" algn="l"/>
              </a:tabLst>
            </a:pPr>
            <a:r>
              <a:rPr lang="en-GB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Standards</a:t>
            </a:r>
          </a:p>
          <a:p>
            <a:pPr marL="278765" indent="-266065">
              <a:lnSpc>
                <a:spcPct val="100000"/>
              </a:lnSpc>
              <a:spcBef>
                <a:spcPts val="580"/>
              </a:spcBef>
              <a:buFont typeface="Wingdings"/>
              <a:buChar char=""/>
              <a:tabLst>
                <a:tab pos="278765" algn="l"/>
              </a:tabLst>
            </a:pPr>
            <a:r>
              <a:rPr lang="en-GB" sz="1400" dirty="0"/>
              <a:t>{{standard_1}}</a:t>
            </a:r>
          </a:p>
          <a:p>
            <a:pPr marL="278765" indent="-266065">
              <a:lnSpc>
                <a:spcPct val="100000"/>
              </a:lnSpc>
              <a:spcBef>
                <a:spcPts val="580"/>
              </a:spcBef>
              <a:buFont typeface="Wingdings"/>
              <a:buChar char=""/>
              <a:tabLst>
                <a:tab pos="278765" algn="l"/>
              </a:tabLst>
            </a:pPr>
            <a:r>
              <a:rPr lang="en-GB" sz="1400" dirty="0"/>
              <a:t>{{standard_2}}</a:t>
            </a:r>
          </a:p>
          <a:p>
            <a:pPr marL="278765" indent="-266065">
              <a:lnSpc>
                <a:spcPct val="100000"/>
              </a:lnSpc>
              <a:spcBef>
                <a:spcPts val="580"/>
              </a:spcBef>
              <a:buFont typeface="Wingdings"/>
              <a:buChar char=""/>
              <a:tabLst>
                <a:tab pos="278765" algn="l"/>
              </a:tabLst>
            </a:pPr>
            <a:r>
              <a:rPr lang="en-GB" sz="1400" dirty="0"/>
              <a:t>{{standard_3}}</a:t>
            </a:r>
          </a:p>
          <a:p>
            <a:pPr marL="278765" indent="-266065">
              <a:lnSpc>
                <a:spcPct val="100000"/>
              </a:lnSpc>
              <a:spcBef>
                <a:spcPts val="580"/>
              </a:spcBef>
              <a:buFont typeface="Wingdings"/>
              <a:buChar char=""/>
              <a:tabLst>
                <a:tab pos="278765" algn="l"/>
              </a:tabLst>
            </a:pPr>
            <a:endParaRPr lang="de-DE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3E9A0-A15C-9A4D-8514-AC4D4AEE898D}"/>
              </a:ext>
            </a:extLst>
          </p:cNvPr>
          <p:cNvSpPr txBox="1"/>
          <p:nvPr/>
        </p:nvSpPr>
        <p:spPr>
          <a:xfrm>
            <a:off x="3887304" y="325920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F11ED-D53F-11B5-3ED8-C12519D9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128" y="1900097"/>
            <a:ext cx="7127438" cy="348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0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D5DD-AAD6-8C34-8724-F39D0378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4">
            <a:extLst>
              <a:ext uri="{FF2B5EF4-FFF2-40B4-BE49-F238E27FC236}">
                <a16:creationId xmlns:a16="http://schemas.microsoft.com/office/drawing/2014/main" id="{49F2ECAF-88C9-8FD4-BEFD-C8DB68538278}"/>
              </a:ext>
            </a:extLst>
          </p:cNvPr>
          <p:cNvSpPr txBox="1"/>
          <p:nvPr/>
        </p:nvSpPr>
        <p:spPr>
          <a:xfrm>
            <a:off x="483205" y="1520613"/>
            <a:ext cx="42729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/>
            <a:r>
              <a:rPr lang="en-GB"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Ordering Information</a:t>
            </a:r>
            <a:endParaRPr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9FAD36F3-A019-9979-C287-C3B7092BB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21690"/>
              </p:ext>
            </p:extLst>
          </p:nvPr>
        </p:nvGraphicFramePr>
        <p:xfrm>
          <a:off x="483205" y="1943757"/>
          <a:ext cx="16933937" cy="3484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258">
                  <a:extLst>
                    <a:ext uri="{9D8B030D-6E8A-4147-A177-3AD203B41FA5}">
                      <a16:colId xmlns:a16="http://schemas.microsoft.com/office/drawing/2014/main" val="2134188741"/>
                    </a:ext>
                  </a:extLst>
                </a:gridCol>
                <a:gridCol w="3062513">
                  <a:extLst>
                    <a:ext uri="{9D8B030D-6E8A-4147-A177-3AD203B41FA5}">
                      <a16:colId xmlns:a16="http://schemas.microsoft.com/office/drawing/2014/main" val="2661050408"/>
                    </a:ext>
                  </a:extLst>
                </a:gridCol>
              </a:tblGrid>
              <a:tr h="64615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4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Part Number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4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Description</a:t>
                      </a:r>
                      <a:endParaRPr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Compatibility</a:t>
                      </a:r>
                      <a:endParaRPr sz="1400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Branded Equiv.</a:t>
                      </a:r>
                      <a:endParaRPr sz="1400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609"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{{part_number_1}}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{{part_description_1}}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{{compatibility</a:t>
                      </a:r>
                      <a:r>
                        <a:rPr lang="en-GB" sz="1200" dirty="0"/>
                        <a:t>_1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{{branded_equiv_1}}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609"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{{part_number_2}}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{{part_description_2}}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{{compatibility</a:t>
                      </a:r>
                      <a:r>
                        <a:rPr lang="en-GB" sz="1200" dirty="0"/>
                        <a:t>_2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{{branded_equiv_2}}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609"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{{part_number_3}}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{{part_description_3}}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{{compatibility</a:t>
                      </a:r>
                      <a:r>
                        <a:rPr lang="en-GB" sz="1200" dirty="0"/>
                        <a:t>_3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{{branded_equiv_3}}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609"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{{part_number_4}}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{{part_description_4}}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{{compatibility</a:t>
                      </a:r>
                      <a:r>
                        <a:rPr lang="en-GB" sz="1200" dirty="0"/>
                        <a:t>_4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0" algn="l" fontAlgn="ctr">
                        <a:buNone/>
                      </a:pPr>
                      <a:r>
                        <a:rPr lang="en-GB" sz="1200" dirty="0"/>
                        <a:t>{{branded_equiv_4}}</a:t>
                      </a:r>
                      <a:endParaRPr lang="en-GB" sz="1200" b="0" i="0" u="none" strike="noStrike" dirty="0">
                        <a:solidFill>
                          <a:srgbClr val="004455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0BBAE9C-2671-E462-8467-EFDF350A34D0}"/>
              </a:ext>
            </a:extLst>
          </p:cNvPr>
          <p:cNvSpPr txBox="1"/>
          <p:nvPr/>
        </p:nvSpPr>
        <p:spPr>
          <a:xfrm>
            <a:off x="4062344" y="451052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1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4887-CBFA-9A72-8D62-51C2ADF2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4">
            <a:extLst>
              <a:ext uri="{FF2B5EF4-FFF2-40B4-BE49-F238E27FC236}">
                <a16:creationId xmlns:a16="http://schemas.microsoft.com/office/drawing/2014/main" id="{963DCD38-7A51-9CBE-79CC-3387B723F75E}"/>
              </a:ext>
            </a:extLst>
          </p:cNvPr>
          <p:cNvSpPr txBox="1"/>
          <p:nvPr/>
        </p:nvSpPr>
        <p:spPr>
          <a:xfrm>
            <a:off x="483205" y="1494790"/>
            <a:ext cx="427291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/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Absolute</a:t>
            </a:r>
            <a:r>
              <a:rPr sz="1400" b="1" spc="-5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Maximum</a:t>
            </a:r>
            <a:r>
              <a:rPr sz="1400" b="1" spc="-6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Ratings</a:t>
            </a:r>
            <a:endParaRPr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6733C3CE-01E8-AFE3-8E28-87F4156B8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6062"/>
              </p:ext>
            </p:extLst>
          </p:nvPr>
        </p:nvGraphicFramePr>
        <p:xfrm>
          <a:off x="444500" y="1822801"/>
          <a:ext cx="8178196" cy="7295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860">
                  <a:extLst>
                    <a:ext uri="{9D8B030D-6E8A-4147-A177-3AD203B41FA5}">
                      <a16:colId xmlns:a16="http://schemas.microsoft.com/office/drawing/2014/main" val="3444705841"/>
                    </a:ext>
                  </a:extLst>
                </a:gridCol>
                <a:gridCol w="89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4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Parameter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Symbol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Min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Typical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Max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Unit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Storage Temperature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abs_storage_temp_symbol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abs_storage_temp_min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abs_storage_temp_typical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abs_storage_temp_max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abs_storage_temp_unit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Operating Case Temperature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abs_operating_case_temp_symbol</a:t>
                      </a:r>
                      <a:r>
                        <a:rPr lang="en-GB" sz="1200" dirty="0"/>
                        <a:t>}}</a:t>
                      </a: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abs_operating_case_temp_min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abs_operating_case_temp_typical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abs_operating_case_temp_max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abs_operating_case_temp_unit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Relative Humidity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abs_relative_humidity_symbol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abs_relative_humidity_min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abs_relative_humidity_typical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abs_relative_humidity_max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abs_relative_humidity_unit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Damage Power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abs_damage_power_symbol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abs_damage_power_min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abs_damage_power_typical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abs_damage_power_max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abs_damage_power_unit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ESD Rating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abs_esd_symbol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abs_esd_min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abs_esd_typical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abs_esd_rating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abs_esd_unit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82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Input Voltage on Control Pins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abs_input_voltage_symbol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abs_input_voltage_min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abs_input_voltage_typical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abs_input_voltage_max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abs_input_voltage_unit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563038"/>
                  </a:ext>
                </a:extLst>
              </a:tr>
              <a:tr h="66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Optical Input Power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abs_optical_input_power_symbol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abs_optical_input_power_min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abs_optical_input_power_typical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abs_optical_input_power_max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abs_optical_input_power_unit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921612"/>
                  </a:ext>
                </a:extLst>
              </a:tr>
              <a:tr h="85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Module Case Temperature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abs_module_case_temp_symbol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abs_module_case_temp_min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abs_module_case_temp_typical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abs_module_case_temp_max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abs_module_case_temp_unit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288000"/>
                  </a:ext>
                </a:extLst>
              </a:tr>
              <a:tr h="834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n-lt"/>
                        </a:rPr>
                        <a:t>Power Supply voltage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abs_supply_voltage_symbol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abs_supply_voltage_min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abs_supply_voltage_typical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abs_supply_voltage_max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abs_supply_voltage_unit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576460"/>
                  </a:ext>
                </a:extLst>
              </a:tr>
            </a:tbl>
          </a:graphicData>
        </a:graphic>
      </p:graphicFrame>
      <p:sp>
        <p:nvSpPr>
          <p:cNvPr id="14" name="object 6">
            <a:extLst>
              <a:ext uri="{FF2B5EF4-FFF2-40B4-BE49-F238E27FC236}">
                <a16:creationId xmlns:a16="http://schemas.microsoft.com/office/drawing/2014/main" id="{52AD3EA4-D51B-968B-56AF-3323A3372F3F}"/>
              </a:ext>
            </a:extLst>
          </p:cNvPr>
          <p:cNvSpPr txBox="1"/>
          <p:nvPr/>
        </p:nvSpPr>
        <p:spPr>
          <a:xfrm>
            <a:off x="9342618" y="1495431"/>
            <a:ext cx="41082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100"/>
              </a:spcBef>
            </a:pPr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Recommended</a:t>
            </a:r>
            <a:r>
              <a:rPr sz="1400" b="1" spc="-7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Operating</a:t>
            </a:r>
            <a:r>
              <a:rPr sz="1400" b="1" spc="-7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Conditions</a:t>
            </a:r>
            <a:endParaRPr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9C7AF0EE-ACFC-C400-B539-04EB25998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481533"/>
              </p:ext>
            </p:extLst>
          </p:nvPr>
        </p:nvGraphicFramePr>
        <p:xfrm>
          <a:off x="9342617" y="1806600"/>
          <a:ext cx="8094483" cy="55118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5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2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2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Parameter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Symbol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Min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Typical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Max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Unit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Operating Case Temperature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op_case_temp_symbol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op_case_temp_min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op_case_temp_typical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op_case_temp_max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op_case_temp_unit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Power Supply Voltage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op_supply_voltage_symbol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op_supply_voltage_min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op_supply_voltage_typical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op_supply_voltage_max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op_supply_voltage_unit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Supply Current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op_supply_current_symbol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op_supply_current_min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op_supply_current_typical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op_supply_current_max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op_supply_current_unit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92887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Data Rate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op_data_rate_symbol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op_data_rate_min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op_data_rate_typical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op_data_rate_max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op_data_rate_unit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Data Rate Accuracy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{{</a:t>
                      </a:r>
                      <a:r>
                        <a:rPr lang="en-GB" sz="1200" dirty="0" err="1">
                          <a:latin typeface="+mn-lt"/>
                        </a:rPr>
                        <a:t>op_data_rate_accuracy_symbol</a:t>
                      </a:r>
                      <a:r>
                        <a:rPr lang="en-GB" sz="12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{{</a:t>
                      </a:r>
                      <a:r>
                        <a:rPr lang="en-GB" sz="1200" dirty="0" err="1">
                          <a:latin typeface="+mn-lt"/>
                        </a:rPr>
                        <a:t>op_data_rate_accuracy_min</a:t>
                      </a:r>
                      <a:r>
                        <a:rPr lang="en-GB" sz="12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{{</a:t>
                      </a:r>
                      <a:r>
                        <a:rPr lang="en-GB" sz="1200" dirty="0" err="1">
                          <a:latin typeface="+mn-lt"/>
                        </a:rPr>
                        <a:t>op_data_rate_accuracy_typical</a:t>
                      </a:r>
                      <a:r>
                        <a:rPr lang="en-GB" sz="12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{{</a:t>
                      </a:r>
                      <a:r>
                        <a:rPr lang="en-GB" sz="1200" dirty="0" err="1">
                          <a:latin typeface="+mn-lt"/>
                        </a:rPr>
                        <a:t>op_data_rate_accuracy_max</a:t>
                      </a:r>
                      <a:r>
                        <a:rPr lang="en-GB" sz="12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+mn-lt"/>
                        </a:rPr>
                        <a:t>{{</a:t>
                      </a:r>
                      <a:r>
                        <a:rPr lang="en-GB" sz="1200" dirty="0" err="1">
                          <a:latin typeface="+mn-lt"/>
                        </a:rPr>
                        <a:t>op_data_rate_accuracy_unit</a:t>
                      </a:r>
                      <a:r>
                        <a:rPr lang="en-GB" sz="12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44925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Pre-FEC BER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op_pre_fec_symbol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op_pre_fec_min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op_pre_fec_typical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op_pre_fec_max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op_pre_fec_unit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048075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Post-FEC BER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op_post_fec_ber_symbol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op_post_fec_ber_min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op_post_fec_ber_typical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op_post_fec_ber_max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op_post_fec_ber_unit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45050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 marL="92075" marR="15875" indent="0" algn="l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en-GB" sz="1100" dirty="0"/>
                        <a:t>Fiber Length 9/125</a:t>
                      </a:r>
                      <a:r>
                        <a:rPr lang="el-GR" sz="1100" dirty="0"/>
                        <a:t>μ</a:t>
                      </a:r>
                      <a:r>
                        <a:rPr lang="en-GB" sz="1100" dirty="0"/>
                        <a:t>m core SMF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368146"/>
                  </a:ext>
                </a:extLst>
              </a:tr>
              <a:tr h="46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FEC Requirement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op_fec_requirment_symbol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op_fiber_length_unit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906222"/>
                  </a:ext>
                </a:extLst>
              </a:tr>
              <a:tr h="651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Power Dissipation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op_power_dissipation_symbol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op_power_dissipation_min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op_power_dissipation_typical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op_power_dissipation_max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op_power_dissipation_unit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12615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A22369-6E79-960D-BE16-C21E0A438E3A}"/>
              </a:ext>
            </a:extLst>
          </p:cNvPr>
          <p:cNvSpPr txBox="1"/>
          <p:nvPr/>
        </p:nvSpPr>
        <p:spPr>
          <a:xfrm>
            <a:off x="4338818" y="9543848"/>
            <a:ext cx="79928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0665" algn="l"/>
              </a:tabLst>
            </a:pP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Suggested</a:t>
            </a: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700mVpp</a:t>
            </a:r>
            <a:r>
              <a:rPr lang="en-GB" sz="1100" spc="-1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</a:t>
            </a:r>
            <a:r>
              <a:rPr lang="en-GB" sz="1100" spc="-2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differential</a:t>
            </a: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signal</a:t>
            </a: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</a:t>
            </a:r>
            <a:r>
              <a:rPr lang="en-GB" sz="1100" spc="-2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better</a:t>
            </a:r>
            <a:r>
              <a:rPr lang="en-GB" sz="1100" spc="-2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</a:t>
            </a:r>
            <a:r>
              <a:rPr lang="en-GB" sz="1100" spc="-1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performance</a:t>
            </a:r>
            <a:endParaRPr lang="en-GB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EFB74-84AC-40D3-D05E-DEFFF4BB7BCD}"/>
              </a:ext>
            </a:extLst>
          </p:cNvPr>
          <p:cNvSpPr txBox="1"/>
          <p:nvPr/>
        </p:nvSpPr>
        <p:spPr>
          <a:xfrm>
            <a:off x="3871844" y="417306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41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862E104E-01DA-8B22-2A74-627584C38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195"/>
              </p:ext>
            </p:extLst>
          </p:nvPr>
        </p:nvGraphicFramePr>
        <p:xfrm>
          <a:off x="506448" y="1915299"/>
          <a:ext cx="8128000" cy="7876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7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544">
                <a:tc>
                  <a:txBody>
                    <a:bodyPr/>
                    <a:lstStyle/>
                    <a:p>
                      <a:pPr marL="6197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Parameter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Symbol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5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GB"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</a:t>
                      </a:r>
                      <a:endParaRPr lang="en-GB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5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Unit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48">
                <a:tc rowSpan="8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GB" sz="1100" dirty="0">
                          <a:latin typeface="+mn-lt"/>
                        </a:rPr>
                        <a:t>Centre Wavelength</a:t>
                      </a:r>
                      <a:endParaRPr lang="en-GB"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L0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{{rx_wavelength_l0_min}}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{{rx_wavelength_l0_typ}}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{{rx_wavelength_l0_max}}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L1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{{rx_wavelength_l1_min}}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{{rx_wavelength_l1_typ}}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{{rx_wavelength_l1_max}}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271970"/>
                  </a:ext>
                </a:extLst>
              </a:tr>
              <a:tr h="36375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L2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GB" sz="1100" dirty="0"/>
                        <a:t>{{rx_wavelength_l2_min}}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92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GB" sz="1100" dirty="0"/>
                        <a:t>{{rx_wavelength_l2_typ}}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GB" sz="1100" dirty="0"/>
                        <a:t>{{rx_wavelength_l2_max}}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148244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L3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{{rx_wavelength_l3_min}}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{{rx_wavelength_l3_typ}}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{{rx_wavelength_l3_max}}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641949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L4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{{rx_wavelength_l4_min}}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{{rx_wavelength_l4_typ}}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{{rx_wavelength_l4_max}}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762399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L5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{{rx_wavelength_l5_min}}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{{rx_wavelength_l5_typ}}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{{rx_wavelength_l5_max}}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269554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L6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{{rx_wavelength_l6_min}}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{{rx_wavelength_l6_typ}}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{{rx_wavelength_l6_max}}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35669"/>
                  </a:ext>
                </a:extLst>
              </a:tr>
              <a:tr h="361948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/>
                        <a:t>L7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{{rx_wavelength_l7_min}}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{{rx_wavelength_l7_typ}}</a:t>
                      </a:r>
                      <a:endParaRPr lang="en-GB"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{{rx_wavelength_l7_max}}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100" dirty="0"/>
                        <a:t>nm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514542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Data Rate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rx_data_rate_symbol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rx_data_rate_min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rx_data_rate_typ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rx_data_rate_max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rx_data_rate_unit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006905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Modulation Format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rx_modulation_format_symbol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rx_modulation_format_min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rx_modulation_format_typical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rx_modulation_format_max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rx_modulation_format_unit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662731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Average Receive Power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rx_average_receive_power_symbol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rx_average_receive_power_min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rx_average_receive_power_typ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rx_average_receive_power_max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rx_average_receive_power_unit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046628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Receive Power (OMA outer)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rx_receive_power_oma_symbol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rx_receive_power_oma_min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rx_receive_power_oma_typ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rx_receive_power_oma_max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rx_receive_power_oma_unit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Receiver Sensitivity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rx_receiver_sensitivity_symbol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rx_receiver_sensitivity_min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rx_receiver_sensitivity_typ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rx_receiver_sensitivity_max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rx_receiver_sensitivity_unit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517126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Stressed Receiver Sensitivity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rx_stressed_receiver_sensitivity_symbol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rx_stressed_receiver_sensitivity_min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rx_stressed_receiver_sensitivity_typ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rx_stressed_receiver_sensitivity_max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rx_stressed_receiver_sensitivity_unit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804011"/>
                  </a:ext>
                </a:extLst>
              </a:tr>
              <a:tr h="60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Damage Threshold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rx_damage_threshold_symbol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rx_damage_threshold_min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rx_damage_threshold_typ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rx_damage_threshold_max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rx_damage_threshold_unit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138750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AC002B7D-0AA6-D993-E337-3969F6495031}"/>
              </a:ext>
            </a:extLst>
          </p:cNvPr>
          <p:cNvSpPr txBox="1"/>
          <p:nvPr/>
        </p:nvSpPr>
        <p:spPr>
          <a:xfrm>
            <a:off x="506448" y="1325449"/>
            <a:ext cx="3712984" cy="32316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1"/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Optical</a:t>
            </a:r>
            <a:r>
              <a:rPr sz="1400" b="1" spc="-6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b="1" spc="-6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characteristics</a:t>
            </a:r>
            <a:r>
              <a:rPr lang="en-GB"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- Receiver</a:t>
            </a:r>
            <a:endParaRPr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9E96D691-A839-5053-FBA3-555027B47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618387"/>
              </p:ext>
            </p:extLst>
          </p:nvPr>
        </p:nvGraphicFramePr>
        <p:xfrm>
          <a:off x="9347200" y="1929199"/>
          <a:ext cx="8027951" cy="6677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1017605864"/>
                    </a:ext>
                  </a:extLst>
                </a:gridCol>
                <a:gridCol w="119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20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Parameter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Symbol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Min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Typical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Max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Unit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Optical Input Overload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rx_optical_input_overload_symbol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rx_optical_input_overload_min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rx_optical_input_overload_typ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rx_optical_input_overload_max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rx_optical_input_overload_unit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Receiver Reflectance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rx_receiver_reflectance_symbol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rx_receiver_reflectance_min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rx_receiver_reflectance_typ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rx_receiver_reflectance_max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rx_receiver_reflectance_unit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BER Floor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rx_ber_floor_symbol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rx_ber_floor_min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rx_ber_floor_typ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rx_ber_floor_max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rx_ber_floor_unit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SECQ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rx_secq_symbol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rx_secq_min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rx_secq_typ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rx_secq_max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rx_secq_unit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Aggressor Lane OMA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rx_aggressor_lane_oma_symbol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rx_aggressor_lane_oma_min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rx_aggressor_lane_oma_typ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rx_aggressor_lane_oma_max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rx_aggressor_lane_oma_unit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821450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Difference Between Receive Powers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rx_receive_power_difference_symbol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rx_receive_power_difference_min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rx_receive_power_difference_typ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rx_receive_power_difference_max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rx_receive_power_difference_unit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07864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LOS Assert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rx_los_assert_symbol</a:t>
                      </a:r>
                      <a:r>
                        <a:rPr lang="en-GB" sz="1200" dirty="0"/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rx_los_assert_min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rx_los_assert_typ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rx_los_assert_max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rx_los_assert_unit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106048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LOS De assert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rx_los_deassert_symbol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rx_los_deassert_min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rx_los_deassert_typ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rx_los_deassert_max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rx_los_deassert_unit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598932"/>
                  </a:ext>
                </a:extLst>
              </a:tr>
              <a:tr h="62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LOS Hysteresis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rx_los_hysteresis_symbol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rx_los_hysteresis_min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rx_los_hysteresis_typ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rx_los_hysteresis_max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rx_los_hysteresis_unit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3303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EEBB1F-04E3-5C44-4A4D-94C5EFA7E80E}"/>
              </a:ext>
            </a:extLst>
          </p:cNvPr>
          <p:cNvSpPr txBox="1"/>
          <p:nvPr/>
        </p:nvSpPr>
        <p:spPr>
          <a:xfrm>
            <a:off x="3822700" y="369177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0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050F449-BAD1-4C4A-09C9-E67A515AF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2745"/>
              </p:ext>
            </p:extLst>
          </p:nvPr>
        </p:nvGraphicFramePr>
        <p:xfrm>
          <a:off x="493486" y="1929568"/>
          <a:ext cx="8157027" cy="7201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6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4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651">
                <a:tc>
                  <a:txBody>
                    <a:bodyPr/>
                    <a:lstStyle/>
                    <a:p>
                      <a:pPr marL="6197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Parameter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Symbol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5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GB" sz="11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</a:t>
                      </a:r>
                      <a:endParaRPr lang="en-GB"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5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2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Unit</a:t>
                      </a:r>
                      <a:endParaRPr sz="11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10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794">
                <a:tc rowSpan="8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GB" sz="1100" dirty="0">
                          <a:latin typeface="+mn-lt"/>
                        </a:rPr>
                        <a:t>Centre Wavelength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9201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L0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{{tx_wavelength_l0_min}}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{{tx_wavelength_l0_typ}}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{{tx_wavelength_l0_max}}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40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L1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{{tx_wavelength_l1_min}}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{{tx_wavelength_l1_typ}}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{{tx_wavelength_l1_max}}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61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L2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{{tx_wavelength_l2_min}}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{{tx_wavelength_l2_typ}}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{{tx_wavelength_l2_max}}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47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761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L3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{{tx_wavelength_l3_min}}</a:t>
                      </a:r>
                    </a:p>
                  </a:txBody>
                  <a:tcPr marL="0" marR="0" marT="47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{{tx_wavelength_l3_typ}}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{{tx_wavelength_l3_max}}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476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48408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L4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{{tx_wavelength_l4_min}}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{{tx_wavelength_l4_typ}}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{{tx_wavelength_l4_max}}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484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477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6503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L5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{{tx_wavelength_l5_min}}</a:t>
                      </a:r>
                    </a:p>
                  </a:txBody>
                  <a:tcPr marL="0" marR="0" marT="1603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{{tx_wavelength_l5_typ}}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{{tx_wavelength_l5_max}}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1603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6503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L6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{{tx_wavelength_l6_min}}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{{tx_wavelength_l6_typ}}</a:t>
                      </a: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{{tx_wavelength_l6_max}}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1603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794">
                <a:tc vMerge="1">
                  <a:txBody>
                    <a:bodyPr/>
                    <a:lstStyle/>
                    <a:p>
                      <a:pPr marL="67945" algn="l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36503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dirty="0">
                          <a:latin typeface="+mn-lt"/>
                        </a:rPr>
                        <a:t>L7</a:t>
                      </a:r>
                      <a:endParaRPr sz="1100" dirty="0"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{{tx_wavelength_l7_min}}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{{tx_wavelength_l7_typ}}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{{tx_wavelength_l7_max}}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+mn-lt"/>
                        </a:rPr>
                        <a:t>nm</a:t>
                      </a:r>
                    </a:p>
                  </a:txBody>
                  <a:tcPr marL="0" marR="0" marT="1603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025245"/>
                  </a:ext>
                </a:extLst>
              </a:tr>
              <a:tr h="625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Optical Data Rate, each Lane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tx_optical_data_rate_symbol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tx_optical_data_rate_min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tx_optical_data_rate_typ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tx_optical_data_rate_max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tx_optical_data_rate_unit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910634"/>
                  </a:ext>
                </a:extLst>
              </a:tr>
              <a:tr h="625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Modulation Format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tx_modulation_format_symbol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tx_modulation_format_min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tx_modulation_format_typ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tx_modulation_format_max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tx_modulation_format_unit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182687"/>
                  </a:ext>
                </a:extLst>
              </a:tr>
              <a:tr h="521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Signal Rate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tx_signal_rate_symbol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tx_signal_rate_min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tx_signal_rate_typ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tx_signal_rate_max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tx_signal_rate_unit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8578"/>
                  </a:ext>
                </a:extLst>
              </a:tr>
              <a:tr h="625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Total Average Launch Power</a:t>
                      </a:r>
                      <a:endParaRPr lang="en-GB" sz="11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tx_launched_power_lane_symbol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tx_launched_power_lane_min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tx_launched_power_lane_typ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tx_launched_power_lane_max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tx_launched_power_lane_unit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709884"/>
                  </a:ext>
                </a:extLst>
              </a:tr>
              <a:tr h="521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Outer OMA, each Lane</a:t>
                      </a: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tx_oma_outer_symbol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tx_oma_outer_min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tx_oma_outer_typ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tx_oma_outer_max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+mn-lt"/>
                        </a:rPr>
                        <a:t>{{</a:t>
                      </a:r>
                      <a:r>
                        <a:rPr lang="en-GB" sz="1100" dirty="0" err="1">
                          <a:latin typeface="+mn-lt"/>
                        </a:rPr>
                        <a:t>tx_oma_outer_unit</a:t>
                      </a:r>
                      <a:r>
                        <a:rPr lang="en-GB" sz="1100" dirty="0">
                          <a:latin typeface="+mn-lt"/>
                        </a:rPr>
                        <a:t>}}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52835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337CA71C-FC53-F4CE-86FB-44E8B09A9BD5}"/>
              </a:ext>
            </a:extLst>
          </p:cNvPr>
          <p:cNvSpPr txBox="1"/>
          <p:nvPr/>
        </p:nvSpPr>
        <p:spPr>
          <a:xfrm>
            <a:off x="473432" y="1388689"/>
            <a:ext cx="3712984" cy="32316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1"/>
            <a:r>
              <a:rPr lang="en-GB"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Optical</a:t>
            </a:r>
            <a:r>
              <a:rPr lang="en-GB" sz="1400" b="1" spc="-6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Characteristics - Transmitter</a:t>
            </a:r>
            <a:endParaRPr lang="en-GB"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6A8295DD-8CE7-A6F8-DD94-BF5E35D99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129512"/>
              </p:ext>
            </p:extLst>
          </p:nvPr>
        </p:nvGraphicFramePr>
        <p:xfrm>
          <a:off x="9347200" y="1244355"/>
          <a:ext cx="8040914" cy="81367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8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682">
                  <a:extLst>
                    <a:ext uri="{9D8B030D-6E8A-4147-A177-3AD203B41FA5}">
                      <a16:colId xmlns:a16="http://schemas.microsoft.com/office/drawing/2014/main" val="1017605864"/>
                    </a:ext>
                  </a:extLst>
                </a:gridCol>
                <a:gridCol w="119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Parameter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Symbol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Min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100" b="1" spc="-25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Typical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en-GB"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Max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Unit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488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Optical Modulation Amplitude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tx_optical_modulation_amplitude_symbol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tx_optical_modulation_amplitude_min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tx_optical_modulation_amplitude_typ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tx_optical_modulation_amplitude_max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tx_optical_modulation_amplitude_unit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Extinction Ratio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tx_extinction_ratio_symbol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tx_extinction_ratio_min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tx_extinction_ratio_typ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tx_extinction_ratio_max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tx_extinction_ratio_unit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TDECQ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tx_tdecq_symbol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tx_tdecq_min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tx_tdecq_typ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tx_tdecq_max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tx_tdecq_unit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TECQ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tx_tecq_symbol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tx_tecq_min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tx_tecq_typ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tx_tecq_max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tx_tecq_unit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Transmitter Dispersion Penalty (TDP)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tx_tdp_symbol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tx_tdp_min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tx_tdp_typ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tx_tdp_max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tx_tdp_unit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821450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Over/Undershoot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tx_over_undershoot_symbol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tx_over_undershoot_min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tx_over_undershoot_typ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tx_over_undershoot_max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tx_over_undershoot_unit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563038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Peak-to-Peak Power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tx_peak_to_peak_power_symbol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tx_peak_to_peak_power_min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tx_peak_to_peak_power_typ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tx_peak_to_peak_power_max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tx_peak_to_peak_power_unit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259243"/>
                  </a:ext>
                </a:extLst>
              </a:tr>
              <a:tr h="433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Power Excursion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tx_power_excursion_symbol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tx_power_excursion_min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tx_power_excursion_typ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tx_power_excursion_max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tx_power_excursion_unit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00471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Difference Between Lane Powers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tx_lane_power_difference_symbol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tx_lane_power_difference_min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tx_lane_power_difference_typ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tx_lane_power_difference_max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tx_lane_power_difference_unit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79306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Optical Return Loss Tolerance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tx_optical_return_loss_tolerance_symbol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tx_optical_return_loss_tolerance_min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tx_optical_return_loss_tolerance_typ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tx_optical_return_loss_tolerance_max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tx_optical_return_loss_tolerance_unit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91175"/>
                  </a:ext>
                </a:extLst>
              </a:tr>
              <a:tr h="380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RIN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tx_rin_symbol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tx_rin_min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tx_rin_typ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tx_rin_max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tx_rin_unit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921612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Reflectance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tx_reflectance_symbol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tx_reflectance_min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tx_reflectance_typ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tx_reflectance_max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tx_reflectance_unit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29673"/>
                  </a:ext>
                </a:extLst>
              </a:tr>
              <a:tr h="607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Rise/Fall Time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tx_rise_fall_time_symbol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  <a:p>
                      <a:pPr algn="ctr">
                        <a:buNone/>
                      </a:pP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tx_rise_fall_time_min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tx_rise_fall_time_typ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tx_rise_fall_time_max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tx_rise_fall_time_unit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374120"/>
                  </a:ext>
                </a:extLst>
              </a:tr>
              <a:tr h="433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Transition Time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tx_transition_time_symbol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tx_transition_time_min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tx_transition_time_typ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tx_transition_time_max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{{</a:t>
                      </a:r>
                      <a:r>
                        <a:rPr lang="en-GB" sz="1200" dirty="0" err="1"/>
                        <a:t>tx_transition_time_unit</a:t>
                      </a:r>
                      <a:r>
                        <a:rPr lang="en-GB" sz="1200" dirty="0"/>
                        <a:t>}}</a:t>
                      </a:r>
                      <a:endParaRPr lang="en-GB" sz="12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7556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200B808-03D4-B782-F89B-D4F74205078F}"/>
              </a:ext>
            </a:extLst>
          </p:cNvPr>
          <p:cNvSpPr txBox="1"/>
          <p:nvPr/>
        </p:nvSpPr>
        <p:spPr>
          <a:xfrm>
            <a:off x="4180113" y="492606"/>
            <a:ext cx="894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1800" dirty="0"/>
              <a:t>{{part_number_1}}</a:t>
            </a:r>
            <a:endParaRPr lang="en-GB" sz="1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0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7C3462B-9325-5B32-B22F-89A53BB0626A}"/>
              </a:ext>
            </a:extLst>
          </p:cNvPr>
          <p:cNvSpPr txBox="1"/>
          <p:nvPr/>
        </p:nvSpPr>
        <p:spPr>
          <a:xfrm>
            <a:off x="483205" y="1519951"/>
            <a:ext cx="319979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/>
            <a:r>
              <a:rPr lang="en-GB" sz="1400" dirty="0">
                <a:latin typeface="Courier New" panose="02070309020205020404" pitchFamily="49" charset="0"/>
              </a:rPr>
              <a:t>{{</a:t>
            </a:r>
            <a:r>
              <a:rPr lang="en-GB" sz="1400" dirty="0" err="1">
                <a:latin typeface="Courier New" panose="02070309020205020404" pitchFamily="49" charset="0"/>
              </a:rPr>
              <a:t>technical_drawing</a:t>
            </a:r>
            <a:r>
              <a:rPr lang="en-GB" sz="1400" dirty="0">
                <a:latin typeface="Courier New" panose="02070309020205020404" pitchFamily="49" charset="0"/>
              </a:rPr>
              <a:t>}}</a:t>
            </a:r>
            <a:r>
              <a:rPr lang="en-GB" sz="1400" dirty="0"/>
              <a:t> </a:t>
            </a:r>
            <a:endParaRPr sz="140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FDCAB4-97F7-4400-A9B2-0DF8FAD30A55}"/>
              </a:ext>
            </a:extLst>
          </p:cNvPr>
          <p:cNvSpPr txBox="1"/>
          <p:nvPr/>
        </p:nvSpPr>
        <p:spPr>
          <a:xfrm>
            <a:off x="4107070" y="368778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6A9301-C21E-46E4-DF91-F5877F25A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308519"/>
              </p:ext>
            </p:extLst>
          </p:nvPr>
        </p:nvGraphicFramePr>
        <p:xfrm>
          <a:off x="2182882" y="4506664"/>
          <a:ext cx="15424150" cy="365760"/>
        </p:xfrm>
        <a:graphic>
          <a:graphicData uri="http://schemas.openxmlformats.org/drawingml/2006/table">
            <a:tbl>
              <a:tblPr/>
              <a:tblGrid>
                <a:gridCol w="15424150">
                  <a:extLst>
                    <a:ext uri="{9D8B030D-6E8A-4147-A177-3AD203B41FA5}">
                      <a16:colId xmlns:a16="http://schemas.microsoft.com/office/drawing/2014/main" val="3542911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{{</a:t>
                      </a:r>
                      <a:r>
                        <a:rPr lang="en-GB" dirty="0" err="1">
                          <a:latin typeface="Courier New" panose="02070309020205020404" pitchFamily="49" charset="0"/>
                        </a:rPr>
                        <a:t>technical_drawing</a:t>
                      </a:r>
                      <a:r>
                        <a:rPr lang="en-GB" dirty="0">
                          <a:latin typeface="Courier New" panose="02070309020205020404" pitchFamily="49" charset="0"/>
                        </a:rPr>
                        <a:t>}}</a:t>
                      </a:r>
                      <a:r>
                        <a:rPr lang="en-GB" dirty="0"/>
                        <a:t> (image placeholder)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11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81874" y="1525290"/>
            <a:ext cx="19129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/>
            <a:r>
              <a:rPr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Regulatory</a:t>
            </a:r>
            <a:r>
              <a:rPr sz="1400" b="1" spc="-6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Compliance</a:t>
            </a:r>
            <a:endParaRPr lang="en-GB" sz="1400" b="1" spc="-1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95"/>
              </p:ext>
            </p:extLst>
          </p:nvPr>
        </p:nvGraphicFramePr>
        <p:xfrm>
          <a:off x="481874" y="1942386"/>
          <a:ext cx="8103327" cy="5210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Feature</a:t>
                      </a:r>
                      <a:endParaRPr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79741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b="1" spc="-1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</a:rPr>
                        <a:t>Standard</a:t>
                      </a:r>
                      <a:endParaRPr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Arial"/>
                      </a:endParaRPr>
                    </a:p>
                  </a:txBody>
                  <a:tcPr marL="0" marR="0" marT="79741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430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compliance_esd_pins_feature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compliance_esd_pins_standard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935353"/>
                  </a:ext>
                </a:extLst>
              </a:tr>
              <a:tr h="738416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compliance_esd_immunity_feature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compliance_esd_immunity_standard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051274"/>
                  </a:ext>
                </a:extLst>
              </a:tr>
              <a:tr h="848394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compliance_emi_feature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compliance_emi_standard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169300"/>
                  </a:ext>
                </a:extLst>
              </a:tr>
              <a:tr h="647406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compliance_immunity_feature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compliance_immunity_standard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83289"/>
                  </a:ext>
                </a:extLst>
              </a:tr>
              <a:tr h="1259555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compliance_laser_feature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compliance_laser_standard</a:t>
                      </a:r>
                      <a:r>
                        <a:rPr lang="en-GB" sz="1100" dirty="0"/>
                        <a:t>}}</a:t>
                      </a:r>
                      <a:endParaRPr lang="en-US"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56028"/>
                  </a:ext>
                </a:extLst>
              </a:tr>
              <a:tr h="520500">
                <a:tc>
                  <a:txBody>
                    <a:bodyPr/>
                    <a:lstStyle/>
                    <a:p>
                      <a:pPr marL="87313" indent="0" algn="l">
                        <a:lnSpc>
                          <a:spcPct val="100000"/>
                        </a:lnSpc>
                      </a:pPr>
                      <a:r>
                        <a:rPr lang="en-GB" sz="1100" dirty="0"/>
                        <a:t>{{</a:t>
                      </a:r>
                      <a:r>
                        <a:rPr lang="en-GB" sz="1100" dirty="0" err="1"/>
                        <a:t>compliance_environmental_feature</a:t>
                      </a:r>
                      <a:r>
                        <a:rPr lang="en-GB" sz="1100" dirty="0"/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18856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ts val="1240"/>
                        </a:lnSpc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compliance_environmental_standard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sz="1100" dirty="0">
                        <a:solidFill>
                          <a:srgbClr val="004455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0" marR="0" marT="872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079934"/>
                  </a:ext>
                </a:extLst>
              </a:tr>
            </a:tbl>
          </a:graphicData>
        </a:graphic>
      </p:graphicFrame>
      <p:sp>
        <p:nvSpPr>
          <p:cNvPr id="16" name="object 9"/>
          <p:cNvSpPr txBox="1"/>
          <p:nvPr/>
        </p:nvSpPr>
        <p:spPr>
          <a:xfrm>
            <a:off x="9435613" y="2464243"/>
            <a:ext cx="7406640" cy="3297056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1" algn="just">
              <a:spcBef>
                <a:spcPts val="790"/>
              </a:spcBef>
            </a:pPr>
            <a:r>
              <a:rPr lang="en-GB"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Im</a:t>
            </a:r>
            <a:r>
              <a:rPr sz="1400" b="1" dirty="0" err="1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portant</a:t>
            </a:r>
            <a:r>
              <a:rPr lang="en-GB" sz="1400" b="1" spc="-75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b="1" spc="-10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Notice</a:t>
            </a:r>
            <a:endParaRPr lang="en-GB" sz="1400" b="1" spc="-10" dirty="0">
              <a:solidFill>
                <a:srgbClr val="004455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endParaRPr lang="en-GB" sz="1400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Performance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figures,</a:t>
            </a:r>
            <a:r>
              <a:rPr sz="1400" spc="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data</a:t>
            </a:r>
            <a:r>
              <a:rPr sz="1400" spc="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and</a:t>
            </a:r>
            <a:r>
              <a:rPr sz="1400" spc="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any</a:t>
            </a:r>
            <a:r>
              <a:rPr sz="1400" spc="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illustrative</a:t>
            </a:r>
            <a:r>
              <a:rPr sz="1400" spc="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material</a:t>
            </a:r>
            <a:r>
              <a:rPr sz="1400" spc="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provided</a:t>
            </a:r>
            <a:r>
              <a:rPr sz="1400" spc="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in</a:t>
            </a:r>
            <a:r>
              <a:rPr sz="1400" spc="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this</a:t>
            </a:r>
            <a:r>
              <a:rPr sz="1400" spc="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data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sheet</a:t>
            </a:r>
            <a:r>
              <a:rPr sz="1400" spc="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are</a:t>
            </a:r>
            <a:r>
              <a:rPr sz="1400" spc="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typical</a:t>
            </a:r>
            <a:r>
              <a:rPr sz="1400" spc="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and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must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be</a:t>
            </a:r>
            <a:r>
              <a:rPr sz="1400" spc="-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specifically</a:t>
            </a:r>
            <a:r>
              <a:rPr sz="1400" spc="-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confirmed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in</a:t>
            </a:r>
            <a:r>
              <a:rPr sz="1400" spc="-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writing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by</a:t>
            </a:r>
            <a:r>
              <a:rPr sz="1400" spc="-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Complete Connect</a:t>
            </a:r>
            <a:r>
              <a:rPr sz="1400" spc="-40" dirty="0"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before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they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become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applicable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to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any</a:t>
            </a:r>
            <a:r>
              <a:rPr sz="1400" spc="-3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particular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order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or</a:t>
            </a:r>
            <a:r>
              <a:rPr sz="1400" spc="8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contract.</a:t>
            </a:r>
            <a:endParaRPr lang="en-GB" sz="1400" spc="80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endParaRPr lang="en-GB" sz="1400" spc="80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In</a:t>
            </a:r>
            <a:r>
              <a:rPr sz="1400" spc="7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accordance</a:t>
            </a:r>
            <a:r>
              <a:rPr sz="1400" spc="9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with</a:t>
            </a:r>
            <a:r>
              <a:rPr sz="1400" spc="9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the</a:t>
            </a:r>
            <a:r>
              <a:rPr sz="1400" spc="7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Complete Connect</a:t>
            </a:r>
            <a:r>
              <a:rPr sz="1400" spc="80" dirty="0"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policy</a:t>
            </a:r>
            <a:r>
              <a:rPr sz="1400" spc="1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of</a:t>
            </a:r>
            <a:r>
              <a:rPr sz="1400" spc="9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continuous</a:t>
            </a:r>
            <a:r>
              <a:rPr sz="1400" spc="7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improvement</a:t>
            </a:r>
            <a:r>
              <a:rPr sz="1400" spc="8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specifications</a:t>
            </a:r>
            <a:r>
              <a:rPr sz="1400" spc="7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may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change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without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notice.</a:t>
            </a:r>
            <a:endParaRPr lang="en-GB" sz="1400" spc="-10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endParaRPr lang="en-GB" sz="1400" spc="-10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The</a:t>
            </a:r>
            <a:r>
              <a:rPr sz="1400" spc="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publication</a:t>
            </a:r>
            <a:r>
              <a:rPr sz="1400" spc="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of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information</a:t>
            </a:r>
            <a:r>
              <a:rPr sz="1400" spc="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in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this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data</a:t>
            </a:r>
            <a:r>
              <a:rPr sz="1400" spc="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sheet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does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not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imply</a:t>
            </a:r>
            <a:r>
              <a:rPr sz="1400" spc="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freedom</a:t>
            </a:r>
            <a:r>
              <a:rPr sz="1400" spc="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from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patent</a:t>
            </a:r>
            <a:r>
              <a:rPr sz="1400" spc="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or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other</a:t>
            </a:r>
            <a:r>
              <a:rPr sz="1400" spc="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protective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rights</a:t>
            </a:r>
            <a:r>
              <a:rPr sz="1400" spc="-4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of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Complete Connect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or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others.</a:t>
            </a:r>
            <a:endParaRPr lang="en-GB" sz="1400" spc="-35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endParaRPr lang="en-GB" sz="1400" spc="-35" dirty="0">
              <a:solidFill>
                <a:srgbClr val="221F1F"/>
              </a:solidFill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 marL="12701" marR="5081" algn="l">
              <a:spcBef>
                <a:spcPts val="65"/>
              </a:spcBef>
            </a:pP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Further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details</a:t>
            </a:r>
            <a:r>
              <a:rPr sz="1400" spc="-1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are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available</a:t>
            </a:r>
            <a:r>
              <a:rPr sz="1400" spc="-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from</a:t>
            </a:r>
            <a:r>
              <a:rPr sz="1400" spc="-2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any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lang="en-GB"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Complete Connect</a:t>
            </a:r>
            <a:r>
              <a:rPr sz="1400" spc="-25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sales</a:t>
            </a:r>
            <a:r>
              <a:rPr sz="1400" spc="-3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representative.</a:t>
            </a:r>
            <a:endParaRPr sz="1400" dirty="0"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  <a:p>
            <a:pPr>
              <a:spcBef>
                <a:spcPts val="640"/>
              </a:spcBef>
            </a:pPr>
            <a:endParaRPr lang="en-GB" sz="1400" dirty="0"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91797-6FAD-4DB0-DA7B-4E4760F4A78D}"/>
              </a:ext>
            </a:extLst>
          </p:cNvPr>
          <p:cNvSpPr txBox="1"/>
          <p:nvPr/>
        </p:nvSpPr>
        <p:spPr>
          <a:xfrm>
            <a:off x="9338630" y="1499123"/>
            <a:ext cx="7406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445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Diagnostic Monitoring Interface</a:t>
            </a:r>
          </a:p>
          <a:p>
            <a:endParaRPr lang="en-GB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defTabSz="179388"/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</a:rPr>
              <a:t>Digital diagnostics monitoring function is available on all Complete Connect {{</a:t>
            </a:r>
            <a:r>
              <a:rPr lang="en-GB" sz="1400" dirty="0" err="1">
                <a:latin typeface="Roboto" panose="02000000000000000000" pitchFamily="2" charset="0"/>
                <a:ea typeface="Roboto" panose="02000000000000000000" pitchFamily="2" charset="0"/>
              </a:rPr>
              <a:t>form_factor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</a:rPr>
              <a:t>}} products. {{</a:t>
            </a:r>
            <a:r>
              <a:rPr lang="en-GB" sz="1400" dirty="0" err="1">
                <a:latin typeface="Roboto" panose="02000000000000000000" pitchFamily="2" charset="0"/>
                <a:ea typeface="Roboto" panose="02000000000000000000" pitchFamily="2" charset="0"/>
              </a:rPr>
              <a:t>dmi_interface_description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</a:rPr>
              <a:t>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13DC2-987C-4042-92E4-F7333CCB4C66}"/>
              </a:ext>
            </a:extLst>
          </p:cNvPr>
          <p:cNvSpPr txBox="1"/>
          <p:nvPr/>
        </p:nvSpPr>
        <p:spPr>
          <a:xfrm>
            <a:off x="3543300" y="349452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45"/>
              </a:spcBef>
            </a:pPr>
            <a:r>
              <a:rPr lang="en-GB" sz="2800" dirty="0"/>
              <a:t>{{part_number_1}}</a:t>
            </a:r>
            <a:endParaRPr lang="en-GB" sz="2800" b="1" i="0" dirty="0">
              <a:solidFill>
                <a:srgbClr val="004455"/>
              </a:solidFill>
              <a:latin typeface="Roboto Condensed Black" panose="02000000000000000000" pitchFamily="2" charset="0"/>
              <a:ea typeface="Roboto Condensed Black" panose="02000000000000000000" pitchFamily="2" charset="0"/>
              <a:cs typeface="Roboto Condensed Black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</TotalTime>
  <Words>3745</Words>
  <Application>Microsoft Office PowerPoint</Application>
  <PresentationFormat>Custom</PresentationFormat>
  <Paragraphs>536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Courier New</vt:lpstr>
      <vt:lpstr>Roboto</vt:lpstr>
      <vt:lpstr>Roboto Condensed</vt:lpstr>
      <vt:lpstr>Roboto Condensed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Connect</dc:title>
  <dc:creator>Complete Connect</dc:creator>
  <cp:keywords>Complete Connect</cp:keywords>
  <dc:description/>
  <cp:lastModifiedBy>Sofia Venizelos</cp:lastModifiedBy>
  <cp:revision>89</cp:revision>
  <dcterms:created xsi:type="dcterms:W3CDTF">2024-09-20T08:07:20Z</dcterms:created>
  <dcterms:modified xsi:type="dcterms:W3CDTF">2026-06-29T09:44:13Z</dcterms:modified>
  <cp:category>Complete Connect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2024-09-20T00:00:00Z</vt:filetime>
  </property>
  <property fmtid="{D5CDD505-2E9C-101B-9397-08002B2CF9AE}" pid="3" name="Creator">
    <vt:lpwstr>WPS 文字</vt:lpwstr>
  </property>
  <property fmtid="{D5CDD505-2E9C-101B-9397-08002B2CF9AE}" pid="4" name="LastSaved">
    <vt:filetime>2024-09-20T00:00:00Z</vt:filetime>
  </property>
  <property fmtid="{D5CDD505-2E9C-101B-9397-08002B2CF9AE}" pid="5" name="SourceModified">
    <vt:lpwstr>D:20240920101301+08'00'</vt:lpwstr>
  </property>
</Properties>
</file>