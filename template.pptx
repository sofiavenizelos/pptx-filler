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7"/>
  </p:notesMasterIdLst>
  <p:handoutMasterIdLst>
    <p:handoutMasterId r:id="rId8"/>
  </p:handoutMasterIdLst>
  <p:sldIdLst>
    <p:sldId id="267" r:id="rId2"/>
    <p:sldId id="269" r:id="rId3"/>
    <p:sldId id="268" r:id="rId4"/>
    <p:sldId id="258" r:id="rId5"/>
    <p:sldId id="266" r:id="rId6"/>
  </p:sldIdLst>
  <p:sldSz cx="17881600" cy="10058400"/>
  <p:notesSz cx="7772400" cy="10058400"/>
  <p:defaultTextStyle>
    <a:defPPr>
      <a:defRPr kern="0"/>
    </a:defPPr>
  </p:defaultTextStyle>
  <p:extLst>
    <p:ext uri="{EFAFB233-063F-42B5-8137-9DF3F51BA10A}">
      <p15:sldGuideLst xmlns:p15="http://schemas.microsoft.com/office/powerpoint/2012/main">
        <p15:guide id="1" orient="horz" pos="2880" userDrawn="1">
          <p15:clr>
            <a:srgbClr val="A4A3A4"/>
          </p15:clr>
        </p15:guide>
        <p15:guide id="2" pos="4969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4455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5C22544A-7EE6-4342-B048-85BDC9FD1C3A}" styleName="Medium Style 2 –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0554" autoAdjust="0"/>
    <p:restoredTop sz="94649"/>
  </p:normalViewPr>
  <p:slideViewPr>
    <p:cSldViewPr snapToGrid="0">
      <p:cViewPr varScale="1">
        <p:scale>
          <a:sx n="72" d="100"/>
          <a:sy n="72" d="100"/>
        </p:scale>
        <p:origin x="1038" y="72"/>
      </p:cViewPr>
      <p:guideLst>
        <p:guide orient="horz" pos="2880"/>
        <p:guide pos="4969"/>
      </p:guideLst>
    </p:cSldViewPr>
  </p:slideViewPr>
  <p:notesTextViewPr>
    <p:cViewPr>
      <p:scale>
        <a:sx n="100" d="100"/>
        <a:sy n="100" d="100"/>
      </p:scale>
      <p:origin x="0" y="0"/>
    </p:cViewPr>
  </p:notesTextViewPr>
  <p:notesViewPr>
    <p:cSldViewPr snapToGrid="0">
      <p:cViewPr varScale="1">
        <p:scale>
          <a:sx n="74" d="100"/>
          <a:sy n="74" d="100"/>
        </p:scale>
        <p:origin x="3816" y="66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handoutMaster" Target="handoutMasters/handoutMaster1.xml"/><Relationship Id="rId3" Type="http://schemas.openxmlformats.org/officeDocument/2006/relationships/slide" Target="slides/slide2.xml"/><Relationship Id="rId7" Type="http://schemas.openxmlformats.org/officeDocument/2006/relationships/notesMaster" Target="notesMasters/notesMaster1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A61A36AF-244D-6EFD-B5E0-B984446CCA70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3368675" cy="504825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B1FE9FF1-F8EA-82B9-6BD3-1A34A0395811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4402138" y="0"/>
            <a:ext cx="3368675" cy="504825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2BA462C-7B8E-41CC-A074-F2F31662260A}" type="datetimeFigureOut">
              <a:rPr lang="en-GB" smtClean="0"/>
              <a:t>23/06/2026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1EEEECF1-22B8-6DF9-D838-292DCF94A69C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9553575"/>
            <a:ext cx="3368675" cy="50482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99E3512-641B-EACA-7998-1ACC71B9D88E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4402138" y="9553575"/>
            <a:ext cx="3368675" cy="50482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CF90B1C-02A5-43DA-8D2F-65BE8951731E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87396240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368675" cy="504825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4402138" y="0"/>
            <a:ext cx="3368675" cy="504825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082EEEB-836D-594B-9F80-250148AC8146}" type="datetimeFigureOut">
              <a:rPr lang="en-US" smtClean="0"/>
              <a:t>6/23/2026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869950" y="1257300"/>
            <a:ext cx="6032500" cy="3394075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777875" y="4840288"/>
            <a:ext cx="6216650" cy="3960812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9553575"/>
            <a:ext cx="3368675" cy="50482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4402138" y="9553575"/>
            <a:ext cx="3368675" cy="50482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36F8E8C-FAAB-A446-9714-2504BBD1DAD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1265228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36F8E8C-FAAB-A446-9714-2504BBD1DADC}" type="slidenum">
              <a:rPr lang="en-US" smtClean="0"/>
              <a:t>1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435445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B549DEE-0B44-7DC8-E7B6-49467CE2E13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DC963D1-57AB-9FEE-F986-5D5185DE306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91AE9CF-854F-FBA0-2A4E-1E67617F7A8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22B8DA8-D1DE-F533-2E35-2B1DC9067D8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36F8E8C-FAAB-A446-9714-2504BBD1DADC}" type="slidenum">
              <a:rPr lang="en-US" smtClean="0"/>
              <a:t>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11730814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2F8D089-E960-7BDB-DD6C-098B4506EF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7C35B5F-953D-1439-39F7-7C7E1791E26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3E68B43-4F36-7B71-16E8-FCC18E6F6B6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72D0998-7319-668B-7D4F-63A61BCBB86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36F8E8C-FAAB-A446-9714-2504BBD1DADC}" type="slidenum">
              <a:rPr lang="en-US" smtClean="0"/>
              <a:t>3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2604520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image" Target="../media/image2.png"/><Relationship Id="rId13" Type="http://schemas.openxmlformats.org/officeDocument/2006/relationships/image" Target="../media/image5.svg"/><Relationship Id="rId3" Type="http://schemas.openxmlformats.org/officeDocument/2006/relationships/slideLayout" Target="../slideLayouts/slideLayout3.xml"/><Relationship Id="rId7" Type="http://schemas.openxmlformats.org/officeDocument/2006/relationships/image" Target="../media/image1.png"/><Relationship Id="rId12" Type="http://schemas.openxmlformats.org/officeDocument/2006/relationships/image" Target="../media/image4.svg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theme" Target="../theme/theme1.xml"/><Relationship Id="rId11" Type="http://schemas.openxmlformats.org/officeDocument/2006/relationships/image" Target="../media/image3.svg"/><Relationship Id="rId5" Type="http://schemas.openxmlformats.org/officeDocument/2006/relationships/slideLayout" Target="../slideLayouts/slideLayout5.xml"/><Relationship Id="rId10" Type="http://schemas.openxmlformats.org/officeDocument/2006/relationships/hyperlink" Target="mailto:sales@completeconnect.co.uk?subject=MTP%20Fibre%20Cables" TargetMode="External"/><Relationship Id="rId4" Type="http://schemas.openxmlformats.org/officeDocument/2006/relationships/slideLayout" Target="../slideLayouts/slideLayout4.xml"/><Relationship Id="rId9" Type="http://schemas.openxmlformats.org/officeDocument/2006/relationships/hyperlink" Target="https://www.completeconnect.co.uk/40g-ethernet-mtp-mpo-fibre-networking/" TargetMode="Externa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A green and blue text on a black background&#10;&#10;Description automatically generated">
            <a:extLst>
              <a:ext uri="{FF2B5EF4-FFF2-40B4-BE49-F238E27FC236}">
                <a16:creationId xmlns:a16="http://schemas.microsoft.com/office/drawing/2014/main" id="{61283C21-452F-6F63-F846-3C81E4CC2930}"/>
              </a:ext>
            </a:extLst>
          </p:cNvPr>
          <p:cNvPicPr>
            <a:picLocks noChangeAspect="1"/>
          </p:cNvPicPr>
          <p:nvPr userDrawn="1"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6486" y="317009"/>
            <a:ext cx="3533956" cy="853268"/>
          </a:xfrm>
          <a:prstGeom prst="rect">
            <a:avLst/>
          </a:prstGeom>
        </p:spPr>
      </p:pic>
      <p:pic>
        <p:nvPicPr>
          <p:cNvPr id="3" name="Picture 2" descr="A black background with a curved line&#10;&#10;Description automatically generated">
            <a:extLst>
              <a:ext uri="{FF2B5EF4-FFF2-40B4-BE49-F238E27FC236}">
                <a16:creationId xmlns:a16="http://schemas.microsoft.com/office/drawing/2014/main" id="{7EEF87CA-BD4C-4606-571B-3BC5807B1F1D}"/>
              </a:ext>
            </a:extLst>
          </p:cNvPr>
          <p:cNvPicPr>
            <a:picLocks noChangeAspect="1"/>
          </p:cNvPicPr>
          <p:nvPr userDrawn="1"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797803" y="6024880"/>
            <a:ext cx="10083797" cy="4033519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C19769B4-2DE1-B12A-B227-4A3F7D156652}"/>
              </a:ext>
            </a:extLst>
          </p:cNvPr>
          <p:cNvSpPr txBox="1"/>
          <p:nvPr userDrawn="1"/>
        </p:nvSpPr>
        <p:spPr>
          <a:xfrm>
            <a:off x="791073" y="9601200"/>
            <a:ext cx="426720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>
                <a:solidFill>
                  <a:srgbClr val="004455"/>
                </a:solidFill>
              </a:rPr>
              <a:t>Company No. 07246926. Registered in England and Wales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A7DEC85-7F22-0674-9FC8-A098A74C1D68}"/>
              </a:ext>
            </a:extLst>
          </p:cNvPr>
          <p:cNvSpPr txBox="1"/>
          <p:nvPr userDrawn="1"/>
        </p:nvSpPr>
        <p:spPr>
          <a:xfrm>
            <a:off x="9793167" y="9601200"/>
            <a:ext cx="183379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 err="1">
                <a:solidFill>
                  <a:srgbClr val="004455"/>
                </a:solidFill>
                <a:hlinkClick r:id="rId9"/>
              </a:rPr>
              <a:t>completeconnect</a:t>
            </a:r>
            <a:endParaRPr lang="en-US" sz="1200" dirty="0">
              <a:solidFill>
                <a:srgbClr val="004455"/>
              </a:solidFill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8987C00-052F-F0F0-7FA4-E52483B1D671}"/>
              </a:ext>
            </a:extLst>
          </p:cNvPr>
          <p:cNvSpPr txBox="1"/>
          <p:nvPr userDrawn="1"/>
        </p:nvSpPr>
        <p:spPr>
          <a:xfrm>
            <a:off x="12655959" y="9601200"/>
            <a:ext cx="231598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>
                <a:solidFill>
                  <a:srgbClr val="004455"/>
                </a:solidFill>
                <a:hlinkClick r:id="rId10"/>
              </a:rPr>
              <a:t>sales@completeconnect.co.uk</a:t>
            </a:r>
            <a:endParaRPr lang="en-US" sz="1200" dirty="0">
              <a:solidFill>
                <a:srgbClr val="004455"/>
              </a:solidFill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0F408A05-685C-4C78-A98E-86FDE110D3BD}"/>
              </a:ext>
            </a:extLst>
          </p:cNvPr>
          <p:cNvSpPr txBox="1"/>
          <p:nvPr userDrawn="1"/>
        </p:nvSpPr>
        <p:spPr>
          <a:xfrm>
            <a:off x="15825810" y="9601200"/>
            <a:ext cx="167052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>
                <a:solidFill>
                  <a:srgbClr val="004455"/>
                </a:solidFill>
              </a:rPr>
              <a:t>+44 (0)20 8286 6529</a:t>
            </a:r>
          </a:p>
        </p:txBody>
      </p:sp>
      <p:pic>
        <p:nvPicPr>
          <p:cNvPr id="8" name="Graphic 7" descr="Internet outline">
            <a:extLst>
              <a:ext uri="{FF2B5EF4-FFF2-40B4-BE49-F238E27FC236}">
                <a16:creationId xmlns:a16="http://schemas.microsoft.com/office/drawing/2014/main" id="{D9166DC4-01AC-38D5-B802-AB8F66157AA6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9342836" y="9573953"/>
            <a:ext cx="381000" cy="381000"/>
          </a:xfrm>
          <a:prstGeom prst="rect">
            <a:avLst/>
          </a:prstGeom>
        </p:spPr>
      </p:pic>
      <p:pic>
        <p:nvPicPr>
          <p:cNvPr id="9" name="Graphic 8" descr="Receiver outline">
            <a:extLst>
              <a:ext uri="{FF2B5EF4-FFF2-40B4-BE49-F238E27FC236}">
                <a16:creationId xmlns:a16="http://schemas.microsoft.com/office/drawing/2014/main" id="{2CD260E5-6D11-AA23-5C79-A60A5BF7B0CC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15438932" y="9623685"/>
            <a:ext cx="281536" cy="281536"/>
          </a:xfrm>
          <a:prstGeom prst="rect">
            <a:avLst/>
          </a:prstGeom>
        </p:spPr>
      </p:pic>
      <p:pic>
        <p:nvPicPr>
          <p:cNvPr id="10" name="Graphic 9" descr="Envelope outline">
            <a:hlinkClick r:id="rId10"/>
            <a:extLst>
              <a:ext uri="{FF2B5EF4-FFF2-40B4-BE49-F238E27FC236}">
                <a16:creationId xmlns:a16="http://schemas.microsoft.com/office/drawing/2014/main" id="{5AACFDA2-A934-02E0-CEE2-64436357449F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12193763" y="9601200"/>
            <a:ext cx="326506" cy="326506"/>
          </a:xfrm>
          <a:prstGeom prst="rect">
            <a:avLst/>
          </a:prstGeom>
        </p:spPr>
      </p:pic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2E0CA8B0-CC93-4FB3-780C-5D38989E0CB7}"/>
              </a:ext>
            </a:extLst>
          </p:cNvPr>
          <p:cNvCxnSpPr>
            <a:cxnSpLocks/>
          </p:cNvCxnSpPr>
          <p:nvPr userDrawn="1"/>
        </p:nvCxnSpPr>
        <p:spPr>
          <a:xfrm>
            <a:off x="482600" y="1371600"/>
            <a:ext cx="17013732" cy="0"/>
          </a:xfrm>
          <a:prstGeom prst="line">
            <a:avLst/>
          </a:prstGeom>
          <a:ln w="15875">
            <a:solidFill>
              <a:srgbClr val="004455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215182DF-541B-BE09-DCAA-4D7FEBEF0EFF}"/>
              </a:ext>
            </a:extLst>
          </p:cNvPr>
          <p:cNvCxnSpPr>
            <a:cxnSpLocks/>
          </p:cNvCxnSpPr>
          <p:nvPr userDrawn="1"/>
        </p:nvCxnSpPr>
        <p:spPr>
          <a:xfrm>
            <a:off x="482600" y="1371600"/>
            <a:ext cx="17013732" cy="0"/>
          </a:xfrm>
          <a:prstGeom prst="line">
            <a:avLst/>
          </a:prstGeom>
          <a:ln w="15875">
            <a:solidFill>
              <a:srgbClr val="004455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TextBox 12">
            <a:extLst>
              <a:ext uri="{FF2B5EF4-FFF2-40B4-BE49-F238E27FC236}">
                <a16:creationId xmlns:a16="http://schemas.microsoft.com/office/drawing/2014/main" id="{8F52B809-65DD-1F4D-4524-76C110A826E5}"/>
              </a:ext>
            </a:extLst>
          </p:cNvPr>
          <p:cNvSpPr txBox="1"/>
          <p:nvPr userDrawn="1"/>
        </p:nvSpPr>
        <p:spPr>
          <a:xfrm>
            <a:off x="15298061" y="533400"/>
            <a:ext cx="2209797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745"/>
              </a:spcBef>
            </a:pPr>
            <a:r>
              <a:rPr lang="en-US" sz="2800" b="1" i="0" dirty="0">
                <a:solidFill>
                  <a:srgbClr val="004455"/>
                </a:solidFill>
                <a:latin typeface="Roboto Condensed" panose="02000000000000000000" pitchFamily="2" charset="0"/>
                <a:ea typeface="Roboto Condensed" panose="02000000000000000000" pitchFamily="2" charset="0"/>
                <a:cs typeface="Roboto Condensed" panose="02000000000000000000" pitchFamily="2" charset="0"/>
              </a:rPr>
              <a:t>Transceivers</a:t>
            </a:r>
          </a:p>
        </p:txBody>
      </p: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182B990C-8109-F153-A609-A640D92F1010}"/>
              </a:ext>
            </a:extLst>
          </p:cNvPr>
          <p:cNvCxnSpPr>
            <a:cxnSpLocks/>
          </p:cNvCxnSpPr>
          <p:nvPr userDrawn="1"/>
        </p:nvCxnSpPr>
        <p:spPr>
          <a:xfrm>
            <a:off x="205591" y="915549"/>
            <a:ext cx="17542993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5AD93333-EEE0-4EF8-B70B-B460586830E0}"/>
              </a:ext>
            </a:extLst>
          </p:cNvPr>
          <p:cNvCxnSpPr>
            <a:cxnSpLocks/>
          </p:cNvCxnSpPr>
          <p:nvPr userDrawn="1"/>
        </p:nvCxnSpPr>
        <p:spPr>
          <a:xfrm flipH="1">
            <a:off x="9305257" y="719607"/>
            <a:ext cx="7021" cy="8350975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AE43D97B-29D7-80B5-4C49-64420C7B6940}"/>
              </a:ext>
            </a:extLst>
          </p:cNvPr>
          <p:cNvCxnSpPr>
            <a:cxnSpLocks/>
          </p:cNvCxnSpPr>
          <p:nvPr userDrawn="1"/>
        </p:nvCxnSpPr>
        <p:spPr>
          <a:xfrm>
            <a:off x="466222" y="973681"/>
            <a:ext cx="0" cy="8260471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C22F178E-4CC5-3F05-49A1-CF92C0A17347}"/>
              </a:ext>
            </a:extLst>
          </p:cNvPr>
          <p:cNvCxnSpPr>
            <a:cxnSpLocks/>
          </p:cNvCxnSpPr>
          <p:nvPr userDrawn="1"/>
        </p:nvCxnSpPr>
        <p:spPr>
          <a:xfrm>
            <a:off x="8625193" y="739580"/>
            <a:ext cx="0" cy="8380473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Straight Connector 27">
            <a:extLst>
              <a:ext uri="{FF2B5EF4-FFF2-40B4-BE49-F238E27FC236}">
                <a16:creationId xmlns:a16="http://schemas.microsoft.com/office/drawing/2014/main" id="{9270759A-05EF-B74E-9D1D-37FE7F424EE8}"/>
              </a:ext>
            </a:extLst>
          </p:cNvPr>
          <p:cNvCxnSpPr>
            <a:cxnSpLocks/>
          </p:cNvCxnSpPr>
          <p:nvPr userDrawn="1"/>
        </p:nvCxnSpPr>
        <p:spPr>
          <a:xfrm>
            <a:off x="17399000" y="739580"/>
            <a:ext cx="0" cy="8331002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098747A4-FA00-B925-3810-77E538B320D6}"/>
              </a:ext>
            </a:extLst>
          </p:cNvPr>
          <p:cNvCxnSpPr>
            <a:cxnSpLocks/>
          </p:cNvCxnSpPr>
          <p:nvPr userDrawn="1"/>
        </p:nvCxnSpPr>
        <p:spPr>
          <a:xfrm flipV="1">
            <a:off x="169302" y="1930108"/>
            <a:ext cx="17542993" cy="10804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Straight Connector 29">
            <a:extLst>
              <a:ext uri="{FF2B5EF4-FFF2-40B4-BE49-F238E27FC236}">
                <a16:creationId xmlns:a16="http://schemas.microsoft.com/office/drawing/2014/main" id="{81355491-B010-8761-5430-75D42848367F}"/>
              </a:ext>
            </a:extLst>
          </p:cNvPr>
          <p:cNvCxnSpPr>
            <a:cxnSpLocks/>
          </p:cNvCxnSpPr>
          <p:nvPr userDrawn="1"/>
        </p:nvCxnSpPr>
        <p:spPr>
          <a:xfrm>
            <a:off x="169303" y="1703312"/>
            <a:ext cx="17542993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Straight Connector 30">
            <a:extLst>
              <a:ext uri="{FF2B5EF4-FFF2-40B4-BE49-F238E27FC236}">
                <a16:creationId xmlns:a16="http://schemas.microsoft.com/office/drawing/2014/main" id="{44D22106-7DAD-6CFA-0B81-93CF3A83BBED}"/>
              </a:ext>
            </a:extLst>
          </p:cNvPr>
          <p:cNvCxnSpPr>
            <a:cxnSpLocks/>
          </p:cNvCxnSpPr>
          <p:nvPr userDrawn="1"/>
        </p:nvCxnSpPr>
        <p:spPr>
          <a:xfrm>
            <a:off x="166255" y="2355274"/>
            <a:ext cx="17387454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</p:sldLayoutIdLst>
  <p:txStyles>
    <p:titleStyle>
      <a:lvl1pPr>
        <a:defRPr>
          <a:latin typeface="+mj-lt"/>
          <a:ea typeface="+mj-ea"/>
          <a:cs typeface="+mj-cs"/>
        </a:defRPr>
      </a:lvl1pPr>
    </p:titleStyle>
    <p:bodyStyle>
      <a:lvl1pPr marL="0">
        <a:defRPr>
          <a:latin typeface="+mn-lt"/>
          <a:ea typeface="+mn-ea"/>
          <a:cs typeface="+mn-cs"/>
        </a:defRPr>
      </a:lvl1pPr>
      <a:lvl2pPr marL="457252">
        <a:defRPr>
          <a:latin typeface="+mn-lt"/>
          <a:ea typeface="+mn-ea"/>
          <a:cs typeface="+mn-cs"/>
        </a:defRPr>
      </a:lvl2pPr>
      <a:lvl3pPr marL="914504">
        <a:defRPr>
          <a:latin typeface="+mn-lt"/>
          <a:ea typeface="+mn-ea"/>
          <a:cs typeface="+mn-cs"/>
        </a:defRPr>
      </a:lvl3pPr>
      <a:lvl4pPr marL="1371757">
        <a:defRPr>
          <a:latin typeface="+mn-lt"/>
          <a:ea typeface="+mn-ea"/>
          <a:cs typeface="+mn-cs"/>
        </a:defRPr>
      </a:lvl4pPr>
      <a:lvl5pPr marL="1829009">
        <a:defRPr>
          <a:latin typeface="+mn-lt"/>
          <a:ea typeface="+mn-ea"/>
          <a:cs typeface="+mn-cs"/>
        </a:defRPr>
      </a:lvl5pPr>
      <a:lvl6pPr marL="2286261">
        <a:defRPr>
          <a:latin typeface="+mn-lt"/>
          <a:ea typeface="+mn-ea"/>
          <a:cs typeface="+mn-cs"/>
        </a:defRPr>
      </a:lvl6pPr>
      <a:lvl7pPr marL="2743513">
        <a:defRPr>
          <a:latin typeface="+mn-lt"/>
          <a:ea typeface="+mn-ea"/>
          <a:cs typeface="+mn-cs"/>
        </a:defRPr>
      </a:lvl7pPr>
      <a:lvl8pPr marL="3200766">
        <a:defRPr>
          <a:latin typeface="+mn-lt"/>
          <a:ea typeface="+mn-ea"/>
          <a:cs typeface="+mn-cs"/>
        </a:defRPr>
      </a:lvl8pPr>
      <a:lvl9pPr marL="3658018">
        <a:defRPr>
          <a:latin typeface="+mn-lt"/>
          <a:ea typeface="+mn-ea"/>
          <a:cs typeface="+mn-cs"/>
        </a:defRPr>
      </a:lvl9pPr>
    </p:bodyStyle>
    <p:otherStyle>
      <a:lvl1pPr marL="0">
        <a:defRPr>
          <a:latin typeface="+mn-lt"/>
          <a:ea typeface="+mn-ea"/>
          <a:cs typeface="+mn-cs"/>
        </a:defRPr>
      </a:lvl1pPr>
      <a:lvl2pPr marL="457252">
        <a:defRPr>
          <a:latin typeface="+mn-lt"/>
          <a:ea typeface="+mn-ea"/>
          <a:cs typeface="+mn-cs"/>
        </a:defRPr>
      </a:lvl2pPr>
      <a:lvl3pPr marL="914504">
        <a:defRPr>
          <a:latin typeface="+mn-lt"/>
          <a:ea typeface="+mn-ea"/>
          <a:cs typeface="+mn-cs"/>
        </a:defRPr>
      </a:lvl3pPr>
      <a:lvl4pPr marL="1371757">
        <a:defRPr>
          <a:latin typeface="+mn-lt"/>
          <a:ea typeface="+mn-ea"/>
          <a:cs typeface="+mn-cs"/>
        </a:defRPr>
      </a:lvl4pPr>
      <a:lvl5pPr marL="1829009">
        <a:defRPr>
          <a:latin typeface="+mn-lt"/>
          <a:ea typeface="+mn-ea"/>
          <a:cs typeface="+mn-cs"/>
        </a:defRPr>
      </a:lvl5pPr>
      <a:lvl6pPr marL="2286261">
        <a:defRPr>
          <a:latin typeface="+mn-lt"/>
          <a:ea typeface="+mn-ea"/>
          <a:cs typeface="+mn-cs"/>
        </a:defRPr>
      </a:lvl6pPr>
      <a:lvl7pPr marL="2743513">
        <a:defRPr>
          <a:latin typeface="+mn-lt"/>
          <a:ea typeface="+mn-ea"/>
          <a:cs typeface="+mn-cs"/>
        </a:defRPr>
      </a:lvl7pPr>
      <a:lvl8pPr marL="3200766">
        <a:defRPr>
          <a:latin typeface="+mn-lt"/>
          <a:ea typeface="+mn-ea"/>
          <a:cs typeface="+mn-cs"/>
        </a:defRPr>
      </a:lvl8pPr>
      <a:lvl9pPr marL="3658018">
        <a:defRPr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5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5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5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object 3"/>
          <p:cNvSpPr txBox="1"/>
          <p:nvPr/>
        </p:nvSpPr>
        <p:spPr>
          <a:xfrm>
            <a:off x="556491" y="1464191"/>
            <a:ext cx="7729509" cy="7686078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1"/>
            <a:r>
              <a:rPr lang="en-GB" b="1" spc="-10" dirty="0">
                <a:solidFill>
                  <a:srgbClr val="004455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Product Summary</a:t>
            </a:r>
          </a:p>
          <a:p>
            <a:pPr marL="298450" indent="-285750">
              <a:lnSpc>
                <a:spcPct val="100000"/>
              </a:lnSpc>
              <a:spcBef>
                <a:spcPts val="660"/>
              </a:spcBef>
              <a:buClr>
                <a:srgbClr val="40AD48"/>
              </a:buClr>
              <a:buFont typeface="Arial" panose="020B0604020202020204" pitchFamily="34" charset="0"/>
              <a:buChar char="•"/>
              <a:tabLst>
                <a:tab pos="278765" algn="l"/>
              </a:tabLst>
            </a:pPr>
            <a:r>
              <a:rPr lang="en-GB" sz="1400" dirty="0"/>
              <a:t>Supports {{</a:t>
            </a:r>
            <a:r>
              <a:rPr lang="en-GB" sz="1400" dirty="0" err="1"/>
              <a:t>data_rate</a:t>
            </a:r>
            <a:r>
              <a:rPr lang="en-GB" sz="1400" dirty="0"/>
              <a:t>}} {{modulation}}{{</a:t>
            </a:r>
            <a:r>
              <a:rPr lang="en-GB" sz="1400" dirty="0" err="1"/>
              <a:t>lane_config</a:t>
            </a:r>
            <a:r>
              <a:rPr lang="en-GB" sz="1400" dirty="0"/>
              <a:t>}}</a:t>
            </a:r>
          </a:p>
          <a:p>
            <a:pPr marL="298450" indent="-285750">
              <a:lnSpc>
                <a:spcPct val="100000"/>
              </a:lnSpc>
              <a:spcBef>
                <a:spcPts val="660"/>
              </a:spcBef>
              <a:buClr>
                <a:srgbClr val="40AD48"/>
              </a:buClr>
              <a:buFont typeface="Arial" panose="020B0604020202020204" pitchFamily="34" charset="0"/>
              <a:buChar char="•"/>
              <a:tabLst>
                <a:tab pos="278765" algn="l"/>
              </a:tabLst>
            </a:pPr>
            <a:r>
              <a:rPr lang="en-GB" sz="1400" dirty="0"/>
              <a:t>Digital Diagnostics Monitoring Interface {{</a:t>
            </a:r>
            <a:r>
              <a:rPr lang="en-GB" sz="1400" dirty="0" err="1"/>
              <a:t>dmi_standard</a:t>
            </a:r>
            <a:r>
              <a:rPr lang="en-GB" sz="1400" dirty="0"/>
              <a:t>}}</a:t>
            </a:r>
          </a:p>
          <a:p>
            <a:pPr marL="298450" indent="-285750">
              <a:lnSpc>
                <a:spcPct val="100000"/>
              </a:lnSpc>
              <a:spcBef>
                <a:spcPts val="660"/>
              </a:spcBef>
              <a:buClr>
                <a:srgbClr val="40AD48"/>
              </a:buClr>
              <a:buFont typeface="Arial" panose="020B0604020202020204" pitchFamily="34" charset="0"/>
              <a:buChar char="•"/>
              <a:tabLst>
                <a:tab pos="278765" algn="l"/>
              </a:tabLst>
            </a:pPr>
            <a:r>
              <a:rPr lang="en-GB" sz="1400" dirty="0"/>
              <a:t>{{</a:t>
            </a:r>
            <a:r>
              <a:rPr lang="en-GB" sz="1400" dirty="0" err="1"/>
              <a:t>cdr_statement</a:t>
            </a:r>
            <a:r>
              <a:rPr lang="en-GB" sz="1400" dirty="0"/>
              <a:t>}}</a:t>
            </a:r>
          </a:p>
          <a:p>
            <a:pPr marL="298450" indent="-285750">
              <a:lnSpc>
                <a:spcPct val="100000"/>
              </a:lnSpc>
              <a:spcBef>
                <a:spcPts val="660"/>
              </a:spcBef>
              <a:buClr>
                <a:srgbClr val="40AD48"/>
              </a:buClr>
              <a:buFont typeface="Arial" panose="020B0604020202020204" pitchFamily="34" charset="0"/>
              <a:buChar char="•"/>
              <a:tabLst>
                <a:tab pos="278765" algn="l"/>
              </a:tabLst>
            </a:pPr>
            <a:r>
              <a:rPr lang="en-GB" sz="1400" dirty="0"/>
              <a:t>{{</a:t>
            </a:r>
            <a:r>
              <a:rPr lang="en-GB" sz="1400" dirty="0" err="1"/>
              <a:t>reach_description</a:t>
            </a:r>
            <a:r>
              <a:rPr lang="en-GB" sz="1400" dirty="0"/>
              <a:t>}}</a:t>
            </a:r>
          </a:p>
          <a:p>
            <a:pPr marL="298450" indent="-285750">
              <a:lnSpc>
                <a:spcPct val="100000"/>
              </a:lnSpc>
              <a:spcBef>
                <a:spcPts val="660"/>
              </a:spcBef>
              <a:buClr>
                <a:srgbClr val="40AD48"/>
              </a:buClr>
              <a:buFont typeface="Arial" panose="020B0604020202020204" pitchFamily="34" charset="0"/>
              <a:buChar char="•"/>
              <a:tabLst>
                <a:tab pos="278765" algn="l"/>
              </a:tabLst>
            </a:pPr>
            <a:r>
              <a:rPr lang="en-GB" sz="1400" dirty="0"/>
              <a:t>Hot-pluggable {{</a:t>
            </a:r>
            <a:r>
              <a:rPr lang="en-GB" sz="1400" dirty="0" err="1"/>
              <a:t>form_factor</a:t>
            </a:r>
            <a:r>
              <a:rPr lang="en-GB" sz="1400" dirty="0"/>
              <a:t>}} form factor</a:t>
            </a:r>
          </a:p>
          <a:p>
            <a:pPr marL="298450" indent="-285750">
              <a:lnSpc>
                <a:spcPct val="100000"/>
              </a:lnSpc>
              <a:spcBef>
                <a:spcPts val="660"/>
              </a:spcBef>
              <a:buClr>
                <a:srgbClr val="40AD48"/>
              </a:buClr>
              <a:buFont typeface="Arial" panose="020B0604020202020204" pitchFamily="34" charset="0"/>
              <a:buChar char="•"/>
              <a:tabLst>
                <a:tab pos="278765" algn="l"/>
              </a:tabLst>
            </a:pPr>
            <a:r>
              <a:rPr lang="en-GB" sz="1400" dirty="0"/>
              <a:t>{{</a:t>
            </a:r>
            <a:r>
              <a:rPr lang="en-GB" sz="1400" dirty="0" err="1"/>
              <a:t>optics_description</a:t>
            </a:r>
            <a:r>
              <a:rPr lang="en-GB" sz="1400" dirty="0"/>
              <a:t>}}</a:t>
            </a:r>
          </a:p>
          <a:p>
            <a:pPr marL="298450" indent="-285750">
              <a:lnSpc>
                <a:spcPct val="100000"/>
              </a:lnSpc>
              <a:spcBef>
                <a:spcPts val="660"/>
              </a:spcBef>
              <a:buClr>
                <a:srgbClr val="40AD48"/>
              </a:buClr>
              <a:buFont typeface="Arial" panose="020B0604020202020204" pitchFamily="34" charset="0"/>
              <a:buChar char="•"/>
              <a:tabLst>
                <a:tab pos="278765" algn="l"/>
              </a:tabLst>
            </a:pPr>
            <a:r>
              <a:rPr lang="en-GB" sz="1400" dirty="0"/>
              <a:t>{{</a:t>
            </a:r>
            <a:r>
              <a:rPr lang="en-GB" sz="1400" dirty="0" err="1"/>
              <a:t>rx_optics_description</a:t>
            </a:r>
            <a:r>
              <a:rPr lang="en-GB" sz="1400" dirty="0"/>
              <a:t>}}</a:t>
            </a:r>
          </a:p>
          <a:p>
            <a:pPr marL="298450" indent="-285750">
              <a:lnSpc>
                <a:spcPct val="100000"/>
              </a:lnSpc>
              <a:spcBef>
                <a:spcPts val="660"/>
              </a:spcBef>
              <a:buClr>
                <a:srgbClr val="40AD48"/>
              </a:buClr>
              <a:buFont typeface="Arial" panose="020B0604020202020204" pitchFamily="34" charset="0"/>
              <a:buChar char="•"/>
              <a:tabLst>
                <a:tab pos="278765" algn="l"/>
              </a:tabLst>
            </a:pPr>
            <a:r>
              <a:rPr lang="en-GB" sz="1400" dirty="0"/>
              <a:t>Commercial operating case temperature range: {{</a:t>
            </a:r>
            <a:r>
              <a:rPr lang="en-GB" sz="1400" dirty="0" err="1"/>
              <a:t>temp_min</a:t>
            </a:r>
            <a:r>
              <a:rPr lang="en-GB" sz="1400" dirty="0"/>
              <a:t>}} to {{</a:t>
            </a:r>
            <a:r>
              <a:rPr lang="en-GB" sz="1400" dirty="0" err="1"/>
              <a:t>temp_max</a:t>
            </a:r>
            <a:r>
              <a:rPr lang="en-GB" sz="1400" dirty="0"/>
              <a:t>}}</a:t>
            </a:r>
          </a:p>
          <a:p>
            <a:pPr marL="298450" indent="-285750">
              <a:lnSpc>
                <a:spcPct val="100000"/>
              </a:lnSpc>
              <a:spcBef>
                <a:spcPts val="660"/>
              </a:spcBef>
              <a:buClr>
                <a:srgbClr val="40AD48"/>
              </a:buClr>
              <a:buFont typeface="Arial" panose="020B0604020202020204" pitchFamily="34" charset="0"/>
              <a:buChar char="•"/>
              <a:tabLst>
                <a:tab pos="278765" algn="l"/>
              </a:tabLst>
            </a:pPr>
            <a:r>
              <a:rPr lang="en-GB" sz="1400" dirty="0"/>
              <a:t>{{</a:t>
            </a:r>
            <a:r>
              <a:rPr lang="en-GB" sz="1400" dirty="0" err="1"/>
              <a:t>rohs_status</a:t>
            </a:r>
            <a:r>
              <a:rPr lang="en-GB" sz="1400" dirty="0"/>
              <a:t>}}</a:t>
            </a:r>
          </a:p>
          <a:p>
            <a:pPr marL="298450" indent="-285750">
              <a:lnSpc>
                <a:spcPct val="100000"/>
              </a:lnSpc>
              <a:spcBef>
                <a:spcPts val="660"/>
              </a:spcBef>
              <a:buClr>
                <a:srgbClr val="40AD48"/>
              </a:buClr>
              <a:buFont typeface="Arial" panose="020B0604020202020204" pitchFamily="34" charset="0"/>
              <a:buChar char="•"/>
              <a:tabLst>
                <a:tab pos="278765" algn="l"/>
              </a:tabLst>
            </a:pPr>
            <a:r>
              <a:rPr lang="en-GB" sz="1400" dirty="0"/>
              <a:t>Power dissipation &lt;{{</a:t>
            </a:r>
            <a:r>
              <a:rPr lang="en-GB" sz="1400" dirty="0" err="1"/>
              <a:t>power_max</a:t>
            </a:r>
            <a:r>
              <a:rPr lang="en-GB" sz="1400" dirty="0"/>
              <a:t>}}</a:t>
            </a:r>
          </a:p>
          <a:p>
            <a:pPr marL="298450" indent="-285750">
              <a:lnSpc>
                <a:spcPct val="100000"/>
              </a:lnSpc>
              <a:spcBef>
                <a:spcPts val="660"/>
              </a:spcBef>
              <a:buClr>
                <a:srgbClr val="40AD48"/>
              </a:buClr>
              <a:buFont typeface="Arial" panose="020B0604020202020204" pitchFamily="34" charset="0"/>
              <a:buChar char="•"/>
              <a:tabLst>
                <a:tab pos="278765" algn="l"/>
              </a:tabLst>
            </a:pPr>
            <a:r>
              <a:rPr lang="en-GB" sz="1400" dirty="0"/>
              <a:t>{{</a:t>
            </a:r>
            <a:r>
              <a:rPr lang="en-GB" sz="1400" dirty="0" err="1"/>
              <a:t>tdec_param</a:t>
            </a:r>
            <a:r>
              <a:rPr lang="en-GB" sz="1400" dirty="0"/>
              <a:t>}} &lt;{{</a:t>
            </a:r>
            <a:r>
              <a:rPr lang="en-GB" sz="1400" dirty="0" err="1"/>
              <a:t>tdec_value</a:t>
            </a:r>
            <a:r>
              <a:rPr lang="en-GB" sz="1400" dirty="0"/>
              <a:t>}}{{</a:t>
            </a:r>
            <a:r>
              <a:rPr lang="en-GB" sz="1400" dirty="0" err="1"/>
              <a:t>tdec_unit</a:t>
            </a:r>
            <a:r>
              <a:rPr lang="en-GB" sz="1400" dirty="0"/>
              <a:t>}}</a:t>
            </a:r>
          </a:p>
          <a:p>
            <a:pPr marL="298450" indent="-285750">
              <a:lnSpc>
                <a:spcPct val="100000"/>
              </a:lnSpc>
              <a:spcBef>
                <a:spcPts val="660"/>
              </a:spcBef>
              <a:buClr>
                <a:srgbClr val="40AD48"/>
              </a:buClr>
              <a:buFont typeface="Arial" panose="020B0604020202020204" pitchFamily="34" charset="0"/>
              <a:buChar char="•"/>
              <a:tabLst>
                <a:tab pos="278765" algn="l"/>
              </a:tabLst>
            </a:pPr>
            <a:r>
              <a:rPr lang="en-GB" sz="1400" dirty="0"/>
              <a:t>{{</a:t>
            </a:r>
            <a:r>
              <a:rPr lang="en-GB" sz="1400" dirty="0" err="1"/>
              <a:t>connector_type</a:t>
            </a:r>
            <a:r>
              <a:rPr lang="en-GB" sz="1400" dirty="0"/>
              <a:t>}} connector</a:t>
            </a:r>
          </a:p>
          <a:p>
            <a:pPr marL="12700">
              <a:lnSpc>
                <a:spcPct val="100000"/>
              </a:lnSpc>
              <a:spcBef>
                <a:spcPts val="660"/>
              </a:spcBef>
              <a:buClr>
                <a:srgbClr val="40AD48"/>
              </a:buClr>
              <a:tabLst>
                <a:tab pos="278765" algn="l"/>
              </a:tabLst>
            </a:pPr>
            <a:endParaRPr lang="en-GB" sz="1400" spc="-10" dirty="0">
              <a:latin typeface="Roboto" panose="02000000000000000000" pitchFamily="2" charset="0"/>
              <a:ea typeface="Roboto" panose="02000000000000000000" pitchFamily="2" charset="0"/>
              <a:cs typeface="Roboto" panose="02000000000000000000" pitchFamily="2" charset="0"/>
            </a:endParaRPr>
          </a:p>
          <a:p>
            <a:pPr marL="12700">
              <a:spcBef>
                <a:spcPts val="685"/>
              </a:spcBef>
              <a:buClr>
                <a:srgbClr val="40AD49"/>
              </a:buClr>
              <a:tabLst>
                <a:tab pos="278765" algn="l"/>
              </a:tabLst>
            </a:pPr>
            <a:r>
              <a:rPr lang="en-GB" b="1" spc="-10" dirty="0">
                <a:solidFill>
                  <a:srgbClr val="004455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Applications</a:t>
            </a:r>
          </a:p>
          <a:p>
            <a:pPr marL="298450" indent="-285750">
              <a:lnSpc>
                <a:spcPct val="100000"/>
              </a:lnSpc>
              <a:spcBef>
                <a:spcPts val="660"/>
              </a:spcBef>
              <a:buClr>
                <a:srgbClr val="40AD49"/>
              </a:buClr>
              <a:buFont typeface="Arial" panose="020B0604020202020204" pitchFamily="34" charset="0"/>
              <a:buChar char="•"/>
              <a:tabLst>
                <a:tab pos="278765" algn="l"/>
              </a:tabLst>
            </a:pPr>
            <a:r>
              <a:rPr lang="en-GB" sz="1400" dirty="0"/>
              <a:t>{{application_1}}</a:t>
            </a:r>
          </a:p>
          <a:p>
            <a:pPr marL="298450" indent="-285750">
              <a:lnSpc>
                <a:spcPct val="100000"/>
              </a:lnSpc>
              <a:spcBef>
                <a:spcPts val="660"/>
              </a:spcBef>
              <a:buClr>
                <a:srgbClr val="40AD49"/>
              </a:buClr>
              <a:buFont typeface="Arial" panose="020B0604020202020204" pitchFamily="34" charset="0"/>
              <a:buChar char="•"/>
              <a:tabLst>
                <a:tab pos="278765" algn="l"/>
              </a:tabLst>
            </a:pPr>
            <a:r>
              <a:rPr lang="en-GB" sz="1400" dirty="0"/>
              <a:t>{{application_2}}</a:t>
            </a:r>
          </a:p>
          <a:p>
            <a:pPr marL="298450" indent="-285750">
              <a:lnSpc>
                <a:spcPct val="100000"/>
              </a:lnSpc>
              <a:spcBef>
                <a:spcPts val="660"/>
              </a:spcBef>
              <a:buClr>
                <a:srgbClr val="40AD49"/>
              </a:buClr>
              <a:buFont typeface="Arial" panose="020B0604020202020204" pitchFamily="34" charset="0"/>
              <a:buChar char="•"/>
              <a:tabLst>
                <a:tab pos="278765" algn="l"/>
              </a:tabLst>
            </a:pPr>
            <a:r>
              <a:rPr lang="en-GB" sz="1400" dirty="0"/>
              <a:t>{{application_3}}</a:t>
            </a:r>
          </a:p>
          <a:p>
            <a:pPr marL="298450" indent="-285750">
              <a:lnSpc>
                <a:spcPct val="100000"/>
              </a:lnSpc>
              <a:spcBef>
                <a:spcPts val="660"/>
              </a:spcBef>
              <a:buClr>
                <a:srgbClr val="40AD49"/>
              </a:buClr>
              <a:buFont typeface="Arial" panose="020B0604020202020204" pitchFamily="34" charset="0"/>
              <a:buChar char="•"/>
              <a:tabLst>
                <a:tab pos="278765" algn="l"/>
              </a:tabLst>
            </a:pPr>
            <a:r>
              <a:rPr lang="en-GB" sz="1400" dirty="0"/>
              <a:t>{{application_4}}</a:t>
            </a:r>
          </a:p>
          <a:p>
            <a:pPr marL="298450" indent="-285750">
              <a:lnSpc>
                <a:spcPct val="100000"/>
              </a:lnSpc>
              <a:spcBef>
                <a:spcPts val="660"/>
              </a:spcBef>
              <a:buClr>
                <a:srgbClr val="40AD49"/>
              </a:buClr>
              <a:buFont typeface="Arial" panose="020B0604020202020204" pitchFamily="34" charset="0"/>
              <a:buChar char="•"/>
              <a:tabLst>
                <a:tab pos="278765" algn="l"/>
              </a:tabLst>
            </a:pPr>
            <a:endParaRPr lang="fr-FR" sz="1400" dirty="0">
              <a:latin typeface="Roboto" panose="02000000000000000000" pitchFamily="2" charset="0"/>
              <a:ea typeface="Roboto" panose="02000000000000000000" pitchFamily="2" charset="0"/>
              <a:cs typeface="Roboto" panose="02000000000000000000" pitchFamily="2" charset="0"/>
            </a:endParaRPr>
          </a:p>
          <a:p>
            <a:pPr marL="12700">
              <a:spcBef>
                <a:spcPts val="685"/>
              </a:spcBef>
              <a:buClr>
                <a:srgbClr val="40AD49"/>
              </a:buClr>
              <a:tabLst>
                <a:tab pos="278765" algn="l"/>
              </a:tabLst>
            </a:pPr>
            <a:r>
              <a:rPr lang="en-GB" b="1" spc="-10" dirty="0">
                <a:solidFill>
                  <a:srgbClr val="004455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Standards</a:t>
            </a:r>
          </a:p>
          <a:p>
            <a:pPr marL="278765" indent="-266065">
              <a:lnSpc>
                <a:spcPct val="100000"/>
              </a:lnSpc>
              <a:spcBef>
                <a:spcPts val="580"/>
              </a:spcBef>
              <a:buFont typeface="Wingdings"/>
              <a:buChar char=""/>
              <a:tabLst>
                <a:tab pos="278765" algn="l"/>
              </a:tabLst>
            </a:pPr>
            <a:r>
              <a:rPr lang="en-GB" sz="1400" dirty="0"/>
              <a:t>{{standard_1}}</a:t>
            </a:r>
          </a:p>
          <a:p>
            <a:pPr marL="278765" indent="-266065">
              <a:lnSpc>
                <a:spcPct val="100000"/>
              </a:lnSpc>
              <a:spcBef>
                <a:spcPts val="580"/>
              </a:spcBef>
              <a:buFont typeface="Wingdings"/>
              <a:buChar char=""/>
              <a:tabLst>
                <a:tab pos="278765" algn="l"/>
              </a:tabLst>
            </a:pPr>
            <a:r>
              <a:rPr lang="en-GB" sz="1400" dirty="0"/>
              <a:t>{{standard_2}}</a:t>
            </a:r>
          </a:p>
          <a:p>
            <a:pPr marL="278765" indent="-266065">
              <a:lnSpc>
                <a:spcPct val="100000"/>
              </a:lnSpc>
              <a:spcBef>
                <a:spcPts val="580"/>
              </a:spcBef>
              <a:buFont typeface="Wingdings"/>
              <a:buChar char=""/>
              <a:tabLst>
                <a:tab pos="278765" algn="l"/>
              </a:tabLst>
            </a:pPr>
            <a:r>
              <a:rPr lang="en-GB" sz="1400" dirty="0"/>
              <a:t>{{standard_3}}</a:t>
            </a:r>
          </a:p>
          <a:p>
            <a:pPr marL="278765" indent="-266065">
              <a:lnSpc>
                <a:spcPct val="100000"/>
              </a:lnSpc>
              <a:spcBef>
                <a:spcPts val="580"/>
              </a:spcBef>
              <a:buFont typeface="Wingdings"/>
              <a:buChar char=""/>
              <a:tabLst>
                <a:tab pos="278765" algn="l"/>
              </a:tabLst>
            </a:pPr>
            <a:endParaRPr lang="de-DE" sz="1400" dirty="0">
              <a:latin typeface="Roboto" panose="02000000000000000000" pitchFamily="2" charset="0"/>
              <a:ea typeface="Roboto" panose="02000000000000000000" pitchFamily="2" charset="0"/>
              <a:cs typeface="Roboto" panose="02000000000000000000" pitchFamily="2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4243E9A0-A15C-9A4D-8514-AC4D4AEE898D}"/>
              </a:ext>
            </a:extLst>
          </p:cNvPr>
          <p:cNvSpPr txBox="1"/>
          <p:nvPr/>
        </p:nvSpPr>
        <p:spPr>
          <a:xfrm>
            <a:off x="3683000" y="528407"/>
            <a:ext cx="723900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745"/>
              </a:spcBef>
            </a:pPr>
            <a:r>
              <a:rPr lang="en-GB" sz="2800" dirty="0"/>
              <a:t>{{</a:t>
            </a:r>
            <a:r>
              <a:rPr lang="en-GB" sz="2800" dirty="0" err="1"/>
              <a:t>product_title</a:t>
            </a:r>
            <a:r>
              <a:rPr lang="en-GB" sz="2800" dirty="0"/>
              <a:t>}}</a:t>
            </a:r>
            <a:endParaRPr lang="en-GB" sz="2800" b="1" i="0" dirty="0">
              <a:solidFill>
                <a:srgbClr val="004455"/>
              </a:solidFill>
              <a:latin typeface="Roboto Condensed Black" panose="02000000000000000000" pitchFamily="2" charset="0"/>
              <a:ea typeface="Roboto Condensed Black" panose="02000000000000000000" pitchFamily="2" charset="0"/>
              <a:cs typeface="Roboto Condensed Black" panose="02000000000000000000" pitchFamily="2" charset="0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18DF11ED-D53F-11B5-3ED8-C12519D97A2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831128" y="1900097"/>
            <a:ext cx="7127438" cy="348932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1270066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B4AD5DD-AAD6-8C34-8724-F39D0378680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object 4">
            <a:extLst>
              <a:ext uri="{FF2B5EF4-FFF2-40B4-BE49-F238E27FC236}">
                <a16:creationId xmlns:a16="http://schemas.microsoft.com/office/drawing/2014/main" id="{49F2ECAF-88C9-8FD4-BEFD-C8DB68538278}"/>
              </a:ext>
            </a:extLst>
          </p:cNvPr>
          <p:cNvSpPr txBox="1"/>
          <p:nvPr/>
        </p:nvSpPr>
        <p:spPr>
          <a:xfrm>
            <a:off x="483205" y="1520613"/>
            <a:ext cx="4272915" cy="228909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1"/>
            <a:r>
              <a:rPr lang="en-GB" sz="1400" b="1" dirty="0">
                <a:solidFill>
                  <a:srgbClr val="004455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Ordering Information</a:t>
            </a:r>
            <a:endParaRPr sz="1400" dirty="0">
              <a:solidFill>
                <a:srgbClr val="004455"/>
              </a:solidFill>
              <a:latin typeface="Roboto" panose="02000000000000000000" pitchFamily="2" charset="0"/>
              <a:ea typeface="Roboto" panose="02000000000000000000" pitchFamily="2" charset="0"/>
              <a:cs typeface="Arial"/>
            </a:endParaRPr>
          </a:p>
        </p:txBody>
      </p:sp>
      <p:graphicFrame>
        <p:nvGraphicFramePr>
          <p:cNvPr id="13" name="object 5">
            <a:extLst>
              <a:ext uri="{FF2B5EF4-FFF2-40B4-BE49-F238E27FC236}">
                <a16:creationId xmlns:a16="http://schemas.microsoft.com/office/drawing/2014/main" id="{9FAD36F3-A019-9979-C287-C3B7092BB81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57921690"/>
              </p:ext>
            </p:extLst>
          </p:nvPr>
        </p:nvGraphicFramePr>
        <p:xfrm>
          <a:off x="483205" y="1943757"/>
          <a:ext cx="16933937" cy="3484587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91165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68251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277258">
                  <a:extLst>
                    <a:ext uri="{9D8B030D-6E8A-4147-A177-3AD203B41FA5}">
                      <a16:colId xmlns:a16="http://schemas.microsoft.com/office/drawing/2014/main" val="2134188741"/>
                    </a:ext>
                  </a:extLst>
                </a:gridCol>
                <a:gridCol w="3062513">
                  <a:extLst>
                    <a:ext uri="{9D8B030D-6E8A-4147-A177-3AD203B41FA5}">
                      <a16:colId xmlns:a16="http://schemas.microsoft.com/office/drawing/2014/main" val="2661050408"/>
                    </a:ext>
                  </a:extLst>
                </a:gridCol>
              </a:tblGrid>
              <a:tr h="646151">
                <a:tc>
                  <a:txBody>
                    <a:bodyPr/>
                    <a:lstStyle/>
                    <a:p>
                      <a:pPr marL="635" algn="ctr">
                        <a:lnSpc>
                          <a:spcPct val="100000"/>
                        </a:lnSpc>
                        <a:spcBef>
                          <a:spcPts val="385"/>
                        </a:spcBef>
                      </a:pPr>
                      <a:r>
                        <a:rPr lang="en-GB" sz="1400" b="1" spc="-10" dirty="0">
                          <a:solidFill>
                            <a:srgbClr val="FFFFFF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Part Number</a:t>
                      </a:r>
                      <a:endParaRPr sz="14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8895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4455"/>
                    </a:solidFill>
                  </a:tcPr>
                </a:tc>
                <a:tc>
                  <a:txBody>
                    <a:bodyPr/>
                    <a:lstStyle/>
                    <a:p>
                      <a:pPr marL="87313" indent="0" algn="l">
                        <a:lnSpc>
                          <a:spcPct val="100000"/>
                        </a:lnSpc>
                        <a:spcBef>
                          <a:spcPts val="385"/>
                        </a:spcBef>
                      </a:pPr>
                      <a:r>
                        <a:rPr lang="en-GB" sz="1400" b="1" spc="-10" dirty="0">
                          <a:solidFill>
                            <a:srgbClr val="FFFFFF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Description</a:t>
                      </a:r>
                      <a:endParaRPr sz="14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8895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445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85"/>
                        </a:spcBef>
                      </a:pPr>
                      <a:r>
                        <a:rPr lang="en-GB" sz="1400" b="1" dirty="0">
                          <a:solidFill>
                            <a:schemeClr val="bg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Compatibility</a:t>
                      </a:r>
                      <a:endParaRPr sz="1400" b="1" dirty="0">
                        <a:solidFill>
                          <a:schemeClr val="bg1"/>
                        </a:solidFill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8895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445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85"/>
                        </a:spcBef>
                      </a:pPr>
                      <a:r>
                        <a:rPr lang="en-GB" sz="1400" b="1" dirty="0">
                          <a:solidFill>
                            <a:schemeClr val="bg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Branded Equiv.</a:t>
                      </a:r>
                      <a:endParaRPr sz="1400" b="1" dirty="0">
                        <a:solidFill>
                          <a:schemeClr val="bg1"/>
                        </a:solidFill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8895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445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09609">
                <a:tc>
                  <a:txBody>
                    <a:bodyPr/>
                    <a:lstStyle/>
                    <a:p>
                      <a:pPr marL="87313" indent="0" algn="l" fontAlgn="ctr">
                        <a:buNone/>
                      </a:pPr>
                      <a:r>
                        <a:rPr lang="en-GB" sz="1200" dirty="0"/>
                        <a:t>{{part_number_1}}</a:t>
                      </a:r>
                      <a:endParaRPr lang="en-GB" sz="1200" b="0" i="0" u="none" strike="noStrike" dirty="0">
                        <a:solidFill>
                          <a:srgbClr val="004455"/>
                        </a:solidFill>
                        <a:effectLst/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0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87313" indent="0" algn="l" fontAlgn="ctr">
                        <a:buNone/>
                      </a:pPr>
                      <a:r>
                        <a:rPr lang="en-GB" sz="1200" dirty="0"/>
                        <a:t>{{part_description_1}}</a:t>
                      </a:r>
                      <a:endParaRPr lang="en-GB" sz="1200" b="0" i="0" u="none" strike="noStrike" dirty="0">
                        <a:solidFill>
                          <a:srgbClr val="004455"/>
                        </a:solidFill>
                        <a:effectLst/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87313" indent="0" algn="l" fontAlgn="ctr">
                        <a:buNone/>
                      </a:pPr>
                      <a:r>
                        <a:rPr lang="en-GB" sz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{{compatibility</a:t>
                      </a:r>
                      <a:r>
                        <a:rPr lang="en-GB" sz="1200" dirty="0"/>
                        <a:t>_1</a:t>
                      </a:r>
                      <a:r>
                        <a:rPr lang="en-GB" sz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}}</a:t>
                      </a:r>
                      <a:endParaRPr lang="en-GB" sz="1200" b="0" i="0" u="none" strike="noStrike" dirty="0">
                        <a:solidFill>
                          <a:srgbClr val="000000"/>
                        </a:solidFill>
                        <a:effectLst/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87313" indent="0" algn="l" fontAlgn="ctr">
                        <a:buNone/>
                      </a:pPr>
                      <a:r>
                        <a:rPr lang="en-GB" sz="1200" dirty="0"/>
                        <a:t>{{branded_equiv_1}}</a:t>
                      </a:r>
                      <a:endParaRPr lang="en-GB" sz="1200" b="0" i="0" u="none" strike="noStrike" dirty="0">
                        <a:solidFill>
                          <a:srgbClr val="004455"/>
                        </a:solidFill>
                        <a:effectLst/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709609">
                <a:tc>
                  <a:txBody>
                    <a:bodyPr/>
                    <a:lstStyle/>
                    <a:p>
                      <a:pPr marL="87313" indent="0" algn="l" fontAlgn="ctr">
                        <a:buNone/>
                      </a:pPr>
                      <a:r>
                        <a:rPr lang="en-GB" sz="1200" dirty="0"/>
                        <a:t>{{part_number_2}}</a:t>
                      </a:r>
                      <a:endParaRPr lang="en-GB" sz="1200" b="0" i="0" u="none" strike="noStrike" dirty="0">
                        <a:solidFill>
                          <a:srgbClr val="004455"/>
                        </a:solidFill>
                        <a:effectLst/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0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87313" indent="0" algn="l" fontAlgn="ctr">
                        <a:buNone/>
                      </a:pPr>
                      <a:r>
                        <a:rPr lang="en-GB" sz="1200" dirty="0"/>
                        <a:t>{{part_description_2}}</a:t>
                      </a:r>
                      <a:endParaRPr lang="en-GB" sz="1200" b="0" i="0" u="none" strike="noStrike" dirty="0">
                        <a:solidFill>
                          <a:srgbClr val="004455"/>
                        </a:solidFill>
                        <a:effectLst/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87313" indent="0" algn="l" fontAlgn="ctr">
                        <a:buNone/>
                      </a:pPr>
                      <a:r>
                        <a:rPr lang="en-GB" sz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{{compatibility</a:t>
                      </a:r>
                      <a:r>
                        <a:rPr lang="en-GB" sz="1200" dirty="0"/>
                        <a:t>_2</a:t>
                      </a:r>
                      <a:r>
                        <a:rPr lang="en-GB" sz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}}</a:t>
                      </a:r>
                      <a:endParaRPr lang="en-GB" sz="1200" b="0" i="0" u="none" strike="noStrike" dirty="0">
                        <a:solidFill>
                          <a:srgbClr val="000000"/>
                        </a:solidFill>
                        <a:effectLst/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87313" indent="0" algn="l" fontAlgn="ctr">
                        <a:buNone/>
                      </a:pPr>
                      <a:r>
                        <a:rPr lang="en-GB" sz="1200" dirty="0"/>
                        <a:t>{{branded_equiv_2}}</a:t>
                      </a:r>
                      <a:endParaRPr lang="en-GB" sz="1200" b="0" i="0" u="none" strike="noStrike" dirty="0">
                        <a:solidFill>
                          <a:srgbClr val="004455"/>
                        </a:solidFill>
                        <a:effectLst/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709609">
                <a:tc>
                  <a:txBody>
                    <a:bodyPr/>
                    <a:lstStyle/>
                    <a:p>
                      <a:pPr marL="87313" indent="0" algn="l" fontAlgn="ctr">
                        <a:buNone/>
                      </a:pPr>
                      <a:r>
                        <a:rPr lang="en-GB" sz="1200" dirty="0"/>
                        <a:t>{{part_number_3}}</a:t>
                      </a:r>
                      <a:endParaRPr lang="en-GB" sz="1200" b="0" i="0" u="none" strike="noStrike" dirty="0">
                        <a:solidFill>
                          <a:srgbClr val="004455"/>
                        </a:solidFill>
                        <a:effectLst/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0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87313" indent="0" algn="l" fontAlgn="ctr">
                        <a:buNone/>
                      </a:pPr>
                      <a:r>
                        <a:rPr lang="en-GB" sz="1200" dirty="0"/>
                        <a:t>{{part_description_3}}</a:t>
                      </a:r>
                      <a:endParaRPr lang="en-GB" sz="1200" b="0" i="0" u="none" strike="noStrike" dirty="0">
                        <a:solidFill>
                          <a:srgbClr val="004455"/>
                        </a:solidFill>
                        <a:effectLst/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87313" indent="0" algn="l" fontAlgn="ctr">
                        <a:buNone/>
                      </a:pPr>
                      <a:r>
                        <a:rPr lang="en-GB" sz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{{compatibility</a:t>
                      </a:r>
                      <a:r>
                        <a:rPr lang="en-GB" sz="1200" dirty="0"/>
                        <a:t>_3</a:t>
                      </a:r>
                      <a:r>
                        <a:rPr lang="en-GB" sz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}}</a:t>
                      </a:r>
                      <a:endParaRPr lang="en-GB" sz="1200" b="0" i="0" u="none" strike="noStrike" dirty="0">
                        <a:solidFill>
                          <a:srgbClr val="000000"/>
                        </a:solidFill>
                        <a:effectLst/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87313" indent="0" algn="l" fontAlgn="ctr">
                        <a:buNone/>
                      </a:pPr>
                      <a:r>
                        <a:rPr lang="en-GB" sz="1200" dirty="0"/>
                        <a:t>{{branded_equiv_3}}</a:t>
                      </a:r>
                      <a:endParaRPr lang="en-GB" sz="1200" b="0" i="0" u="none" strike="noStrike" dirty="0">
                        <a:solidFill>
                          <a:srgbClr val="004455"/>
                        </a:solidFill>
                        <a:effectLst/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709609">
                <a:tc>
                  <a:txBody>
                    <a:bodyPr/>
                    <a:lstStyle/>
                    <a:p>
                      <a:pPr marL="87313" indent="0" algn="l" fontAlgn="ctr">
                        <a:buNone/>
                      </a:pPr>
                      <a:r>
                        <a:rPr lang="en-GB" sz="1200" dirty="0"/>
                        <a:t>{{part_number_4}}</a:t>
                      </a:r>
                      <a:endParaRPr lang="en-GB" sz="1200" b="0" i="0" u="none" strike="noStrike" dirty="0">
                        <a:solidFill>
                          <a:srgbClr val="004455"/>
                        </a:solidFill>
                        <a:effectLst/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0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87313" indent="0" algn="l" fontAlgn="ctr">
                        <a:buNone/>
                      </a:pPr>
                      <a:r>
                        <a:rPr lang="en-GB" sz="1200" dirty="0"/>
                        <a:t>{{part_description_4}}</a:t>
                      </a:r>
                      <a:endParaRPr lang="en-GB" sz="1200" b="0" i="0" u="none" strike="noStrike" dirty="0">
                        <a:solidFill>
                          <a:srgbClr val="004455"/>
                        </a:solidFill>
                        <a:effectLst/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87313" indent="0" algn="l" fontAlgn="ctr">
                        <a:buNone/>
                      </a:pPr>
                      <a:r>
                        <a:rPr lang="en-GB" sz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{{compatibility</a:t>
                      </a:r>
                      <a:r>
                        <a:rPr lang="en-GB" sz="1200" dirty="0"/>
                        <a:t>_4</a:t>
                      </a:r>
                      <a:r>
                        <a:rPr lang="en-GB" sz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}}</a:t>
                      </a:r>
                      <a:endParaRPr lang="en-GB" sz="1200" b="0" i="0" u="none" strike="noStrike" dirty="0">
                        <a:solidFill>
                          <a:srgbClr val="000000"/>
                        </a:solidFill>
                        <a:effectLst/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87313" indent="0" algn="l" fontAlgn="ctr">
                        <a:buNone/>
                      </a:pPr>
                      <a:r>
                        <a:rPr lang="en-GB" sz="1200" dirty="0"/>
                        <a:t>{{branded_equiv_4}}</a:t>
                      </a:r>
                      <a:endParaRPr lang="en-GB" sz="1200" b="0" i="0" u="none" strike="noStrike" dirty="0">
                        <a:solidFill>
                          <a:srgbClr val="004455"/>
                        </a:solidFill>
                        <a:effectLst/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17" name="TextBox 16">
            <a:extLst>
              <a:ext uri="{FF2B5EF4-FFF2-40B4-BE49-F238E27FC236}">
                <a16:creationId xmlns:a16="http://schemas.microsoft.com/office/drawing/2014/main" id="{B0BBAE9C-2671-E462-8467-EFDF350A34D0}"/>
              </a:ext>
            </a:extLst>
          </p:cNvPr>
          <p:cNvSpPr txBox="1"/>
          <p:nvPr/>
        </p:nvSpPr>
        <p:spPr>
          <a:xfrm>
            <a:off x="3683000" y="514552"/>
            <a:ext cx="723900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745"/>
              </a:spcBef>
            </a:pPr>
            <a:r>
              <a:rPr lang="en-GB" sz="2800" b="1" i="0" dirty="0">
                <a:solidFill>
                  <a:srgbClr val="004455"/>
                </a:solidFill>
                <a:latin typeface="Roboto Condensed Black" panose="02000000000000000000" pitchFamily="2" charset="0"/>
                <a:ea typeface="Roboto Condensed Black" panose="02000000000000000000" pitchFamily="2" charset="0"/>
                <a:cs typeface="Roboto Condensed Black" panose="02000000000000000000" pitchFamily="2" charset="0"/>
              </a:rPr>
              <a:t>400Gb/s QSFP-DD </a:t>
            </a:r>
            <a:r>
              <a:rPr lang="en-GB" sz="2800" b="1" dirty="0">
                <a:solidFill>
                  <a:srgbClr val="004455"/>
                </a:solidFill>
                <a:latin typeface="Roboto Condensed Black" panose="02000000000000000000" pitchFamily="2" charset="0"/>
                <a:ea typeface="Roboto Condensed Black" panose="02000000000000000000" pitchFamily="2" charset="0"/>
                <a:cs typeface="Roboto Condensed Black" panose="02000000000000000000" pitchFamily="2" charset="0"/>
              </a:rPr>
              <a:t>S</a:t>
            </a:r>
            <a:r>
              <a:rPr lang="en-GB" sz="2800" b="1" i="0" dirty="0">
                <a:solidFill>
                  <a:srgbClr val="004455"/>
                </a:solidFill>
                <a:latin typeface="Roboto Condensed Black" panose="02000000000000000000" pitchFamily="2" charset="0"/>
                <a:ea typeface="Roboto Condensed Black" panose="02000000000000000000" pitchFamily="2" charset="0"/>
                <a:cs typeface="Roboto Condensed Black" panose="02000000000000000000" pitchFamily="2" charset="0"/>
              </a:rPr>
              <a:t>R8 Transceiver</a:t>
            </a:r>
          </a:p>
        </p:txBody>
      </p:sp>
    </p:spTree>
    <p:extLst>
      <p:ext uri="{BB962C8B-B14F-4D97-AF65-F5344CB8AC3E}">
        <p14:creationId xmlns:p14="http://schemas.microsoft.com/office/powerpoint/2010/main" val="248411681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CD44887-CBFA-9A72-8D62-51C2ADF293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object 4">
            <a:extLst>
              <a:ext uri="{FF2B5EF4-FFF2-40B4-BE49-F238E27FC236}">
                <a16:creationId xmlns:a16="http://schemas.microsoft.com/office/drawing/2014/main" id="{963DCD38-7A51-9CBE-79CC-3387B723F75E}"/>
              </a:ext>
            </a:extLst>
          </p:cNvPr>
          <p:cNvSpPr txBox="1"/>
          <p:nvPr/>
        </p:nvSpPr>
        <p:spPr>
          <a:xfrm>
            <a:off x="483205" y="1494790"/>
            <a:ext cx="4272915" cy="228909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1"/>
            <a:r>
              <a:rPr sz="1400" b="1" dirty="0">
                <a:solidFill>
                  <a:srgbClr val="004455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Absolute</a:t>
            </a:r>
            <a:r>
              <a:rPr sz="1400" b="1" spc="-50" dirty="0">
                <a:solidFill>
                  <a:srgbClr val="004455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b="1" dirty="0">
                <a:solidFill>
                  <a:srgbClr val="004455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Maximum</a:t>
            </a:r>
            <a:r>
              <a:rPr sz="1400" b="1" spc="-60" dirty="0">
                <a:solidFill>
                  <a:srgbClr val="004455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b="1" spc="-10" dirty="0">
                <a:solidFill>
                  <a:srgbClr val="004455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Ratings</a:t>
            </a:r>
            <a:endParaRPr sz="1400" dirty="0">
              <a:solidFill>
                <a:srgbClr val="004455"/>
              </a:solidFill>
              <a:latin typeface="Roboto" panose="02000000000000000000" pitchFamily="2" charset="0"/>
              <a:ea typeface="Roboto" panose="02000000000000000000" pitchFamily="2" charset="0"/>
              <a:cs typeface="Arial"/>
            </a:endParaRPr>
          </a:p>
        </p:txBody>
      </p:sp>
      <p:graphicFrame>
        <p:nvGraphicFramePr>
          <p:cNvPr id="13" name="object 5">
            <a:extLst>
              <a:ext uri="{FF2B5EF4-FFF2-40B4-BE49-F238E27FC236}">
                <a16:creationId xmlns:a16="http://schemas.microsoft.com/office/drawing/2014/main" id="{6733C3CE-01E8-AFE3-8E28-87F4156B8EC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40723450"/>
              </p:ext>
            </p:extLst>
          </p:nvPr>
        </p:nvGraphicFramePr>
        <p:xfrm>
          <a:off x="483205" y="1943757"/>
          <a:ext cx="8139492" cy="1665898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94567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4763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55257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554187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61068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306488">
                <a:tc>
                  <a:txBody>
                    <a:bodyPr/>
                    <a:lstStyle/>
                    <a:p>
                      <a:pPr marL="635" algn="ctr">
                        <a:lnSpc>
                          <a:spcPct val="100000"/>
                        </a:lnSpc>
                        <a:spcBef>
                          <a:spcPts val="385"/>
                        </a:spcBef>
                      </a:pPr>
                      <a:r>
                        <a:rPr sz="1100" b="1" spc="-10" dirty="0">
                          <a:solidFill>
                            <a:srgbClr val="FFFFFF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Arial"/>
                        </a:rPr>
                        <a:t>Parameter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Arial"/>
                      </a:endParaRPr>
                    </a:p>
                  </a:txBody>
                  <a:tcPr marL="0" marR="0" marT="48895" marB="0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445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85"/>
                        </a:spcBef>
                      </a:pPr>
                      <a:r>
                        <a:rPr sz="1100" b="1" spc="-10" dirty="0">
                          <a:solidFill>
                            <a:srgbClr val="FFFFFF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Arial"/>
                        </a:rPr>
                        <a:t>Symbol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Arial"/>
                      </a:endParaRPr>
                    </a:p>
                  </a:txBody>
                  <a:tcPr marL="0" marR="0" marT="48895" marB="0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445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85"/>
                        </a:spcBef>
                      </a:pPr>
                      <a:r>
                        <a:rPr sz="1100" b="1" spc="-25" dirty="0">
                          <a:solidFill>
                            <a:srgbClr val="FFFFFF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Arial"/>
                        </a:rPr>
                        <a:t>Min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Arial"/>
                      </a:endParaRPr>
                    </a:p>
                  </a:txBody>
                  <a:tcPr marL="0" marR="0" marT="48895" marB="0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445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85"/>
                        </a:spcBef>
                      </a:pPr>
                      <a:r>
                        <a:rPr sz="1100" b="1" spc="-25" dirty="0">
                          <a:solidFill>
                            <a:srgbClr val="FFFFFF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Arial"/>
                        </a:rPr>
                        <a:t>Max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Arial"/>
                      </a:endParaRPr>
                    </a:p>
                  </a:txBody>
                  <a:tcPr marL="0" marR="0" marT="48895" marB="0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4455"/>
                    </a:solidFill>
                  </a:tcPr>
                </a:tc>
                <a:tc>
                  <a:txBody>
                    <a:bodyPr/>
                    <a:lstStyle/>
                    <a:p>
                      <a:pPr marL="635" algn="ctr">
                        <a:lnSpc>
                          <a:spcPct val="100000"/>
                        </a:lnSpc>
                        <a:spcBef>
                          <a:spcPts val="385"/>
                        </a:spcBef>
                      </a:pPr>
                      <a:r>
                        <a:rPr sz="1100" b="1" spc="-20" dirty="0">
                          <a:solidFill>
                            <a:srgbClr val="FFFFFF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Arial"/>
                        </a:rPr>
                        <a:t>Unit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Arial"/>
                      </a:endParaRPr>
                    </a:p>
                  </a:txBody>
                  <a:tcPr marL="0" marR="0" marT="48895" marB="0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445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39946">
                <a:tc>
                  <a:txBody>
                    <a:bodyPr/>
                    <a:lstStyle/>
                    <a:p>
                      <a:pPr marL="92075" indent="0" algn="l">
                        <a:lnSpc>
                          <a:spcPct val="100000"/>
                        </a:lnSpc>
                        <a:spcBef>
                          <a:spcPts val="335"/>
                        </a:spcBef>
                      </a:pPr>
                      <a:r>
                        <a:rPr lang="en-GB" sz="1100" dirty="0"/>
                        <a:t>{{</a:t>
                      </a:r>
                      <a:r>
                        <a:rPr lang="en-GB" sz="1100" dirty="0" err="1"/>
                        <a:t>abs_storage_temp</a:t>
                      </a:r>
                      <a:r>
                        <a:rPr lang="en-GB" sz="1100" dirty="0"/>
                        <a:t>}}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2545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405"/>
                        </a:spcBef>
                      </a:pPr>
                      <a:r>
                        <a:rPr lang="en-GB" sz="1100" dirty="0"/>
                        <a:t>{{</a:t>
                      </a:r>
                      <a:r>
                        <a:rPr lang="en-GB" sz="1100" dirty="0" err="1"/>
                        <a:t>abs_storage_symbol</a:t>
                      </a:r>
                      <a:r>
                        <a:rPr lang="en-GB" sz="1100" dirty="0"/>
                        <a:t>}}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5143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35"/>
                        </a:spcBef>
                      </a:pPr>
                      <a:r>
                        <a:rPr lang="en-GB" sz="1100" dirty="0"/>
                        <a:t>{{</a:t>
                      </a:r>
                      <a:r>
                        <a:rPr lang="en-GB" sz="1100" dirty="0" err="1"/>
                        <a:t>abs_storage_temp_min</a:t>
                      </a:r>
                      <a:r>
                        <a:rPr lang="en-GB" sz="1100" dirty="0"/>
                        <a:t>}}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254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35"/>
                        </a:spcBef>
                      </a:pPr>
                      <a:r>
                        <a:rPr lang="en-GB" sz="1100" dirty="0"/>
                        <a:t>{{</a:t>
                      </a:r>
                      <a:r>
                        <a:rPr lang="en-GB" sz="1100" dirty="0" err="1"/>
                        <a:t>abs_storage_temp_max</a:t>
                      </a:r>
                      <a:r>
                        <a:rPr lang="en-GB" sz="1100" dirty="0"/>
                        <a:t>}}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2545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35"/>
                        </a:spcBef>
                      </a:pPr>
                      <a:r>
                        <a:rPr lang="en-GB" sz="1100" dirty="0"/>
                        <a:t>{{</a:t>
                      </a:r>
                      <a:r>
                        <a:rPr lang="en-GB" sz="1100" dirty="0" err="1"/>
                        <a:t>abs_storage_unit</a:t>
                      </a:r>
                      <a:r>
                        <a:rPr lang="en-GB" sz="1100" dirty="0"/>
                        <a:t>_}}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2545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06488">
                <a:tc>
                  <a:txBody>
                    <a:bodyPr/>
                    <a:lstStyle/>
                    <a:p>
                      <a:pPr marL="92075" indent="0" algn="l">
                        <a:lnSpc>
                          <a:spcPct val="100000"/>
                        </a:lnSpc>
                        <a:spcBef>
                          <a:spcPts val="335"/>
                        </a:spcBef>
                      </a:pPr>
                      <a:r>
                        <a:rPr lang="en-GB" sz="1100" dirty="0"/>
                        <a:t>{{</a:t>
                      </a:r>
                      <a:r>
                        <a:rPr lang="en-GB" sz="1100" dirty="0" err="1"/>
                        <a:t>abs_humidity</a:t>
                      </a:r>
                      <a:r>
                        <a:rPr lang="en-GB" sz="1100" dirty="0"/>
                        <a:t>}}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2545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409"/>
                        </a:spcBef>
                      </a:pPr>
                      <a:r>
                        <a:rPr lang="en-GB" sz="1100" dirty="0"/>
                        <a:t>{{</a:t>
                      </a:r>
                      <a:r>
                        <a:rPr lang="en-GB" sz="1100" dirty="0" err="1"/>
                        <a:t>abs_humidity_symbol</a:t>
                      </a:r>
                      <a:r>
                        <a:rPr lang="en-GB" sz="1100" dirty="0"/>
                        <a:t>}}</a:t>
                      </a:r>
                      <a:endParaRPr sz="1100" baseline="-250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5206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35"/>
                        </a:spcBef>
                      </a:pPr>
                      <a:r>
                        <a:rPr lang="en-GB" sz="1100" dirty="0"/>
                        <a:t>{{</a:t>
                      </a:r>
                      <a:r>
                        <a:rPr lang="en-GB" sz="1100" dirty="0" err="1"/>
                        <a:t>abs_humidity_min</a:t>
                      </a:r>
                      <a:r>
                        <a:rPr lang="en-GB" sz="1100" dirty="0"/>
                        <a:t>}}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254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35"/>
                        </a:spcBef>
                      </a:pPr>
                      <a:r>
                        <a:rPr lang="en-GB" sz="1100" dirty="0"/>
                        <a:t>{{</a:t>
                      </a:r>
                      <a:r>
                        <a:rPr lang="en-GB" sz="1100" dirty="0" err="1"/>
                        <a:t>abs_humidity_max</a:t>
                      </a:r>
                      <a:r>
                        <a:rPr lang="en-GB" sz="1100" dirty="0"/>
                        <a:t>}}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2545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35"/>
                        </a:spcBef>
                      </a:pPr>
                      <a:r>
                        <a:rPr lang="en-GB" sz="1100" dirty="0"/>
                        <a:t>{{</a:t>
                      </a:r>
                      <a:r>
                        <a:rPr lang="en-GB" sz="1100" dirty="0" err="1"/>
                        <a:t>abs_humidity_unit</a:t>
                      </a:r>
                      <a:r>
                        <a:rPr lang="en-GB" sz="1100" dirty="0"/>
                        <a:t>}}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2545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06488">
                <a:tc>
                  <a:txBody>
                    <a:bodyPr/>
                    <a:lstStyle/>
                    <a:p>
                      <a:pPr marL="92075" indent="0" algn="l">
                        <a:lnSpc>
                          <a:spcPct val="100000"/>
                        </a:lnSpc>
                        <a:spcBef>
                          <a:spcPts val="340"/>
                        </a:spcBef>
                      </a:pPr>
                      <a:r>
                        <a:rPr lang="en-GB" sz="1100" dirty="0"/>
                        <a:t>{{</a:t>
                      </a:r>
                      <a:r>
                        <a:rPr lang="en-GB" sz="1100" dirty="0" err="1"/>
                        <a:t>abs_vcc</a:t>
                      </a:r>
                      <a:r>
                        <a:rPr lang="en-GB" sz="1100" dirty="0"/>
                        <a:t>_}}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3180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40"/>
                        </a:spcBef>
                      </a:pPr>
                      <a:r>
                        <a:rPr lang="en-GB" sz="1100" dirty="0"/>
                        <a:t>{{</a:t>
                      </a:r>
                      <a:r>
                        <a:rPr lang="en-GB" sz="1100" dirty="0" err="1"/>
                        <a:t>abs_vcc_symbol</a:t>
                      </a:r>
                      <a:r>
                        <a:rPr lang="en-GB" sz="1100" dirty="0"/>
                        <a:t>}}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318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40"/>
                        </a:spcBef>
                      </a:pPr>
                      <a:r>
                        <a:rPr lang="en-GB" sz="1100" dirty="0"/>
                        <a:t>{{</a:t>
                      </a:r>
                      <a:r>
                        <a:rPr lang="en-GB" sz="1100" dirty="0" err="1"/>
                        <a:t>abs_vcc_min</a:t>
                      </a:r>
                      <a:r>
                        <a:rPr lang="en-GB" sz="1100" dirty="0"/>
                        <a:t>}}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318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40"/>
                        </a:spcBef>
                      </a:pPr>
                      <a:r>
                        <a:rPr lang="en-GB" sz="1100" dirty="0"/>
                        <a:t>{{</a:t>
                      </a:r>
                      <a:r>
                        <a:rPr lang="en-GB" sz="1100" dirty="0" err="1"/>
                        <a:t>abs_vcc_max</a:t>
                      </a:r>
                      <a:r>
                        <a:rPr lang="en-GB" sz="1100" dirty="0"/>
                        <a:t>}}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3180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40"/>
                        </a:spcBef>
                      </a:pPr>
                      <a:r>
                        <a:rPr lang="en-GB" sz="1100" dirty="0"/>
                        <a:t>{{</a:t>
                      </a:r>
                      <a:r>
                        <a:rPr lang="en-GB" sz="1100" dirty="0" err="1"/>
                        <a:t>abs_vcc_unit</a:t>
                      </a:r>
                      <a:r>
                        <a:rPr lang="en-GB" sz="1100" dirty="0"/>
                        <a:t>}}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3180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06488">
                <a:tc>
                  <a:txBody>
                    <a:bodyPr/>
                    <a:lstStyle/>
                    <a:p>
                      <a:pPr marL="92075" indent="0" algn="l">
                        <a:lnSpc>
                          <a:spcPct val="100000"/>
                        </a:lnSpc>
                        <a:spcBef>
                          <a:spcPts val="340"/>
                        </a:spcBef>
                      </a:pPr>
                      <a:r>
                        <a:rPr lang="en-GB" sz="1100" dirty="0"/>
                        <a:t>{{</a:t>
                      </a:r>
                      <a:r>
                        <a:rPr lang="en-GB" sz="1100" dirty="0" err="1"/>
                        <a:t>abs_vin</a:t>
                      </a:r>
                      <a:r>
                        <a:rPr lang="en-GB" sz="1100" dirty="0"/>
                        <a:t>}}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3180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GB" sz="1100" dirty="0"/>
                        <a:t>{{</a:t>
                      </a:r>
                      <a:r>
                        <a:rPr lang="en-GB" sz="1100" dirty="0" err="1"/>
                        <a:t>abs_vin_symbol</a:t>
                      </a:r>
                      <a:r>
                        <a:rPr lang="en-GB" sz="1100" dirty="0"/>
                        <a:t>}}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40"/>
                        </a:spcBef>
                      </a:pPr>
                      <a:r>
                        <a:rPr lang="en-GB" sz="1100" dirty="0"/>
                        <a:t>{{</a:t>
                      </a:r>
                      <a:r>
                        <a:rPr lang="en-GB" sz="1100" dirty="0" err="1"/>
                        <a:t>abs_vin_min</a:t>
                      </a:r>
                      <a:r>
                        <a:rPr lang="en-GB" sz="1100" dirty="0"/>
                        <a:t>}}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318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40"/>
                        </a:spcBef>
                      </a:pPr>
                      <a:r>
                        <a:rPr lang="en-GB" sz="1100" dirty="0"/>
                        <a:t>{{</a:t>
                      </a:r>
                      <a:r>
                        <a:rPr lang="en-GB" sz="1100" dirty="0" err="1"/>
                        <a:t>abs_vin_max</a:t>
                      </a:r>
                      <a:r>
                        <a:rPr lang="en-GB" sz="1100" dirty="0"/>
                        <a:t>}}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3180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40"/>
                        </a:spcBef>
                      </a:pPr>
                      <a:r>
                        <a:rPr lang="en-GB" sz="1100" dirty="0"/>
                        <a:t>{{</a:t>
                      </a:r>
                      <a:r>
                        <a:rPr lang="en-GB" sz="1100" dirty="0" err="1"/>
                        <a:t>abs_vin_unit</a:t>
                      </a:r>
                      <a:r>
                        <a:rPr lang="en-GB" sz="1100" dirty="0"/>
                        <a:t>}}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3180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14" name="object 6">
            <a:extLst>
              <a:ext uri="{FF2B5EF4-FFF2-40B4-BE49-F238E27FC236}">
                <a16:creationId xmlns:a16="http://schemas.microsoft.com/office/drawing/2014/main" id="{52AD3EA4-D51B-968B-56AF-3323A3372F3F}"/>
              </a:ext>
            </a:extLst>
          </p:cNvPr>
          <p:cNvSpPr txBox="1"/>
          <p:nvPr/>
        </p:nvSpPr>
        <p:spPr>
          <a:xfrm>
            <a:off x="483205" y="3908844"/>
            <a:ext cx="4108255" cy="228268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1">
              <a:spcBef>
                <a:spcPts val="100"/>
              </a:spcBef>
            </a:pPr>
            <a:r>
              <a:rPr sz="1400" b="1" dirty="0">
                <a:solidFill>
                  <a:srgbClr val="004455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Recommended</a:t>
            </a:r>
            <a:r>
              <a:rPr sz="1400" b="1" spc="-75" dirty="0">
                <a:solidFill>
                  <a:srgbClr val="004455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b="1" dirty="0">
                <a:solidFill>
                  <a:srgbClr val="004455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Operating</a:t>
            </a:r>
            <a:r>
              <a:rPr sz="1400" b="1" spc="-70" dirty="0">
                <a:solidFill>
                  <a:srgbClr val="004455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b="1" spc="-10" dirty="0">
                <a:solidFill>
                  <a:srgbClr val="004455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Conditions</a:t>
            </a:r>
            <a:endParaRPr sz="1400" dirty="0">
              <a:solidFill>
                <a:srgbClr val="004455"/>
              </a:solidFill>
              <a:latin typeface="Roboto" panose="02000000000000000000" pitchFamily="2" charset="0"/>
              <a:ea typeface="Roboto" panose="02000000000000000000" pitchFamily="2" charset="0"/>
              <a:cs typeface="Arial"/>
            </a:endParaRPr>
          </a:p>
        </p:txBody>
      </p:sp>
      <p:graphicFrame>
        <p:nvGraphicFramePr>
          <p:cNvPr id="15" name="object 7">
            <a:extLst>
              <a:ext uri="{FF2B5EF4-FFF2-40B4-BE49-F238E27FC236}">
                <a16:creationId xmlns:a16="http://schemas.microsoft.com/office/drawing/2014/main" id="{9C7AF0EE-ACFC-C400-B539-04EB259980D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33851360"/>
              </p:ext>
            </p:extLst>
          </p:nvPr>
        </p:nvGraphicFramePr>
        <p:xfrm>
          <a:off x="483206" y="4215495"/>
          <a:ext cx="8139493" cy="1585595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231714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763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858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221827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12034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117977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269875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65"/>
                        </a:spcBef>
                      </a:pPr>
                      <a:r>
                        <a:rPr sz="1100" b="1" spc="-10" dirty="0">
                          <a:solidFill>
                            <a:srgbClr val="FFFFFF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Arial"/>
                        </a:rPr>
                        <a:t>Parameter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Arial"/>
                      </a:endParaRPr>
                    </a:p>
                  </a:txBody>
                  <a:tcPr marL="0" marR="0" marT="46355" marB="0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445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65"/>
                        </a:spcBef>
                      </a:pPr>
                      <a:r>
                        <a:rPr sz="1100" b="1" spc="-10" dirty="0">
                          <a:solidFill>
                            <a:srgbClr val="FFFFFF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Arial"/>
                        </a:rPr>
                        <a:t>Symbol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Arial"/>
                      </a:endParaRPr>
                    </a:p>
                  </a:txBody>
                  <a:tcPr marL="0" marR="0" marT="46355" marB="0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445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65"/>
                        </a:spcBef>
                      </a:pPr>
                      <a:r>
                        <a:rPr sz="1100" b="1" spc="-25" dirty="0">
                          <a:solidFill>
                            <a:srgbClr val="FFFFFF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Arial"/>
                        </a:rPr>
                        <a:t>Min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Arial"/>
                      </a:endParaRPr>
                    </a:p>
                  </a:txBody>
                  <a:tcPr marL="0" marR="0" marT="46355" marB="0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445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65"/>
                        </a:spcBef>
                      </a:pPr>
                      <a:r>
                        <a:rPr sz="1100" b="1" spc="-10" dirty="0">
                          <a:solidFill>
                            <a:srgbClr val="FFFFFF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Arial"/>
                        </a:rPr>
                        <a:t>Typical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Arial"/>
                      </a:endParaRPr>
                    </a:p>
                  </a:txBody>
                  <a:tcPr marL="0" marR="0" marT="46355" marB="0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4455"/>
                    </a:solidFill>
                  </a:tcPr>
                </a:tc>
                <a:tc>
                  <a:txBody>
                    <a:bodyPr/>
                    <a:lstStyle/>
                    <a:p>
                      <a:pPr marL="635" algn="ctr">
                        <a:lnSpc>
                          <a:spcPct val="100000"/>
                        </a:lnSpc>
                        <a:spcBef>
                          <a:spcPts val="365"/>
                        </a:spcBef>
                      </a:pPr>
                      <a:r>
                        <a:rPr sz="1100" b="1" spc="-25" dirty="0">
                          <a:solidFill>
                            <a:srgbClr val="FFFFFF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Arial"/>
                        </a:rPr>
                        <a:t>Max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Arial"/>
                      </a:endParaRPr>
                    </a:p>
                  </a:txBody>
                  <a:tcPr marL="0" marR="0" marT="46355" marB="0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445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65"/>
                        </a:spcBef>
                      </a:pPr>
                      <a:r>
                        <a:rPr sz="1100" b="1" spc="-20" dirty="0">
                          <a:solidFill>
                            <a:srgbClr val="FFFFFF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Arial"/>
                        </a:rPr>
                        <a:t>Unit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Arial"/>
                      </a:endParaRPr>
                    </a:p>
                  </a:txBody>
                  <a:tcPr marL="0" marR="0" marT="46355" marB="0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445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69875">
                <a:tc>
                  <a:txBody>
                    <a:bodyPr/>
                    <a:lstStyle/>
                    <a:p>
                      <a:pPr marL="92075" indent="0" algn="l">
                        <a:lnSpc>
                          <a:spcPct val="100000"/>
                        </a:lnSpc>
                        <a:spcBef>
                          <a:spcPts val="345"/>
                        </a:spcBef>
                        <a:tabLst>
                          <a:tab pos="92075" algn="l"/>
                        </a:tabLst>
                      </a:pPr>
                      <a:r>
                        <a:rPr lang="en-GB" sz="1100" dirty="0"/>
                        <a:t>{{</a:t>
                      </a:r>
                      <a:r>
                        <a:rPr lang="en-GB" sz="1100" dirty="0" err="1"/>
                        <a:t>op_temp</a:t>
                      </a:r>
                      <a:r>
                        <a:rPr lang="en-GB" sz="1100" dirty="0"/>
                        <a:t>}}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3815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635" algn="ctr">
                        <a:lnSpc>
                          <a:spcPct val="100000"/>
                        </a:lnSpc>
                        <a:spcBef>
                          <a:spcPts val="345"/>
                        </a:spcBef>
                      </a:pPr>
                      <a:r>
                        <a:rPr lang="en-GB" sz="1100" spc="-25" dirty="0">
                          <a:latin typeface="+mn-lt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spc="-25" dirty="0" err="1">
                          <a:latin typeface="+mn-lt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op_temp_symbol</a:t>
                      </a:r>
                      <a:r>
                        <a:rPr lang="en-GB" sz="1100" spc="-25" dirty="0">
                          <a:latin typeface="+mn-lt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  <a:endParaRPr sz="1100" dirty="0">
                        <a:latin typeface="+mn-lt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3815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45"/>
                        </a:spcBef>
                      </a:pPr>
                      <a:r>
                        <a:rPr lang="en-GB" sz="1100" dirty="0">
                          <a:latin typeface="+mn-lt"/>
                        </a:rPr>
                        <a:t>{{</a:t>
                      </a:r>
                      <a:r>
                        <a:rPr lang="en-GB" sz="1100" dirty="0" err="1">
                          <a:latin typeface="+mn-lt"/>
                        </a:rPr>
                        <a:t>op_temp_min</a:t>
                      </a:r>
                      <a:r>
                        <a:rPr lang="en-GB" sz="1100" dirty="0">
                          <a:latin typeface="+mn-lt"/>
                        </a:rPr>
                        <a:t>}}</a:t>
                      </a:r>
                      <a:endParaRPr sz="1100" dirty="0">
                        <a:latin typeface="+mn-lt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3815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GB" sz="1100" dirty="0">
                          <a:latin typeface="+mn-lt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+mn-lt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op_temp_typical</a:t>
                      </a:r>
                      <a:r>
                        <a:rPr lang="en-GB" sz="1100" dirty="0">
                          <a:latin typeface="+mn-lt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  <a:endParaRPr sz="1100" dirty="0">
                        <a:latin typeface="+mn-lt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0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45"/>
                        </a:spcBef>
                      </a:pPr>
                      <a:r>
                        <a:rPr lang="en-GB" sz="1100" spc="-25" dirty="0">
                          <a:latin typeface="+mn-lt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spc="-25" dirty="0" err="1">
                          <a:latin typeface="+mn-lt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op_temp_max</a:t>
                      </a:r>
                      <a:r>
                        <a:rPr lang="en-GB" sz="1100" spc="-25" dirty="0">
                          <a:latin typeface="+mn-lt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  <a:endParaRPr sz="1100" dirty="0">
                        <a:latin typeface="+mn-lt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3815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45"/>
                        </a:spcBef>
                      </a:pPr>
                      <a:r>
                        <a:rPr lang="en-GB" sz="1100" spc="-50" dirty="0">
                          <a:latin typeface="+mn-lt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spc="-50" dirty="0" err="1">
                          <a:latin typeface="+mn-lt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op_temp_unit</a:t>
                      </a:r>
                      <a:r>
                        <a:rPr lang="en-GB" sz="1100" spc="-50" dirty="0">
                          <a:latin typeface="+mn-lt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  <a:endParaRPr sz="1100" dirty="0">
                        <a:latin typeface="+mn-lt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3815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69875">
                <a:tc>
                  <a:txBody>
                    <a:bodyPr/>
                    <a:lstStyle/>
                    <a:p>
                      <a:pPr marL="92075" indent="0" algn="l">
                        <a:lnSpc>
                          <a:spcPct val="100000"/>
                        </a:lnSpc>
                        <a:spcBef>
                          <a:spcPts val="335"/>
                        </a:spcBef>
                      </a:pPr>
                      <a:r>
                        <a:rPr lang="en-GB" sz="1100" dirty="0"/>
                        <a:t>{{</a:t>
                      </a:r>
                      <a:r>
                        <a:rPr lang="en-GB" sz="1100" dirty="0" err="1"/>
                        <a:t>op_vcc</a:t>
                      </a:r>
                      <a:r>
                        <a:rPr lang="en-GB" sz="1100" dirty="0"/>
                        <a:t>}}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2545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35"/>
                        </a:spcBef>
                      </a:pPr>
                      <a:r>
                        <a:rPr lang="en-GB" sz="11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{{</a:t>
                      </a:r>
                      <a:r>
                        <a:rPr lang="en-GB" sz="1100" dirty="0" err="1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op_vcc_symbol</a:t>
                      </a:r>
                      <a:r>
                        <a:rPr lang="en-GB" sz="11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}}</a:t>
                      </a:r>
                      <a:endParaRPr sz="1100" dirty="0">
                        <a:latin typeface="+mn-lt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2545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35"/>
                        </a:spcBef>
                      </a:pPr>
                      <a:r>
                        <a:rPr lang="en-GB" sz="11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{{</a:t>
                      </a:r>
                      <a:r>
                        <a:rPr lang="en-GB" sz="1100" dirty="0" err="1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op_vcc_min</a:t>
                      </a:r>
                      <a:r>
                        <a:rPr lang="en-GB" sz="11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}}</a:t>
                      </a:r>
                      <a:endParaRPr sz="1100" dirty="0">
                        <a:latin typeface="+mn-lt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2545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35"/>
                        </a:spcBef>
                      </a:pPr>
                      <a:r>
                        <a:rPr lang="en-GB" sz="1100" dirty="0">
                          <a:latin typeface="+mn-lt"/>
                        </a:rPr>
                        <a:t>{{</a:t>
                      </a:r>
                      <a:r>
                        <a:rPr lang="en-GB" sz="1100" dirty="0" err="1">
                          <a:latin typeface="+mn-lt"/>
                        </a:rPr>
                        <a:t>op_vcc_typ</a:t>
                      </a:r>
                      <a:r>
                        <a:rPr lang="en-GB" sz="1100" dirty="0">
                          <a:latin typeface="+mn-lt"/>
                        </a:rPr>
                        <a:t>}}</a:t>
                      </a:r>
                      <a:endParaRPr sz="1100" dirty="0">
                        <a:latin typeface="+mn-lt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2545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1270" algn="ctr">
                        <a:lnSpc>
                          <a:spcPct val="100000"/>
                        </a:lnSpc>
                        <a:spcBef>
                          <a:spcPts val="335"/>
                        </a:spcBef>
                      </a:pPr>
                      <a:r>
                        <a:rPr lang="en-GB" sz="1100" dirty="0">
                          <a:latin typeface="+mn-lt"/>
                        </a:rPr>
                        <a:t>{{</a:t>
                      </a:r>
                      <a:r>
                        <a:rPr lang="en-GB" sz="1100" dirty="0" err="1">
                          <a:latin typeface="+mn-lt"/>
                        </a:rPr>
                        <a:t>op_vcc_max</a:t>
                      </a:r>
                      <a:r>
                        <a:rPr lang="en-GB" sz="1100" dirty="0">
                          <a:latin typeface="+mn-lt"/>
                        </a:rPr>
                        <a:t>}}</a:t>
                      </a:r>
                      <a:endParaRPr sz="1100" dirty="0">
                        <a:latin typeface="+mn-lt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2545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35"/>
                        </a:spcBef>
                      </a:pPr>
                      <a:r>
                        <a:rPr lang="en-GB" sz="1100" dirty="0">
                          <a:latin typeface="+mn-lt"/>
                        </a:rPr>
                        <a:t>{{</a:t>
                      </a:r>
                      <a:r>
                        <a:rPr lang="en-GB" sz="1100" dirty="0" err="1">
                          <a:latin typeface="+mn-lt"/>
                        </a:rPr>
                        <a:t>op_vcc_unit</a:t>
                      </a:r>
                      <a:r>
                        <a:rPr lang="en-GB" sz="1100" dirty="0">
                          <a:latin typeface="+mn-lt"/>
                        </a:rPr>
                        <a:t>}}</a:t>
                      </a:r>
                      <a:endParaRPr lang="en-GB" sz="1100" dirty="0">
                        <a:latin typeface="+mn-lt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2545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69875">
                <a:tc>
                  <a:txBody>
                    <a:bodyPr/>
                    <a:lstStyle/>
                    <a:p>
                      <a:pPr marL="92075" indent="0" algn="l">
                        <a:lnSpc>
                          <a:spcPct val="100000"/>
                        </a:lnSpc>
                        <a:spcBef>
                          <a:spcPts val="335"/>
                        </a:spcBef>
                      </a:pPr>
                      <a:r>
                        <a:rPr lang="en-GB" sz="1100" dirty="0"/>
                        <a:t>{{</a:t>
                      </a:r>
                      <a:r>
                        <a:rPr lang="en-GB" sz="1100" dirty="0" err="1"/>
                        <a:t>data_rate_lane</a:t>
                      </a:r>
                      <a:r>
                        <a:rPr lang="en-GB" sz="1100" dirty="0"/>
                        <a:t>}}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2545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endParaRPr sz="1100" dirty="0">
                        <a:latin typeface="+mn-lt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endParaRPr sz="1100" dirty="0">
                        <a:latin typeface="+mn-lt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00"/>
                        </a:spcBef>
                      </a:pPr>
                      <a:r>
                        <a:rPr lang="en-GB" sz="11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{{</a:t>
                      </a:r>
                      <a:r>
                        <a:rPr lang="en-GB" sz="1100" dirty="0" err="1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data_rate_lane_typ</a:t>
                      </a:r>
                      <a:r>
                        <a:rPr lang="en-GB" sz="11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}}</a:t>
                      </a:r>
                      <a:endParaRPr sz="1100" dirty="0">
                        <a:latin typeface="+mn-lt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3810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endParaRPr sz="1100" dirty="0">
                        <a:latin typeface="+mn-lt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35"/>
                        </a:spcBef>
                      </a:pPr>
                      <a:r>
                        <a:rPr lang="en-GB" sz="11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{{</a:t>
                      </a:r>
                      <a:r>
                        <a:rPr lang="en-GB" sz="1100" dirty="0" err="1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data_rate_lane_unit</a:t>
                      </a:r>
                      <a:r>
                        <a:rPr lang="en-GB" sz="11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}}</a:t>
                      </a:r>
                      <a:endParaRPr sz="1100" dirty="0">
                        <a:latin typeface="+mn-lt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254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32192887"/>
                  </a:ext>
                </a:extLst>
              </a:tr>
              <a:tr h="269875">
                <a:tc>
                  <a:txBody>
                    <a:bodyPr/>
                    <a:lstStyle/>
                    <a:p>
                      <a:pPr marL="92075" marR="15875" indent="0" algn="l">
                        <a:lnSpc>
                          <a:spcPct val="100000"/>
                        </a:lnSpc>
                        <a:spcBef>
                          <a:spcPts val="459"/>
                        </a:spcBef>
                      </a:pPr>
                      <a:r>
                        <a:rPr lang="en-GB" sz="1100" dirty="0"/>
                        <a:t>{{</a:t>
                      </a:r>
                      <a:r>
                        <a:rPr lang="en-GB" sz="1100" dirty="0" err="1"/>
                        <a:t>fiber_length</a:t>
                      </a:r>
                      <a:r>
                        <a:rPr lang="en-GB" sz="1100" dirty="0"/>
                        <a:t>}}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58419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endParaRPr sz="1100" dirty="0">
                        <a:latin typeface="+mn-lt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0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495"/>
                        </a:spcBef>
                      </a:pPr>
                      <a:r>
                        <a:rPr sz="1100" spc="-50" dirty="0">
                          <a:latin typeface="+mn-lt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-</a:t>
                      </a:r>
                      <a:endParaRPr sz="1100" dirty="0">
                        <a:latin typeface="+mn-lt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62865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635" algn="ctr">
                        <a:lnSpc>
                          <a:spcPct val="100000"/>
                        </a:lnSpc>
                        <a:spcBef>
                          <a:spcPts val="735"/>
                        </a:spcBef>
                      </a:pPr>
                      <a:r>
                        <a:rPr sz="1100" spc="-50" dirty="0">
                          <a:latin typeface="+mn-lt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-</a:t>
                      </a:r>
                      <a:endParaRPr sz="1100" dirty="0">
                        <a:latin typeface="+mn-lt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93345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495"/>
                        </a:spcBef>
                      </a:pPr>
                      <a:r>
                        <a:rPr lang="en-GB" sz="1100" dirty="0">
                          <a:latin typeface="+mn-lt"/>
                        </a:rPr>
                        <a:t>{{</a:t>
                      </a:r>
                      <a:r>
                        <a:rPr lang="en-GB" sz="1100" dirty="0" err="1">
                          <a:latin typeface="+mn-lt"/>
                        </a:rPr>
                        <a:t>fiber_length_max</a:t>
                      </a:r>
                      <a:r>
                        <a:rPr lang="en-GB" sz="1100" dirty="0">
                          <a:latin typeface="+mn-lt"/>
                        </a:rPr>
                        <a:t>}}</a:t>
                      </a:r>
                      <a:endParaRPr sz="1100" dirty="0">
                        <a:latin typeface="+mn-lt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62865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495"/>
                        </a:spcBef>
                      </a:pPr>
                      <a:r>
                        <a:rPr lang="en-GB" sz="1100" dirty="0">
                          <a:latin typeface="+mn-lt"/>
                        </a:rPr>
                        <a:t>{{</a:t>
                      </a:r>
                      <a:r>
                        <a:rPr lang="en-GB" sz="1100" dirty="0" err="1">
                          <a:latin typeface="+mn-lt"/>
                        </a:rPr>
                        <a:t>fiber_length_unit</a:t>
                      </a:r>
                      <a:r>
                        <a:rPr lang="en-GB" sz="1100" dirty="0">
                          <a:latin typeface="+mn-lt"/>
                        </a:rPr>
                        <a:t>}}</a:t>
                      </a:r>
                      <a:endParaRPr sz="1100" dirty="0">
                        <a:latin typeface="+mn-lt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62865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7" name="object 5">
            <a:extLst>
              <a:ext uri="{FF2B5EF4-FFF2-40B4-BE49-F238E27FC236}">
                <a16:creationId xmlns:a16="http://schemas.microsoft.com/office/drawing/2014/main" id="{EC435DC7-7A42-2847-80D8-E6A0E11129C0}"/>
              </a:ext>
            </a:extLst>
          </p:cNvPr>
          <p:cNvSpPr txBox="1"/>
          <p:nvPr/>
        </p:nvSpPr>
        <p:spPr>
          <a:xfrm>
            <a:off x="9342618" y="1415904"/>
            <a:ext cx="3712984" cy="323165"/>
          </a:xfrm>
          <a:prstGeom prst="rect">
            <a:avLst/>
          </a:prstGeom>
        </p:spPr>
        <p:txBody>
          <a:bodyPr vert="horz" wrap="square" lIns="0" tIns="106680" rIns="0" bIns="0" rtlCol="0">
            <a:spAutoFit/>
          </a:bodyPr>
          <a:lstStyle/>
          <a:p>
            <a:pPr marL="12701"/>
            <a:r>
              <a:rPr sz="1400" b="1" dirty="0">
                <a:solidFill>
                  <a:srgbClr val="004455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Optical</a:t>
            </a:r>
            <a:r>
              <a:rPr sz="1400" b="1" spc="-65" dirty="0">
                <a:solidFill>
                  <a:srgbClr val="004455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b="1" spc="-10" dirty="0">
                <a:solidFill>
                  <a:srgbClr val="004455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Characteristics</a:t>
            </a:r>
            <a:r>
              <a:rPr lang="en-GB" sz="1400" b="1" spc="-10" dirty="0">
                <a:solidFill>
                  <a:srgbClr val="004455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- Transmitter</a:t>
            </a:r>
            <a:endParaRPr sz="1400" dirty="0">
              <a:solidFill>
                <a:srgbClr val="004455"/>
              </a:solidFill>
              <a:latin typeface="Roboto" panose="02000000000000000000" pitchFamily="2" charset="0"/>
              <a:ea typeface="Roboto" panose="02000000000000000000" pitchFamily="2" charset="0"/>
              <a:cs typeface="Arial"/>
            </a:endParaRPr>
          </a:p>
        </p:txBody>
      </p:sp>
      <p:graphicFrame>
        <p:nvGraphicFramePr>
          <p:cNvPr id="4" name="object 5">
            <a:extLst>
              <a:ext uri="{FF2B5EF4-FFF2-40B4-BE49-F238E27FC236}">
                <a16:creationId xmlns:a16="http://schemas.microsoft.com/office/drawing/2014/main" id="{22FCFA24-4BD0-5FD9-16BB-A5BAA35DB45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54212867"/>
              </p:ext>
            </p:extLst>
          </p:nvPr>
        </p:nvGraphicFramePr>
        <p:xfrm>
          <a:off x="9329165" y="1942500"/>
          <a:ext cx="8006335" cy="4463557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8245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353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287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84582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92964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08969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152525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288206">
                <a:tc>
                  <a:txBody>
                    <a:bodyPr/>
                    <a:lstStyle/>
                    <a:p>
                      <a:pPr marL="619760">
                        <a:lnSpc>
                          <a:spcPct val="100000"/>
                        </a:lnSpc>
                        <a:spcBef>
                          <a:spcPts val="204"/>
                        </a:spcBef>
                      </a:pPr>
                      <a:r>
                        <a:rPr sz="1100" b="1" spc="-10" dirty="0">
                          <a:solidFill>
                            <a:schemeClr val="bg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Parameter</a:t>
                      </a:r>
                      <a:endParaRPr sz="1100" dirty="0">
                        <a:solidFill>
                          <a:schemeClr val="bg1"/>
                        </a:solidFill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32535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rgbClr val="00445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204"/>
                        </a:spcBef>
                      </a:pPr>
                      <a:r>
                        <a:rPr sz="1100" b="1" spc="-10" dirty="0">
                          <a:solidFill>
                            <a:schemeClr val="bg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Symbol</a:t>
                      </a:r>
                      <a:endParaRPr sz="1100" dirty="0">
                        <a:solidFill>
                          <a:schemeClr val="bg1"/>
                        </a:solidFill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3253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rgbClr val="00445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204"/>
                        </a:spcBef>
                      </a:pPr>
                      <a:r>
                        <a:rPr sz="1100" b="1" spc="-25" dirty="0">
                          <a:solidFill>
                            <a:schemeClr val="bg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Min</a:t>
                      </a:r>
                      <a:endParaRPr sz="1100" dirty="0">
                        <a:solidFill>
                          <a:schemeClr val="bg1"/>
                        </a:solidFill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3253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rgbClr val="00445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204"/>
                        </a:spcBef>
                      </a:pPr>
                      <a:r>
                        <a:rPr sz="1100" b="1" spc="-10" dirty="0">
                          <a:solidFill>
                            <a:schemeClr val="bg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Typical</a:t>
                      </a:r>
                      <a:endParaRPr sz="1100" dirty="0">
                        <a:solidFill>
                          <a:schemeClr val="bg1"/>
                        </a:solidFill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3253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rgbClr val="004455"/>
                    </a:solidFill>
                  </a:tcPr>
                </a:tc>
                <a:tc>
                  <a:txBody>
                    <a:bodyPr/>
                    <a:lstStyle/>
                    <a:p>
                      <a:pPr marL="185420">
                        <a:lnSpc>
                          <a:spcPct val="100000"/>
                        </a:lnSpc>
                        <a:spcBef>
                          <a:spcPts val="204"/>
                        </a:spcBef>
                      </a:pPr>
                      <a:r>
                        <a:rPr sz="1100" b="1" spc="-25" dirty="0">
                          <a:solidFill>
                            <a:schemeClr val="bg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Max</a:t>
                      </a:r>
                      <a:endParaRPr sz="1100" dirty="0">
                        <a:solidFill>
                          <a:schemeClr val="bg1"/>
                        </a:solidFill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3253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rgbClr val="00445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204"/>
                        </a:spcBef>
                      </a:pPr>
                      <a:r>
                        <a:rPr sz="1100" b="1" spc="-20" dirty="0">
                          <a:solidFill>
                            <a:schemeClr val="bg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Unit</a:t>
                      </a:r>
                      <a:endParaRPr sz="1100" dirty="0">
                        <a:solidFill>
                          <a:schemeClr val="bg1"/>
                        </a:solidFill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3253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rgbClr val="00445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204"/>
                        </a:spcBef>
                      </a:pPr>
                      <a:r>
                        <a:rPr sz="1100" b="1" spc="-10" dirty="0">
                          <a:solidFill>
                            <a:schemeClr val="bg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Notes</a:t>
                      </a:r>
                      <a:endParaRPr sz="1100" dirty="0">
                        <a:solidFill>
                          <a:schemeClr val="bg1"/>
                        </a:solidFill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3253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rgbClr val="00445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04546">
                <a:tc>
                  <a:txBody>
                    <a:bodyPr/>
                    <a:lstStyle/>
                    <a:p>
                      <a:pPr marL="67945" algn="l">
                        <a:lnSpc>
                          <a:spcPct val="100000"/>
                        </a:lnSpc>
                        <a:spcBef>
                          <a:spcPts val="305"/>
                        </a:spcBef>
                      </a:pPr>
                      <a:r>
                        <a:rPr lang="en-GB" sz="1100" dirty="0"/>
                        <a:t>{{</a:t>
                      </a:r>
                      <a:r>
                        <a:rPr lang="en-GB" sz="1100" dirty="0" err="1"/>
                        <a:t>tx_power</a:t>
                      </a:r>
                      <a:r>
                        <a:rPr lang="en-GB" sz="1100" dirty="0"/>
                        <a:t>}}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8408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635" algn="ctr">
                        <a:lnSpc>
                          <a:spcPct val="100000"/>
                        </a:lnSpc>
                        <a:spcBef>
                          <a:spcPts val="305"/>
                        </a:spcBef>
                      </a:pPr>
                      <a:r>
                        <a:rPr lang="en-GB" sz="1100" dirty="0"/>
                        <a:t>{{</a:t>
                      </a:r>
                      <a:r>
                        <a:rPr lang="en-GB" sz="1100" dirty="0" err="1"/>
                        <a:t>tx_power_symbol</a:t>
                      </a:r>
                      <a:r>
                        <a:rPr lang="en-GB" sz="1100" dirty="0"/>
                        <a:t>}}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8408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05"/>
                        </a:spcBef>
                      </a:pPr>
                      <a:r>
                        <a:rPr lang="en-GB" sz="1100" dirty="0"/>
                        <a:t>{{</a:t>
                      </a:r>
                      <a:r>
                        <a:rPr lang="en-GB" sz="1100" dirty="0" err="1"/>
                        <a:t>tx_power_min</a:t>
                      </a:r>
                      <a:r>
                        <a:rPr lang="en-GB" sz="1100" dirty="0"/>
                        <a:t>}}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8408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100" dirty="0"/>
                        <a:t>{{</a:t>
                      </a:r>
                      <a:r>
                        <a:rPr lang="en-GB" sz="1100" dirty="0" err="1"/>
                        <a:t>tx_power_typical</a:t>
                      </a:r>
                      <a:r>
                        <a:rPr lang="en-GB" sz="1100" dirty="0"/>
                        <a:t>}}</a:t>
                      </a:r>
                      <a:endParaRPr lang="en-GB"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  <a:p>
                      <a:pPr algn="ctr">
                        <a:lnSpc>
                          <a:spcPct val="100000"/>
                        </a:lnSpc>
                      </a:pP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0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05"/>
                        </a:spcBef>
                      </a:pPr>
                      <a:r>
                        <a:rPr lang="en-GB" sz="1100" dirty="0"/>
                        <a:t>{{</a:t>
                      </a:r>
                      <a:r>
                        <a:rPr lang="en-GB" sz="1100" dirty="0" err="1"/>
                        <a:t>tx_power_max</a:t>
                      </a:r>
                      <a:r>
                        <a:rPr lang="en-GB" sz="1100" dirty="0"/>
                        <a:t>}}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8408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635" algn="ctr">
                        <a:lnSpc>
                          <a:spcPct val="100000"/>
                        </a:lnSpc>
                        <a:spcBef>
                          <a:spcPts val="305"/>
                        </a:spcBef>
                      </a:pPr>
                      <a:r>
                        <a:rPr lang="en-GB" sz="1100" dirty="0"/>
                        <a:t>{{</a:t>
                      </a:r>
                      <a:r>
                        <a:rPr lang="en-GB" sz="1100" dirty="0" err="1"/>
                        <a:t>tx_power_unit</a:t>
                      </a:r>
                      <a:r>
                        <a:rPr lang="en-GB" sz="1100" dirty="0"/>
                        <a:t>}}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8408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110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0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85724">
                <a:tc>
                  <a:txBody>
                    <a:bodyPr/>
                    <a:lstStyle/>
                    <a:p>
                      <a:pPr marL="67945" algn="l">
                        <a:lnSpc>
                          <a:spcPct val="100000"/>
                        </a:lnSpc>
                        <a:spcBef>
                          <a:spcPts val="310"/>
                        </a:spcBef>
                      </a:pPr>
                      <a:r>
                        <a:rPr lang="en-GB" sz="1100" dirty="0"/>
                        <a:t>{{</a:t>
                      </a:r>
                      <a:r>
                        <a:rPr lang="en-GB" sz="1100" dirty="0" err="1"/>
                        <a:t>tx_wavelength</a:t>
                      </a:r>
                      <a:r>
                        <a:rPr lang="en-GB" sz="1100" dirty="0"/>
                        <a:t>}}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9201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10"/>
                        </a:spcBef>
                      </a:pPr>
                      <a:r>
                        <a:rPr lang="en-GB" sz="1100" dirty="0"/>
                        <a:t>{{</a:t>
                      </a:r>
                      <a:r>
                        <a:rPr lang="en-GB" sz="1100" dirty="0" err="1"/>
                        <a:t>tx_wavelength_symbol</a:t>
                      </a:r>
                      <a:r>
                        <a:rPr lang="en-GB" sz="1100" dirty="0"/>
                        <a:t>}}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9201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235"/>
                        </a:spcBef>
                      </a:pPr>
                      <a:r>
                        <a:rPr lang="en-GB" sz="1100" dirty="0"/>
                        <a:t>{{</a:t>
                      </a:r>
                      <a:r>
                        <a:rPr lang="en-GB" sz="1100" dirty="0" err="1"/>
                        <a:t>tx_wavelength_min</a:t>
                      </a:r>
                      <a:r>
                        <a:rPr lang="en-GB" sz="1100" dirty="0"/>
                        <a:t>}}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37298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235"/>
                        </a:spcBef>
                      </a:pPr>
                      <a:r>
                        <a:rPr lang="en-GB" sz="1100" dirty="0"/>
                        <a:t>{{</a:t>
                      </a:r>
                      <a:r>
                        <a:rPr lang="en-GB" sz="1100" dirty="0" err="1"/>
                        <a:t>tx_wavelength_typical</a:t>
                      </a:r>
                      <a:r>
                        <a:rPr lang="en-GB" sz="1100" dirty="0"/>
                        <a:t>}}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37298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235"/>
                        </a:spcBef>
                      </a:pPr>
                      <a:r>
                        <a:rPr lang="en-GB" sz="1100" dirty="0"/>
                        <a:t>{{</a:t>
                      </a:r>
                      <a:r>
                        <a:rPr lang="en-GB" sz="1100" dirty="0" err="1"/>
                        <a:t>tx_wavelength_max</a:t>
                      </a:r>
                      <a:r>
                        <a:rPr lang="en-GB" sz="1100" dirty="0"/>
                        <a:t>}}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37298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635" algn="ctr">
                        <a:lnSpc>
                          <a:spcPct val="100000"/>
                        </a:lnSpc>
                        <a:spcBef>
                          <a:spcPts val="310"/>
                        </a:spcBef>
                      </a:pPr>
                      <a:r>
                        <a:rPr lang="en-GB" sz="1100" dirty="0"/>
                        <a:t>{{</a:t>
                      </a:r>
                      <a:r>
                        <a:rPr lang="en-GB" sz="1100" dirty="0" err="1"/>
                        <a:t>tx_wavelength_unit</a:t>
                      </a:r>
                      <a:r>
                        <a:rPr lang="en-GB" sz="1100" dirty="0"/>
                        <a:t>}}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9201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110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0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634489">
                <a:tc>
                  <a:txBody>
                    <a:bodyPr/>
                    <a:lstStyle/>
                    <a:p>
                      <a:pPr marL="67945" algn="l">
                        <a:lnSpc>
                          <a:spcPct val="100000"/>
                        </a:lnSpc>
                        <a:spcBef>
                          <a:spcPts val="300"/>
                        </a:spcBef>
                      </a:pPr>
                      <a:r>
                        <a:rPr lang="en-GB" sz="1100" dirty="0"/>
                        <a:t>{{</a:t>
                      </a:r>
                      <a:r>
                        <a:rPr lang="en-GB" sz="1100" dirty="0" err="1"/>
                        <a:t>tx_spectral_width</a:t>
                      </a:r>
                      <a:r>
                        <a:rPr lang="en-GB" sz="1100" dirty="0"/>
                        <a:t>}}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7614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00"/>
                        </a:spcBef>
                      </a:pPr>
                      <a:r>
                        <a:rPr lang="en-GB" sz="1100" dirty="0"/>
                        <a:t>{{</a:t>
                      </a:r>
                      <a:r>
                        <a:rPr lang="en-GB" sz="1100" dirty="0" err="1"/>
                        <a:t>tx_spectral_width_symbol</a:t>
                      </a:r>
                      <a:r>
                        <a:rPr lang="en-GB" sz="1100" dirty="0"/>
                        <a:t>}}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7614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00"/>
                        </a:spcBef>
                      </a:pPr>
                      <a:endParaRPr lang="en-GB" sz="1100" dirty="0"/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300"/>
                        </a:spcBef>
                      </a:pPr>
                      <a:r>
                        <a:rPr lang="en-GB" sz="1100" dirty="0"/>
                        <a:t>{{</a:t>
                      </a:r>
                      <a:r>
                        <a:rPr lang="en-GB" sz="1100" dirty="0" err="1"/>
                        <a:t>tx_spectral_width_min</a:t>
                      </a:r>
                      <a:r>
                        <a:rPr lang="en-GB" sz="1100" dirty="0"/>
                        <a:t>}}</a:t>
                      </a:r>
                      <a:endParaRPr lang="en-GB"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  <a:p>
                      <a:pPr algn="ctr">
                        <a:lnSpc>
                          <a:spcPct val="100000"/>
                        </a:lnSpc>
                      </a:pP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0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00"/>
                        </a:spcBef>
                      </a:pPr>
                      <a:endParaRPr lang="en-GB" sz="1100" dirty="0"/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300"/>
                        </a:spcBef>
                      </a:pPr>
                      <a:r>
                        <a:rPr lang="en-GB" sz="1100" dirty="0"/>
                        <a:t>{{</a:t>
                      </a:r>
                      <a:r>
                        <a:rPr lang="en-GB" sz="1100" dirty="0" err="1"/>
                        <a:t>tx_spectral_width_typical</a:t>
                      </a:r>
                      <a:r>
                        <a:rPr lang="en-GB" sz="1100" dirty="0"/>
                        <a:t>}}</a:t>
                      </a:r>
                      <a:endParaRPr lang="en-GB"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  <a:p>
                      <a:pPr algn="ctr">
                        <a:lnSpc>
                          <a:spcPct val="100000"/>
                        </a:lnSpc>
                      </a:pP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0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635" algn="ctr">
                        <a:lnSpc>
                          <a:spcPct val="100000"/>
                        </a:lnSpc>
                        <a:spcBef>
                          <a:spcPts val="300"/>
                        </a:spcBef>
                      </a:pPr>
                      <a:r>
                        <a:rPr lang="en-GB" sz="1100" dirty="0"/>
                        <a:t>{{</a:t>
                      </a:r>
                      <a:r>
                        <a:rPr lang="en-GB" sz="1100" dirty="0" err="1"/>
                        <a:t>tx_spectral_max</a:t>
                      </a:r>
                      <a:r>
                        <a:rPr lang="en-GB" sz="1100" dirty="0"/>
                        <a:t>}}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7614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635" algn="ctr">
                        <a:lnSpc>
                          <a:spcPct val="100000"/>
                        </a:lnSpc>
                        <a:spcBef>
                          <a:spcPts val="300"/>
                        </a:spcBef>
                      </a:pPr>
                      <a:r>
                        <a:rPr lang="en-GB" sz="1100" dirty="0"/>
                        <a:t>{{</a:t>
                      </a:r>
                      <a:r>
                        <a:rPr lang="en-GB" sz="1100" dirty="0" err="1"/>
                        <a:t>tx_spectral_unit</a:t>
                      </a:r>
                      <a:r>
                        <a:rPr lang="en-GB" sz="1100" dirty="0"/>
                        <a:t>}}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7614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110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0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67945" algn="l">
                        <a:lnSpc>
                          <a:spcPct val="100000"/>
                        </a:lnSpc>
                        <a:spcBef>
                          <a:spcPts val="300"/>
                        </a:spcBef>
                      </a:pPr>
                      <a:r>
                        <a:rPr lang="en-GB" sz="1100" dirty="0"/>
                        <a:t>{{</a:t>
                      </a:r>
                      <a:r>
                        <a:rPr lang="en-GB" sz="1100" dirty="0" err="1"/>
                        <a:t>tx_er</a:t>
                      </a:r>
                      <a:r>
                        <a:rPr lang="en-GB" sz="1100" dirty="0"/>
                        <a:t>}}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7614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00"/>
                        </a:spcBef>
                      </a:pPr>
                      <a:r>
                        <a:rPr lang="en-GB" sz="1100" dirty="0"/>
                        <a:t>{{</a:t>
                      </a:r>
                      <a:r>
                        <a:rPr lang="en-GB" sz="1100" dirty="0" err="1"/>
                        <a:t>tx_er_symbol</a:t>
                      </a:r>
                      <a:r>
                        <a:rPr lang="en-GB" sz="1100" dirty="0"/>
                        <a:t>}}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7614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00"/>
                        </a:spcBef>
                      </a:pPr>
                      <a:r>
                        <a:rPr lang="en-GB" sz="1100" dirty="0"/>
                        <a:t>{{</a:t>
                      </a:r>
                      <a:r>
                        <a:rPr lang="en-GB" sz="1100" dirty="0" err="1"/>
                        <a:t>tx_er_min</a:t>
                      </a:r>
                      <a:r>
                        <a:rPr lang="en-GB" sz="1100" dirty="0"/>
                        <a:t>}}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7614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100" dirty="0"/>
                        <a:t>  </a:t>
                      </a:r>
                    </a:p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100" dirty="0"/>
                        <a:t>{{</a:t>
                      </a:r>
                      <a:r>
                        <a:rPr lang="en-GB" sz="1100" dirty="0" err="1"/>
                        <a:t>tx_er_typical</a:t>
                      </a:r>
                      <a:r>
                        <a:rPr lang="en-GB" sz="1100" dirty="0"/>
                        <a:t>}}</a:t>
                      </a:r>
                      <a:endParaRPr lang="en-GB"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  <a:p>
                      <a:pPr algn="ctr">
                        <a:lnSpc>
                          <a:spcPct val="100000"/>
                        </a:lnSpc>
                      </a:pP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0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GB" sz="1100" dirty="0"/>
                    </a:p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100" dirty="0"/>
                        <a:t>{{</a:t>
                      </a:r>
                      <a:r>
                        <a:rPr lang="en-GB" sz="1100" dirty="0" err="1"/>
                        <a:t>tx_er_max</a:t>
                      </a:r>
                      <a:r>
                        <a:rPr lang="en-GB" sz="1100" dirty="0"/>
                        <a:t>}}</a:t>
                      </a:r>
                      <a:endParaRPr lang="en-GB"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  <a:p>
                      <a:pPr algn="ctr">
                        <a:lnSpc>
                          <a:spcPct val="100000"/>
                        </a:lnSpc>
                      </a:pP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0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00"/>
                        </a:spcBef>
                      </a:pPr>
                      <a:r>
                        <a:rPr lang="en-GB" sz="1100" dirty="0"/>
                        <a:t>{{</a:t>
                      </a:r>
                      <a:r>
                        <a:rPr lang="en-GB" sz="1100" dirty="0" err="1"/>
                        <a:t>tx_er_unit</a:t>
                      </a:r>
                      <a:r>
                        <a:rPr lang="en-GB" sz="1100" dirty="0"/>
                        <a:t>}}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7614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110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0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97279">
                <a:tc>
                  <a:txBody>
                    <a:bodyPr/>
                    <a:lstStyle/>
                    <a:p>
                      <a:pPr marL="67945" algn="l">
                        <a:lnSpc>
                          <a:spcPct val="100000"/>
                        </a:lnSpc>
                        <a:spcBef>
                          <a:spcPts val="305"/>
                        </a:spcBef>
                      </a:pPr>
                      <a:r>
                        <a:rPr lang="en-GB" sz="1100" dirty="0"/>
                        <a:t>{{</a:t>
                      </a:r>
                      <a:r>
                        <a:rPr lang="en-GB" sz="1100" dirty="0" err="1"/>
                        <a:t>tx_off_power</a:t>
                      </a:r>
                      <a:r>
                        <a:rPr lang="en-GB" sz="1100" dirty="0"/>
                        <a:t>}}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8408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R="33655" algn="ctr">
                        <a:lnSpc>
                          <a:spcPct val="100000"/>
                        </a:lnSpc>
                        <a:spcBef>
                          <a:spcPts val="305"/>
                        </a:spcBef>
                      </a:pPr>
                      <a:r>
                        <a:rPr lang="en-GB" sz="1100" dirty="0"/>
                        <a:t>{{</a:t>
                      </a:r>
                      <a:r>
                        <a:rPr lang="en-GB" sz="1100" dirty="0" err="1"/>
                        <a:t>tx_off_power_symbol</a:t>
                      </a:r>
                      <a:r>
                        <a:rPr lang="en-GB" sz="1100" dirty="0"/>
                        <a:t>}}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8408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GB" sz="1100" dirty="0"/>
                    </a:p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100" dirty="0"/>
                        <a:t>{{</a:t>
                      </a:r>
                      <a:r>
                        <a:rPr lang="en-GB" sz="1100" dirty="0" err="1"/>
                        <a:t>tx_off_power_min</a:t>
                      </a:r>
                      <a:r>
                        <a:rPr lang="en-GB" sz="1100" dirty="0"/>
                        <a:t>}}</a:t>
                      </a:r>
                      <a:endParaRPr lang="en-GB"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  <a:p>
                      <a:pPr algn="ctr">
                        <a:lnSpc>
                          <a:spcPct val="100000"/>
                        </a:lnSpc>
                      </a:pP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0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GB" sz="1100" dirty="0"/>
                    </a:p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100" dirty="0"/>
                        <a:t>{{</a:t>
                      </a:r>
                      <a:r>
                        <a:rPr lang="en-GB" sz="1100" dirty="0" err="1"/>
                        <a:t>tx_off_power_typical</a:t>
                      </a:r>
                      <a:r>
                        <a:rPr lang="en-GB" sz="1100" dirty="0"/>
                        <a:t>}}</a:t>
                      </a:r>
                      <a:endParaRPr lang="en-GB"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  <a:p>
                      <a:pPr algn="ctr">
                        <a:lnSpc>
                          <a:spcPct val="100000"/>
                        </a:lnSpc>
                      </a:pP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0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180340" algn="ctr">
                        <a:lnSpc>
                          <a:spcPct val="100000"/>
                        </a:lnSpc>
                        <a:spcBef>
                          <a:spcPts val="305"/>
                        </a:spcBef>
                      </a:pPr>
                      <a:r>
                        <a:rPr lang="en-GB" sz="1100" dirty="0"/>
                        <a:t>{{</a:t>
                      </a:r>
                      <a:r>
                        <a:rPr lang="en-GB" sz="1100" dirty="0" err="1"/>
                        <a:t>tx_off_power</a:t>
                      </a:r>
                      <a:r>
                        <a:rPr lang="en-GB" sz="1100" dirty="0"/>
                        <a:t>  _max}}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8408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635" algn="ctr">
                        <a:lnSpc>
                          <a:spcPct val="100000"/>
                        </a:lnSpc>
                        <a:spcBef>
                          <a:spcPts val="305"/>
                        </a:spcBef>
                      </a:pPr>
                      <a:r>
                        <a:rPr lang="en-GB" sz="1100" dirty="0"/>
                        <a:t>{{</a:t>
                      </a:r>
                      <a:r>
                        <a:rPr lang="en-GB" sz="1100" dirty="0" err="1"/>
                        <a:t>tx_off_power_unit</a:t>
                      </a:r>
                      <a:r>
                        <a:rPr lang="en-GB" sz="1100" dirty="0"/>
                        <a:t>}}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8408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110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0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556601">
                <a:tc>
                  <a:txBody>
                    <a:bodyPr/>
                    <a:lstStyle/>
                    <a:p>
                      <a:pPr marL="67945" algn="l">
                        <a:lnSpc>
                          <a:spcPct val="100000"/>
                        </a:lnSpc>
                        <a:spcBef>
                          <a:spcPts val="229"/>
                        </a:spcBef>
                      </a:pPr>
                      <a:r>
                        <a:rPr lang="en-GB" sz="1100" dirty="0"/>
                        <a:t>{{</a:t>
                      </a:r>
                      <a:r>
                        <a:rPr lang="en-GB" sz="1100" dirty="0" err="1"/>
                        <a:t>tx_oma</a:t>
                      </a:r>
                      <a:r>
                        <a:rPr lang="en-GB" sz="1100" dirty="0"/>
                        <a:t>}}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36503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1010"/>
                        </a:spcBef>
                      </a:pPr>
                      <a:r>
                        <a:rPr lang="en-GB" sz="1100" dirty="0"/>
                        <a:t>{{</a:t>
                      </a:r>
                      <a:r>
                        <a:rPr lang="en-GB" sz="1100" dirty="0" err="1"/>
                        <a:t>tx_oma_min_symbol</a:t>
                      </a:r>
                      <a:r>
                        <a:rPr lang="en-GB" sz="1100" dirty="0"/>
                        <a:t>}}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160301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1010"/>
                        </a:spcBef>
                      </a:pPr>
                      <a:r>
                        <a:rPr lang="en-GB" sz="1100" dirty="0"/>
                        <a:t>{{</a:t>
                      </a:r>
                      <a:r>
                        <a:rPr lang="en-GB" sz="1100" dirty="0" err="1"/>
                        <a:t>tx_oma_min</a:t>
                      </a:r>
                      <a:r>
                        <a:rPr lang="en-GB" sz="1100" dirty="0"/>
                        <a:t>}}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160301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1010"/>
                        </a:spcBef>
                      </a:pPr>
                      <a:r>
                        <a:rPr lang="en-GB" sz="1100" dirty="0"/>
                        <a:t>{{tx_</a:t>
                      </a:r>
                      <a:r>
                        <a:rPr lang="en-GB" sz="1100" dirty="0" err="1"/>
                        <a:t>oma</a:t>
                      </a:r>
                      <a:r>
                        <a:rPr lang="en-GB" sz="1100" dirty="0"/>
                        <a:t>__typical}}</a:t>
                      </a:r>
                      <a:endParaRPr lang="en-GB"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0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1010"/>
                        </a:spcBef>
                      </a:pPr>
                      <a:r>
                        <a:rPr lang="en-GB" sz="1100" dirty="0"/>
                        <a:t>{{</a:t>
                      </a:r>
                      <a:r>
                        <a:rPr lang="en-GB" sz="1100" dirty="0" err="1"/>
                        <a:t>tx_oma_max</a:t>
                      </a:r>
                      <a:r>
                        <a:rPr lang="en-GB" sz="1100" dirty="0"/>
                        <a:t>}}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160301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635" algn="ctr">
                        <a:lnSpc>
                          <a:spcPct val="100000"/>
                        </a:lnSpc>
                        <a:spcBef>
                          <a:spcPts val="1010"/>
                        </a:spcBef>
                      </a:pPr>
                      <a:r>
                        <a:rPr lang="en-GB" sz="1100" dirty="0"/>
                        <a:t>{{</a:t>
                      </a:r>
                      <a:r>
                        <a:rPr lang="en-GB" sz="1100" dirty="0" err="1"/>
                        <a:t>tx_oma_unit</a:t>
                      </a:r>
                      <a:r>
                        <a:rPr lang="en-GB" sz="1100" dirty="0"/>
                        <a:t>}}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160301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0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511060">
                <a:tc>
                  <a:txBody>
                    <a:bodyPr/>
                    <a:lstStyle/>
                    <a:p>
                      <a:pPr marL="67945" algn="l">
                        <a:lnSpc>
                          <a:spcPct val="100000"/>
                        </a:lnSpc>
                        <a:spcBef>
                          <a:spcPts val="229"/>
                        </a:spcBef>
                      </a:pPr>
                      <a:r>
                        <a:rPr lang="en-GB" sz="11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{{</a:t>
                      </a:r>
                      <a:r>
                        <a:rPr lang="en-GB" sz="1100" dirty="0" err="1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tx_tdec</a:t>
                      </a:r>
                      <a:r>
                        <a:rPr lang="en-GB" sz="11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}}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36503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1010"/>
                        </a:spcBef>
                      </a:pPr>
                      <a:r>
                        <a:rPr lang="en-GB" sz="11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{{</a:t>
                      </a:r>
                      <a:r>
                        <a:rPr lang="en-GB" sz="1100" dirty="0" err="1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tx_tdec_symbol</a:t>
                      </a:r>
                      <a:r>
                        <a:rPr lang="en-GB" sz="11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}}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160301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GB" sz="11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{{</a:t>
                      </a:r>
                      <a:r>
                        <a:rPr lang="en-GB" sz="1100" dirty="0" err="1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tx_tdec_min</a:t>
                      </a:r>
                      <a:r>
                        <a:rPr lang="en-GB" sz="11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}}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0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0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635" algn="ctr">
                        <a:lnSpc>
                          <a:spcPct val="100000"/>
                        </a:lnSpc>
                        <a:spcBef>
                          <a:spcPts val="1010"/>
                        </a:spcBef>
                      </a:pPr>
                      <a:r>
                        <a:rPr lang="en-GB" sz="11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{{</a:t>
                      </a:r>
                      <a:r>
                        <a:rPr lang="en-GB" sz="1100" dirty="0" err="1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tx_tdec_max</a:t>
                      </a:r>
                      <a:r>
                        <a:rPr lang="en-GB" sz="11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}}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160301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1010"/>
                        </a:spcBef>
                      </a:pPr>
                      <a:r>
                        <a:rPr lang="en-GB" sz="11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{{</a:t>
                      </a:r>
                      <a:r>
                        <a:rPr lang="en-GB" sz="1100" dirty="0" err="1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tx_tdec_unit</a:t>
                      </a:r>
                      <a:r>
                        <a:rPr lang="en-GB" sz="11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}}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160301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0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  <p:graphicFrame>
        <p:nvGraphicFramePr>
          <p:cNvPr id="9" name="object 6">
            <a:extLst>
              <a:ext uri="{FF2B5EF4-FFF2-40B4-BE49-F238E27FC236}">
                <a16:creationId xmlns:a16="http://schemas.microsoft.com/office/drawing/2014/main" id="{71D8D539-8E4C-C47B-9018-856F247A5A4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88147851"/>
              </p:ext>
            </p:extLst>
          </p:nvPr>
        </p:nvGraphicFramePr>
        <p:xfrm>
          <a:off x="506448" y="6448746"/>
          <a:ext cx="8093005" cy="3095817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217390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1835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34849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724389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724391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49352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423599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619760">
                        <a:lnSpc>
                          <a:spcPct val="100000"/>
                        </a:lnSpc>
                        <a:spcBef>
                          <a:spcPts val="200"/>
                        </a:spcBef>
                      </a:pPr>
                      <a:r>
                        <a:rPr sz="1100" b="1" spc="-10" dirty="0">
                          <a:solidFill>
                            <a:schemeClr val="bg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Parameter</a:t>
                      </a:r>
                      <a:endParaRPr sz="1100" dirty="0">
                        <a:solidFill>
                          <a:schemeClr val="bg1"/>
                        </a:solidFill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31009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rgbClr val="00445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200"/>
                        </a:spcBef>
                      </a:pPr>
                      <a:r>
                        <a:rPr sz="1100" b="1" spc="-10" dirty="0">
                          <a:solidFill>
                            <a:schemeClr val="bg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Symbol</a:t>
                      </a:r>
                      <a:endParaRPr sz="1100" dirty="0">
                        <a:solidFill>
                          <a:schemeClr val="bg1"/>
                        </a:solidFill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3100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rgbClr val="00445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200"/>
                        </a:spcBef>
                      </a:pPr>
                      <a:r>
                        <a:rPr sz="1100" b="1" spc="-25" dirty="0">
                          <a:solidFill>
                            <a:schemeClr val="bg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Min</a:t>
                      </a:r>
                      <a:endParaRPr sz="1100" dirty="0">
                        <a:solidFill>
                          <a:schemeClr val="bg1"/>
                        </a:solidFill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3100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rgbClr val="00445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200"/>
                        </a:spcBef>
                      </a:pPr>
                      <a:r>
                        <a:rPr lang="en-GB" sz="1100" b="1" spc="-10" dirty="0">
                          <a:solidFill>
                            <a:schemeClr val="bg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Typical</a:t>
                      </a:r>
                      <a:endParaRPr lang="en-GB" sz="1100" dirty="0">
                        <a:solidFill>
                          <a:schemeClr val="bg1"/>
                        </a:solidFill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3100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rgbClr val="00445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200"/>
                        </a:spcBef>
                      </a:pPr>
                      <a:r>
                        <a:rPr sz="1100" b="1" spc="-25" dirty="0">
                          <a:solidFill>
                            <a:schemeClr val="bg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Max</a:t>
                      </a:r>
                      <a:endParaRPr sz="1100" dirty="0">
                        <a:solidFill>
                          <a:schemeClr val="bg1"/>
                        </a:solidFill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3100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rgbClr val="004455"/>
                    </a:solidFill>
                  </a:tcPr>
                </a:tc>
                <a:tc>
                  <a:txBody>
                    <a:bodyPr/>
                    <a:lstStyle/>
                    <a:p>
                      <a:pPr marL="230504">
                        <a:lnSpc>
                          <a:spcPct val="100000"/>
                        </a:lnSpc>
                        <a:spcBef>
                          <a:spcPts val="200"/>
                        </a:spcBef>
                      </a:pPr>
                      <a:r>
                        <a:rPr sz="1100" b="1" spc="-20" dirty="0">
                          <a:solidFill>
                            <a:schemeClr val="bg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Unit</a:t>
                      </a:r>
                      <a:endParaRPr sz="1100" dirty="0">
                        <a:solidFill>
                          <a:schemeClr val="bg1"/>
                        </a:solidFill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3100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rgbClr val="00445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200"/>
                        </a:spcBef>
                      </a:pPr>
                      <a:r>
                        <a:rPr sz="1100" b="1" spc="-10" dirty="0">
                          <a:solidFill>
                            <a:schemeClr val="bg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Notes</a:t>
                      </a:r>
                      <a:endParaRPr sz="1100" dirty="0">
                        <a:solidFill>
                          <a:schemeClr val="bg1"/>
                        </a:solidFill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3100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rgbClr val="00445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48298">
                <a:tc>
                  <a:txBody>
                    <a:bodyPr/>
                    <a:lstStyle/>
                    <a:p>
                      <a:pPr marL="67945" algn="l">
                        <a:lnSpc>
                          <a:spcPct val="100000"/>
                        </a:lnSpc>
                        <a:spcBef>
                          <a:spcPts val="305"/>
                        </a:spcBef>
                      </a:pPr>
                      <a:r>
                        <a:rPr lang="en-GB" sz="1100" dirty="0"/>
                        <a:t>{{</a:t>
                      </a:r>
                      <a:r>
                        <a:rPr lang="en-GB" sz="1100" dirty="0" err="1"/>
                        <a:t>rx_wavelength</a:t>
                      </a:r>
                      <a:r>
                        <a:rPr lang="en-GB" sz="1100" dirty="0"/>
                        <a:t>}}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7288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GB" sz="1100" dirty="0"/>
                        <a:t>{{</a:t>
                      </a:r>
                      <a:r>
                        <a:rPr lang="en-GB" sz="1100" dirty="0" err="1"/>
                        <a:t>rx_wavelength_symbol</a:t>
                      </a:r>
                      <a:r>
                        <a:rPr lang="en-GB" sz="1100" dirty="0"/>
                        <a:t>}}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0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05"/>
                        </a:spcBef>
                      </a:pPr>
                      <a:r>
                        <a:rPr lang="en-GB" sz="1100" dirty="0"/>
                        <a:t>{{</a:t>
                      </a:r>
                      <a:r>
                        <a:rPr lang="en-GB" sz="1100" dirty="0" err="1"/>
                        <a:t>rx_wavelength_min</a:t>
                      </a:r>
                      <a:r>
                        <a:rPr lang="en-GB" sz="1100" dirty="0"/>
                        <a:t>}}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7288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05"/>
                        </a:spcBef>
                      </a:pPr>
                      <a:r>
                        <a:rPr lang="en-GB" sz="1100" dirty="0"/>
                        <a:t>{{</a:t>
                      </a:r>
                      <a:r>
                        <a:rPr lang="en-GB" sz="1100" dirty="0" err="1"/>
                        <a:t>rx_wavelength_typical</a:t>
                      </a:r>
                      <a:r>
                        <a:rPr lang="en-GB" sz="1100" dirty="0"/>
                        <a:t>}}</a:t>
                      </a:r>
                      <a:endParaRPr lang="en-GB"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7288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05"/>
                        </a:spcBef>
                      </a:pPr>
                      <a:r>
                        <a:rPr lang="en-GB" sz="1100" dirty="0"/>
                        <a:t>{{</a:t>
                      </a:r>
                      <a:r>
                        <a:rPr lang="en-GB" sz="1100" dirty="0" err="1"/>
                        <a:t>rx_wavelength_max</a:t>
                      </a:r>
                      <a:r>
                        <a:rPr lang="en-GB" sz="1100" dirty="0"/>
                        <a:t>}}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7288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34290" algn="ctr">
                        <a:lnSpc>
                          <a:spcPct val="100000"/>
                        </a:lnSpc>
                        <a:spcBef>
                          <a:spcPts val="305"/>
                        </a:spcBef>
                      </a:pPr>
                      <a:r>
                        <a:rPr lang="en-GB" sz="1100" dirty="0"/>
                        <a:t>{{</a:t>
                      </a:r>
                      <a:r>
                        <a:rPr lang="en-GB" sz="1100" dirty="0" err="1"/>
                        <a:t>rx_wavelength_unit</a:t>
                      </a:r>
                      <a:r>
                        <a:rPr lang="en-GB" sz="1100" dirty="0"/>
                        <a:t>}}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7288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110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0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48298">
                <a:tc>
                  <a:txBody>
                    <a:bodyPr/>
                    <a:lstStyle/>
                    <a:p>
                      <a:pPr marL="67945" algn="l">
                        <a:lnSpc>
                          <a:spcPct val="100000"/>
                        </a:lnSpc>
                        <a:spcBef>
                          <a:spcPts val="305"/>
                        </a:spcBef>
                      </a:pPr>
                      <a:r>
                        <a:rPr lang="en-GB" sz="1100" dirty="0"/>
                        <a:t>{{</a:t>
                      </a:r>
                      <a:r>
                        <a:rPr lang="en-GB" sz="1100" dirty="0" err="1"/>
                        <a:t>rx_power</a:t>
                      </a:r>
                      <a:r>
                        <a:rPr lang="en-GB" sz="1100" dirty="0"/>
                        <a:t>}}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7288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GB" sz="1100" dirty="0"/>
                    </a:p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100" dirty="0"/>
                        <a:t>{{</a:t>
                      </a:r>
                      <a:r>
                        <a:rPr lang="en-GB" sz="1100" dirty="0" err="1"/>
                        <a:t>rx_power_power</a:t>
                      </a:r>
                      <a:r>
                        <a:rPr lang="en-GB" sz="1100" dirty="0"/>
                        <a:t>}}</a:t>
                      </a:r>
                      <a:endParaRPr lang="en-GB"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  <a:p>
                      <a:pPr algn="ctr">
                        <a:lnSpc>
                          <a:spcPct val="100000"/>
                        </a:lnSpc>
                      </a:pP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0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05"/>
                        </a:spcBef>
                      </a:pPr>
                      <a:r>
                        <a:rPr lang="en-GB" sz="1100" dirty="0"/>
                        <a:t>{{</a:t>
                      </a:r>
                      <a:r>
                        <a:rPr lang="en-GB" sz="1100" dirty="0" err="1"/>
                        <a:t>rx_power_min</a:t>
                      </a:r>
                      <a:r>
                        <a:rPr lang="en-GB" sz="1100" dirty="0"/>
                        <a:t>}}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7288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GB" sz="1100" dirty="0"/>
                    </a:p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100" dirty="0"/>
                        <a:t>{{</a:t>
                      </a:r>
                      <a:r>
                        <a:rPr lang="en-GB" sz="1100" dirty="0" err="1"/>
                        <a:t>rx_power_typical</a:t>
                      </a:r>
                      <a:r>
                        <a:rPr lang="en-GB" sz="1100" dirty="0"/>
                        <a:t>}}</a:t>
                      </a:r>
                      <a:endParaRPr lang="en-GB"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  <a:p>
                      <a:pPr algn="ctr">
                        <a:lnSpc>
                          <a:spcPct val="100000"/>
                        </a:lnSpc>
                      </a:pPr>
                      <a:endParaRPr lang="en-GB"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0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05"/>
                        </a:spcBef>
                      </a:pPr>
                      <a:r>
                        <a:rPr lang="en-GB" sz="1100" dirty="0"/>
                        <a:t>{{</a:t>
                      </a:r>
                      <a:r>
                        <a:rPr lang="en-GB" sz="1100" dirty="0" err="1"/>
                        <a:t>rx_power_max</a:t>
                      </a:r>
                      <a:r>
                        <a:rPr lang="en-GB" sz="1100" dirty="0"/>
                        <a:t>}}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7288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182880" algn="ctr">
                        <a:lnSpc>
                          <a:spcPct val="100000"/>
                        </a:lnSpc>
                        <a:spcBef>
                          <a:spcPts val="305"/>
                        </a:spcBef>
                      </a:pPr>
                      <a:r>
                        <a:rPr lang="en-GB" sz="1100" dirty="0"/>
                        <a:t>{{</a:t>
                      </a:r>
                      <a:r>
                        <a:rPr lang="en-GB" sz="1100" dirty="0" err="1"/>
                        <a:t>rx_power_unit</a:t>
                      </a:r>
                      <a:r>
                        <a:rPr lang="en-GB" sz="1100" dirty="0"/>
                        <a:t>}}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7288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110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0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48298">
                <a:tc>
                  <a:txBody>
                    <a:bodyPr/>
                    <a:lstStyle/>
                    <a:p>
                      <a:pPr marL="67945" algn="l">
                        <a:lnSpc>
                          <a:spcPct val="100000"/>
                        </a:lnSpc>
                        <a:spcBef>
                          <a:spcPts val="305"/>
                        </a:spcBef>
                      </a:pPr>
                      <a:r>
                        <a:rPr lang="en-GB" sz="1100" dirty="0"/>
                        <a:t>{{</a:t>
                      </a:r>
                      <a:r>
                        <a:rPr lang="en-GB" sz="1100" dirty="0" err="1"/>
                        <a:t>rx_sensitivity</a:t>
                      </a:r>
                      <a:r>
                        <a:rPr lang="en-GB" sz="1100" dirty="0"/>
                        <a:t>}}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7288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05"/>
                        </a:spcBef>
                      </a:pPr>
                      <a:r>
                        <a:rPr lang="en-GB" sz="1100" dirty="0"/>
                        <a:t>{{</a:t>
                      </a:r>
                      <a:r>
                        <a:rPr lang="en-GB" sz="1100" dirty="0" err="1"/>
                        <a:t>rx_sensitivity_symbol</a:t>
                      </a:r>
                      <a:r>
                        <a:rPr lang="en-GB" sz="1100" dirty="0"/>
                        <a:t>}}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7288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05"/>
                        </a:spcBef>
                      </a:pPr>
                      <a:r>
                        <a:rPr lang="en-GB" sz="1100" dirty="0"/>
                        <a:t>{{</a:t>
                      </a:r>
                      <a:r>
                        <a:rPr lang="en-GB" sz="1100" dirty="0" err="1"/>
                        <a:t>rx_sensitivity_min</a:t>
                      </a:r>
                      <a:r>
                        <a:rPr lang="en-GB" sz="1100" dirty="0"/>
                        <a:t>}}</a:t>
                      </a:r>
                      <a:endParaRPr lang="en-GB"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0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100" dirty="0"/>
                        <a:t>{{</a:t>
                      </a:r>
                      <a:r>
                        <a:rPr lang="en-GB" sz="1100" dirty="0" err="1"/>
                        <a:t>rx_sensitivity_typical</a:t>
                      </a:r>
                      <a:r>
                        <a:rPr lang="en-GB" sz="1100" dirty="0"/>
                        <a:t>}}</a:t>
                      </a:r>
                      <a:endParaRPr lang="en-GB"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  <a:p>
                      <a:pPr algn="ctr">
                        <a:lnSpc>
                          <a:spcPct val="100000"/>
                        </a:lnSpc>
                      </a:pPr>
                      <a:endParaRPr lang="en-GB"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0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05"/>
                        </a:spcBef>
                      </a:pPr>
                      <a:r>
                        <a:rPr lang="en-GB" sz="1100" dirty="0"/>
                        <a:t>{{</a:t>
                      </a:r>
                      <a:r>
                        <a:rPr lang="en-GB" sz="1100" dirty="0" err="1"/>
                        <a:t>rx_sensitivity_max</a:t>
                      </a:r>
                      <a:r>
                        <a:rPr lang="en-GB" sz="1100" dirty="0"/>
                        <a:t>}}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7288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242570" algn="ctr">
                        <a:lnSpc>
                          <a:spcPct val="100000"/>
                        </a:lnSpc>
                        <a:spcBef>
                          <a:spcPts val="305"/>
                        </a:spcBef>
                      </a:pPr>
                      <a:r>
                        <a:rPr lang="en-GB" sz="1100" dirty="0"/>
                        <a:t>{{</a:t>
                      </a:r>
                      <a:r>
                        <a:rPr lang="en-GB" sz="1100" dirty="0" err="1"/>
                        <a:t>rx_sensitivity_unit</a:t>
                      </a:r>
                      <a:r>
                        <a:rPr lang="en-GB" sz="1100" dirty="0"/>
                        <a:t>}}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7288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05"/>
                        </a:spcBef>
                      </a:pPr>
                      <a:r>
                        <a:rPr sz="1100" spc="-5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1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7288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48298">
                <a:tc>
                  <a:txBody>
                    <a:bodyPr/>
                    <a:lstStyle/>
                    <a:p>
                      <a:pPr marL="67945" algn="l">
                        <a:lnSpc>
                          <a:spcPct val="100000"/>
                        </a:lnSpc>
                        <a:spcBef>
                          <a:spcPts val="309"/>
                        </a:spcBef>
                      </a:pPr>
                      <a:r>
                        <a:rPr lang="en-GB" sz="11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{{</a:t>
                      </a:r>
                      <a:r>
                        <a:rPr lang="en-GB" sz="1100" dirty="0" err="1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rx_overload</a:t>
                      </a:r>
                      <a:r>
                        <a:rPr lang="en-GB" sz="11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}}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8062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70"/>
                        </a:spcBef>
                      </a:pPr>
                      <a:r>
                        <a:rPr lang="en-GB" sz="11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{{</a:t>
                      </a:r>
                      <a:r>
                        <a:rPr lang="en-GB" sz="1100" dirty="0" err="1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rx_overload_</a:t>
                      </a:r>
                      <a:r>
                        <a:rPr lang="en-GB" sz="1100" dirty="0" err="1"/>
                        <a:t>symbol</a:t>
                      </a:r>
                      <a:r>
                        <a:rPr lang="en-GB" sz="11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}}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57366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09"/>
                        </a:spcBef>
                      </a:pPr>
                      <a:r>
                        <a:rPr lang="en-GB" sz="11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{{</a:t>
                      </a:r>
                      <a:r>
                        <a:rPr lang="en-GB" sz="1100" dirty="0" err="1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rx_overload_</a:t>
                      </a:r>
                      <a:r>
                        <a:rPr lang="en-GB" sz="1100" dirty="0" err="1"/>
                        <a:t>min</a:t>
                      </a:r>
                      <a:r>
                        <a:rPr lang="en-GB" sz="11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}}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8062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1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{{</a:t>
                      </a:r>
                      <a:r>
                        <a:rPr lang="en-GB" sz="1100" dirty="0" err="1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rx_overload_</a:t>
                      </a:r>
                      <a:r>
                        <a:rPr lang="en-GB" sz="1100" dirty="0" err="1"/>
                        <a:t>min</a:t>
                      </a:r>
                      <a:r>
                        <a:rPr lang="en-GB" sz="11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}}</a:t>
                      </a:r>
                      <a:endParaRPr lang="en-GB"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  <a:p>
                      <a:pPr algn="ctr">
                        <a:lnSpc>
                          <a:spcPct val="100000"/>
                        </a:lnSpc>
                      </a:pPr>
                      <a:endParaRPr lang="en-GB"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0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1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{{</a:t>
                      </a:r>
                      <a:r>
                        <a:rPr lang="en-GB" sz="1100" dirty="0" err="1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rx_overload_</a:t>
                      </a:r>
                      <a:r>
                        <a:rPr lang="en-GB" sz="1100" dirty="0" err="1"/>
                        <a:t>max</a:t>
                      </a:r>
                      <a:r>
                        <a:rPr lang="en-GB" sz="11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}}</a:t>
                      </a:r>
                      <a:endParaRPr lang="en-GB"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  <a:p>
                      <a:pPr algn="ctr">
                        <a:lnSpc>
                          <a:spcPct val="100000"/>
                        </a:lnSpc>
                      </a:pP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0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242570" algn="ctr">
                        <a:lnSpc>
                          <a:spcPct val="100000"/>
                        </a:lnSpc>
                        <a:spcBef>
                          <a:spcPts val="309"/>
                        </a:spcBef>
                      </a:pPr>
                      <a:r>
                        <a:rPr lang="en-GB" sz="11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{{</a:t>
                      </a:r>
                      <a:r>
                        <a:rPr lang="en-GB" sz="1100" dirty="0" err="1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rx_overload_</a:t>
                      </a:r>
                      <a:r>
                        <a:rPr lang="en-GB" sz="1100" dirty="0" err="1"/>
                        <a:t>unit</a:t>
                      </a:r>
                      <a:r>
                        <a:rPr lang="en-GB" sz="11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}}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8062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110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0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48298">
                <a:tc>
                  <a:txBody>
                    <a:bodyPr/>
                    <a:lstStyle/>
                    <a:p>
                      <a:pPr marL="67945" algn="l">
                        <a:lnSpc>
                          <a:spcPct val="100000"/>
                        </a:lnSpc>
                        <a:spcBef>
                          <a:spcPts val="300"/>
                        </a:spcBef>
                      </a:pPr>
                      <a:r>
                        <a:rPr lang="en-GB" sz="1100" dirty="0"/>
                        <a:t>{{</a:t>
                      </a:r>
                      <a:r>
                        <a:rPr lang="en-GB" sz="1100" dirty="0" err="1"/>
                        <a:t>rx_reflectance</a:t>
                      </a:r>
                      <a:r>
                        <a:rPr lang="en-GB" sz="1100" dirty="0"/>
                        <a:t>}}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6513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00"/>
                        </a:spcBef>
                      </a:pPr>
                      <a:r>
                        <a:rPr lang="en-GB" sz="1100" dirty="0"/>
                        <a:t>{{</a:t>
                      </a:r>
                      <a:r>
                        <a:rPr lang="en-GB" sz="1100" dirty="0" err="1"/>
                        <a:t>rx_reflectance_symbol</a:t>
                      </a:r>
                      <a:r>
                        <a:rPr lang="en-GB" sz="1100" dirty="0"/>
                        <a:t>}}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6513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100" dirty="0"/>
                        <a:t>{{</a:t>
                      </a:r>
                      <a:r>
                        <a:rPr lang="en-GB" sz="1100" dirty="0" err="1"/>
                        <a:t>rx_reflectance_min</a:t>
                      </a:r>
                      <a:r>
                        <a:rPr lang="en-GB" sz="1100" dirty="0"/>
                        <a:t>}}</a:t>
                      </a:r>
                      <a:endParaRPr lang="en-GB"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  <a:p>
                      <a:pPr algn="ctr">
                        <a:lnSpc>
                          <a:spcPct val="100000"/>
                        </a:lnSpc>
                      </a:pP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0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100" dirty="0"/>
                        <a:t>{{</a:t>
                      </a:r>
                      <a:r>
                        <a:rPr lang="en-GB" sz="1100" dirty="0" err="1"/>
                        <a:t>rx_reflectance_typical</a:t>
                      </a:r>
                      <a:r>
                        <a:rPr lang="en-GB" sz="1100" dirty="0"/>
                        <a:t>}}</a:t>
                      </a:r>
                      <a:endParaRPr lang="en-GB"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  <a:p>
                      <a:pPr algn="ctr">
                        <a:lnSpc>
                          <a:spcPct val="100000"/>
                        </a:lnSpc>
                      </a:pPr>
                      <a:endParaRPr lang="en-GB"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0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635" algn="ctr">
                        <a:lnSpc>
                          <a:spcPct val="100000"/>
                        </a:lnSpc>
                        <a:spcBef>
                          <a:spcPts val="300"/>
                        </a:spcBef>
                      </a:pPr>
                      <a:r>
                        <a:rPr lang="en-GB" sz="1100" dirty="0"/>
                        <a:t>{{</a:t>
                      </a:r>
                      <a:r>
                        <a:rPr lang="en-GB" sz="1100" dirty="0" err="1"/>
                        <a:t>rx_re_flectance_max</a:t>
                      </a:r>
                      <a:r>
                        <a:rPr lang="en-GB" sz="1100" dirty="0"/>
                        <a:t>}}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6513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00"/>
                        </a:spcBef>
                      </a:pPr>
                      <a:r>
                        <a:rPr lang="en-GB" sz="1100" dirty="0"/>
                        <a:t>{{</a:t>
                      </a:r>
                      <a:r>
                        <a:rPr lang="en-GB" sz="1100" dirty="0" err="1"/>
                        <a:t>rx_reflectance_unit</a:t>
                      </a:r>
                      <a:r>
                        <a:rPr lang="en-GB" sz="11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}}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6513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0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10" name="object 5">
            <a:extLst>
              <a:ext uri="{FF2B5EF4-FFF2-40B4-BE49-F238E27FC236}">
                <a16:creationId xmlns:a16="http://schemas.microsoft.com/office/drawing/2014/main" id="{C9457412-8DE7-8668-65AB-E824347C9F58}"/>
              </a:ext>
            </a:extLst>
          </p:cNvPr>
          <p:cNvSpPr txBox="1"/>
          <p:nvPr/>
        </p:nvSpPr>
        <p:spPr>
          <a:xfrm>
            <a:off x="506448" y="5963335"/>
            <a:ext cx="3712984" cy="323165"/>
          </a:xfrm>
          <a:prstGeom prst="rect">
            <a:avLst/>
          </a:prstGeom>
        </p:spPr>
        <p:txBody>
          <a:bodyPr vert="horz" wrap="square" lIns="0" tIns="106680" rIns="0" bIns="0" rtlCol="0">
            <a:spAutoFit/>
          </a:bodyPr>
          <a:lstStyle/>
          <a:p>
            <a:pPr marL="12701"/>
            <a:r>
              <a:rPr sz="1400" b="1" dirty="0">
                <a:solidFill>
                  <a:srgbClr val="004455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Optical</a:t>
            </a:r>
            <a:r>
              <a:rPr sz="1400" b="1" spc="-65" dirty="0">
                <a:solidFill>
                  <a:srgbClr val="004455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b="1" spc="-10" dirty="0">
                <a:solidFill>
                  <a:srgbClr val="004455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Characteristics</a:t>
            </a:r>
            <a:r>
              <a:rPr lang="en-GB" sz="1400" b="1" spc="-10" dirty="0">
                <a:solidFill>
                  <a:srgbClr val="004455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- Receiver</a:t>
            </a:r>
            <a:endParaRPr sz="1400" dirty="0">
              <a:solidFill>
                <a:srgbClr val="004455"/>
              </a:solidFill>
              <a:latin typeface="Roboto" panose="02000000000000000000" pitchFamily="2" charset="0"/>
              <a:ea typeface="Roboto" panose="02000000000000000000" pitchFamily="2" charset="0"/>
              <a:cs typeface="Arial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6DA22369-6E79-960D-BE16-C21E0A438E3A}"/>
              </a:ext>
            </a:extLst>
          </p:cNvPr>
          <p:cNvSpPr txBox="1"/>
          <p:nvPr/>
        </p:nvSpPr>
        <p:spPr>
          <a:xfrm>
            <a:off x="9342618" y="9273332"/>
            <a:ext cx="7992882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2700">
              <a:lnSpc>
                <a:spcPct val="100000"/>
              </a:lnSpc>
              <a:spcBef>
                <a:spcPts val="480"/>
              </a:spcBef>
              <a:tabLst>
                <a:tab pos="240665" algn="l"/>
              </a:tabLst>
            </a:pPr>
            <a:r>
              <a:rPr lang="en-GB" sz="1100" spc="-25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1.</a:t>
            </a:r>
            <a:r>
              <a:rPr lang="en-GB" sz="11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	Suggested</a:t>
            </a:r>
            <a:r>
              <a:rPr lang="en-GB" sz="1100" spc="-25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 </a:t>
            </a:r>
            <a:r>
              <a:rPr lang="en-GB" sz="11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&lt;</a:t>
            </a:r>
            <a:r>
              <a:rPr lang="en-GB" sz="1100" spc="-25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 </a:t>
            </a:r>
            <a:r>
              <a:rPr lang="en-GB" sz="11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700mVpp</a:t>
            </a:r>
            <a:r>
              <a:rPr lang="en-GB" sz="1100" spc="-1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 </a:t>
            </a:r>
            <a:r>
              <a:rPr lang="en-GB" sz="11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input</a:t>
            </a:r>
            <a:r>
              <a:rPr lang="en-GB" sz="1100" spc="-2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 </a:t>
            </a:r>
            <a:r>
              <a:rPr lang="en-GB" sz="11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differential</a:t>
            </a:r>
            <a:r>
              <a:rPr lang="en-GB" sz="1100" spc="-25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 </a:t>
            </a:r>
            <a:r>
              <a:rPr lang="en-GB" sz="11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signal</a:t>
            </a:r>
            <a:r>
              <a:rPr lang="en-GB" sz="1100" spc="-25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 </a:t>
            </a:r>
            <a:r>
              <a:rPr lang="en-GB" sz="11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for</a:t>
            </a:r>
            <a:r>
              <a:rPr lang="en-GB" sz="1100" spc="-2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 </a:t>
            </a:r>
            <a:r>
              <a:rPr lang="en-GB" sz="11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better</a:t>
            </a:r>
            <a:r>
              <a:rPr lang="en-GB" sz="1100" spc="-25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 </a:t>
            </a:r>
            <a:r>
              <a:rPr lang="en-GB" sz="11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BER</a:t>
            </a:r>
            <a:r>
              <a:rPr lang="en-GB" sz="1100" spc="-1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 performance</a:t>
            </a:r>
            <a:endParaRPr lang="en-GB" sz="1100" dirty="0">
              <a:latin typeface="Roboto" panose="02000000000000000000" pitchFamily="2" charset="0"/>
              <a:ea typeface="Roboto" panose="02000000000000000000" pitchFamily="2" charset="0"/>
              <a:cs typeface="Roboto" panose="02000000000000000000" pitchFamily="2" charset="0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24824068-31E3-D46F-492A-0B66D5514B05}"/>
              </a:ext>
            </a:extLst>
          </p:cNvPr>
          <p:cNvSpPr txBox="1"/>
          <p:nvPr/>
        </p:nvSpPr>
        <p:spPr>
          <a:xfrm>
            <a:off x="3683000" y="514552"/>
            <a:ext cx="723900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745"/>
              </a:spcBef>
            </a:pPr>
            <a:r>
              <a:rPr lang="en-GB" sz="2800" b="1" i="0" dirty="0">
                <a:solidFill>
                  <a:srgbClr val="004455"/>
                </a:solidFill>
                <a:latin typeface="Roboto Condensed Black" panose="02000000000000000000" pitchFamily="2" charset="0"/>
                <a:ea typeface="Roboto Condensed Black" panose="02000000000000000000" pitchFamily="2" charset="0"/>
                <a:cs typeface="Roboto Condensed Black" panose="02000000000000000000" pitchFamily="2" charset="0"/>
              </a:rPr>
              <a:t>400Gb/s QSFP-DD </a:t>
            </a:r>
            <a:r>
              <a:rPr lang="en-GB" sz="2800" b="1" dirty="0">
                <a:solidFill>
                  <a:srgbClr val="004455"/>
                </a:solidFill>
                <a:latin typeface="Roboto Condensed Black" panose="02000000000000000000" pitchFamily="2" charset="0"/>
                <a:ea typeface="Roboto Condensed Black" panose="02000000000000000000" pitchFamily="2" charset="0"/>
                <a:cs typeface="Roboto Condensed Black" panose="02000000000000000000" pitchFamily="2" charset="0"/>
              </a:rPr>
              <a:t>S</a:t>
            </a:r>
            <a:r>
              <a:rPr lang="en-GB" sz="2800" b="1" i="0" dirty="0">
                <a:solidFill>
                  <a:srgbClr val="004455"/>
                </a:solidFill>
                <a:latin typeface="Roboto Condensed Black" panose="02000000000000000000" pitchFamily="2" charset="0"/>
                <a:ea typeface="Roboto Condensed Black" panose="02000000000000000000" pitchFamily="2" charset="0"/>
                <a:cs typeface="Roboto Condensed Black" panose="02000000000000000000" pitchFamily="2" charset="0"/>
              </a:rPr>
              <a:t>R8 Transceiver</a:t>
            </a:r>
          </a:p>
        </p:txBody>
      </p:sp>
    </p:spTree>
    <p:extLst>
      <p:ext uri="{BB962C8B-B14F-4D97-AF65-F5344CB8AC3E}">
        <p14:creationId xmlns:p14="http://schemas.microsoft.com/office/powerpoint/2010/main" val="331641570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4">
            <a:extLst>
              <a:ext uri="{FF2B5EF4-FFF2-40B4-BE49-F238E27FC236}">
                <a16:creationId xmlns:a16="http://schemas.microsoft.com/office/drawing/2014/main" id="{17C3462B-9325-5B32-B22F-89A53BB0626A}"/>
              </a:ext>
            </a:extLst>
          </p:cNvPr>
          <p:cNvSpPr txBox="1"/>
          <p:nvPr/>
        </p:nvSpPr>
        <p:spPr>
          <a:xfrm>
            <a:off x="483205" y="1519951"/>
            <a:ext cx="3199795" cy="228909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1"/>
            <a:r>
              <a:rPr lang="en-GB" sz="1400" dirty="0">
                <a:latin typeface="Courier New" panose="02070309020205020404" pitchFamily="49" charset="0"/>
              </a:rPr>
              <a:t>{{</a:t>
            </a:r>
            <a:r>
              <a:rPr lang="en-GB" sz="1400" dirty="0" err="1">
                <a:latin typeface="Courier New" panose="02070309020205020404" pitchFamily="49" charset="0"/>
              </a:rPr>
              <a:t>technical_drawing</a:t>
            </a:r>
            <a:r>
              <a:rPr lang="en-GB" sz="1400" dirty="0">
                <a:latin typeface="Courier New" panose="02070309020205020404" pitchFamily="49" charset="0"/>
              </a:rPr>
              <a:t>}}</a:t>
            </a:r>
            <a:r>
              <a:rPr lang="en-GB" sz="1400" dirty="0"/>
              <a:t> </a:t>
            </a:r>
            <a:endParaRPr sz="1400" dirty="0">
              <a:solidFill>
                <a:srgbClr val="004455"/>
              </a:solidFill>
              <a:latin typeface="Roboto" panose="02000000000000000000" pitchFamily="2" charset="0"/>
              <a:ea typeface="Roboto" panose="02000000000000000000" pitchFamily="2" charset="0"/>
              <a:cs typeface="Arial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7EFDCAB4-97F7-4400-A9B2-0DF8FAD30A55}"/>
              </a:ext>
            </a:extLst>
          </p:cNvPr>
          <p:cNvSpPr txBox="1"/>
          <p:nvPr/>
        </p:nvSpPr>
        <p:spPr>
          <a:xfrm>
            <a:off x="4107070" y="368778"/>
            <a:ext cx="723900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745"/>
              </a:spcBef>
            </a:pPr>
            <a:r>
              <a:rPr lang="en-GB" sz="2800" dirty="0"/>
              <a:t>{{</a:t>
            </a:r>
            <a:r>
              <a:rPr lang="en-GB" sz="2800" dirty="0" err="1"/>
              <a:t>product_title</a:t>
            </a:r>
            <a:r>
              <a:rPr lang="en-GB" sz="2800" dirty="0"/>
              <a:t>}}</a:t>
            </a:r>
            <a:endParaRPr lang="en-GB" sz="2800" b="1" i="0" dirty="0">
              <a:solidFill>
                <a:srgbClr val="004455"/>
              </a:solidFill>
              <a:latin typeface="Roboto Condensed Black" panose="02000000000000000000" pitchFamily="2" charset="0"/>
              <a:ea typeface="Roboto Condensed Black" panose="02000000000000000000" pitchFamily="2" charset="0"/>
              <a:cs typeface="Roboto Condensed Black" panose="02000000000000000000" pitchFamily="2" charset="0"/>
            </a:endParaRPr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8D6A9301-C21E-46E4-DF91-F5877F25AAA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64308519"/>
              </p:ext>
            </p:extLst>
          </p:nvPr>
        </p:nvGraphicFramePr>
        <p:xfrm>
          <a:off x="2182882" y="4506664"/>
          <a:ext cx="15424150" cy="365760"/>
        </p:xfrm>
        <a:graphic>
          <a:graphicData uri="http://schemas.openxmlformats.org/drawingml/2006/table">
            <a:tbl>
              <a:tblPr/>
              <a:tblGrid>
                <a:gridCol w="15424150">
                  <a:extLst>
                    <a:ext uri="{9D8B030D-6E8A-4147-A177-3AD203B41FA5}">
                      <a16:colId xmlns:a16="http://schemas.microsoft.com/office/drawing/2014/main" val="3542911002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dirty="0">
                          <a:latin typeface="Courier New" panose="02070309020205020404" pitchFamily="49" charset="0"/>
                        </a:rPr>
                        <a:t>{{</a:t>
                      </a:r>
                      <a:r>
                        <a:rPr lang="en-GB" dirty="0" err="1">
                          <a:latin typeface="Courier New" panose="02070309020205020404" pitchFamily="49" charset="0"/>
                        </a:rPr>
                        <a:t>technical_drawing</a:t>
                      </a:r>
                      <a:r>
                        <a:rPr lang="en-GB" dirty="0">
                          <a:latin typeface="Courier New" panose="02070309020205020404" pitchFamily="49" charset="0"/>
                        </a:rPr>
                        <a:t>}}</a:t>
                      </a:r>
                      <a:r>
                        <a:rPr lang="en-GB" dirty="0"/>
                        <a:t> (image placeholder)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621911563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object 5"/>
          <p:cNvSpPr txBox="1"/>
          <p:nvPr/>
        </p:nvSpPr>
        <p:spPr>
          <a:xfrm>
            <a:off x="481874" y="1525290"/>
            <a:ext cx="1912983" cy="228268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1"/>
            <a:r>
              <a:rPr sz="1400" b="1" dirty="0">
                <a:solidFill>
                  <a:srgbClr val="004455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Regulatory</a:t>
            </a:r>
            <a:r>
              <a:rPr sz="1400" b="1" spc="-65" dirty="0">
                <a:solidFill>
                  <a:srgbClr val="004455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b="1" spc="-10" dirty="0">
                <a:solidFill>
                  <a:srgbClr val="004455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Compliance</a:t>
            </a:r>
            <a:endParaRPr lang="en-GB" sz="1400" b="1" spc="-10" dirty="0">
              <a:solidFill>
                <a:srgbClr val="004455"/>
              </a:solidFill>
              <a:latin typeface="Roboto" panose="02000000000000000000" pitchFamily="2" charset="0"/>
              <a:ea typeface="Roboto" panose="02000000000000000000" pitchFamily="2" charset="0"/>
              <a:cs typeface="Arial"/>
            </a:endParaRPr>
          </a:p>
        </p:txBody>
      </p:sp>
      <p:graphicFrame>
        <p:nvGraphicFramePr>
          <p:cNvPr id="6" name="object 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34095"/>
              </p:ext>
            </p:extLst>
          </p:nvPr>
        </p:nvGraphicFramePr>
        <p:xfrm>
          <a:off x="481874" y="1942386"/>
          <a:ext cx="8103327" cy="5210031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278130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32202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9533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425"/>
                        </a:spcBef>
                      </a:pPr>
                      <a:r>
                        <a:rPr sz="1200" b="1" spc="-10" dirty="0">
                          <a:solidFill>
                            <a:schemeClr val="bg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Arial"/>
                        </a:rPr>
                        <a:t>Feature</a:t>
                      </a:r>
                      <a:endParaRPr sz="1200" dirty="0">
                        <a:solidFill>
                          <a:schemeClr val="bg1"/>
                        </a:solidFill>
                        <a:latin typeface="Roboto" panose="02000000000000000000" pitchFamily="2" charset="0"/>
                        <a:ea typeface="Roboto" panose="02000000000000000000" pitchFamily="2" charset="0"/>
                        <a:cs typeface="Arial"/>
                      </a:endParaRPr>
                    </a:p>
                  </a:txBody>
                  <a:tcPr marL="0" marR="0" marT="79741" marB="0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4455"/>
                    </a:solidFill>
                  </a:tcPr>
                </a:tc>
                <a:tc>
                  <a:txBody>
                    <a:bodyPr/>
                    <a:lstStyle/>
                    <a:p>
                      <a:pPr marL="635" algn="ctr">
                        <a:lnSpc>
                          <a:spcPct val="100000"/>
                        </a:lnSpc>
                        <a:spcBef>
                          <a:spcPts val="425"/>
                        </a:spcBef>
                      </a:pPr>
                      <a:r>
                        <a:rPr sz="1200" b="1" spc="-10" dirty="0">
                          <a:solidFill>
                            <a:schemeClr val="bg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Arial"/>
                        </a:rPr>
                        <a:t>Standard</a:t>
                      </a:r>
                      <a:endParaRPr sz="1200" dirty="0">
                        <a:solidFill>
                          <a:schemeClr val="bg1"/>
                        </a:solidFill>
                        <a:latin typeface="Roboto" panose="02000000000000000000" pitchFamily="2" charset="0"/>
                        <a:ea typeface="Roboto" panose="02000000000000000000" pitchFamily="2" charset="0"/>
                        <a:cs typeface="Arial"/>
                      </a:endParaRPr>
                    </a:p>
                  </a:txBody>
                  <a:tcPr marL="0" marR="0" marT="79741" marB="0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445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800430">
                <a:tc>
                  <a:txBody>
                    <a:bodyPr/>
                    <a:lstStyle/>
                    <a:p>
                      <a:pPr marL="87313" indent="0" algn="l">
                        <a:lnSpc>
                          <a:spcPct val="100000"/>
                        </a:lnSpc>
                      </a:pPr>
                      <a:r>
                        <a:rPr lang="en-GB" sz="1100" dirty="0"/>
                        <a:t>{{</a:t>
                      </a:r>
                      <a:r>
                        <a:rPr lang="en-GB" sz="1100" dirty="0" err="1"/>
                        <a:t>compliance_esd_pins_feature</a:t>
                      </a:r>
                      <a:r>
                        <a:rPr lang="en-GB" sz="1100" dirty="0"/>
                        <a:t>}}</a:t>
                      </a:r>
                      <a:endParaRPr sz="1100" dirty="0">
                        <a:solidFill>
                          <a:srgbClr val="004455"/>
                        </a:solidFill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188564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67945" algn="l">
                        <a:lnSpc>
                          <a:spcPts val="1240"/>
                        </a:lnSpc>
                      </a:pPr>
                      <a:r>
                        <a:rPr lang="en-GB" sz="1100" dirty="0"/>
                        <a:t>{{</a:t>
                      </a:r>
                      <a:r>
                        <a:rPr lang="en-GB" sz="1100" dirty="0" err="1"/>
                        <a:t>compliance_esd_pins_standard</a:t>
                      </a:r>
                      <a:r>
                        <a:rPr lang="en-GB" sz="1100" dirty="0"/>
                        <a:t>}}</a:t>
                      </a:r>
                      <a:endParaRPr sz="1100" dirty="0">
                        <a:solidFill>
                          <a:srgbClr val="004455"/>
                        </a:solidFill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87246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33935353"/>
                  </a:ext>
                </a:extLst>
              </a:tr>
              <a:tr h="738416">
                <a:tc>
                  <a:txBody>
                    <a:bodyPr/>
                    <a:lstStyle/>
                    <a:p>
                      <a:pPr marL="87313" indent="0" algn="l">
                        <a:lnSpc>
                          <a:spcPct val="100000"/>
                        </a:lnSpc>
                      </a:pPr>
                      <a:r>
                        <a:rPr lang="en-GB" sz="1100" dirty="0"/>
                        <a:t>{{</a:t>
                      </a:r>
                      <a:r>
                        <a:rPr lang="en-GB" sz="1100" dirty="0" err="1"/>
                        <a:t>compliance_esd_immunity_feature</a:t>
                      </a:r>
                      <a:r>
                        <a:rPr lang="en-GB" sz="1100" dirty="0"/>
                        <a:t>}}</a:t>
                      </a:r>
                      <a:endParaRPr sz="1100" dirty="0">
                        <a:solidFill>
                          <a:srgbClr val="004455"/>
                        </a:solidFill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188564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67945" algn="l">
                        <a:lnSpc>
                          <a:spcPts val="1240"/>
                        </a:lnSpc>
                      </a:pPr>
                      <a:r>
                        <a:rPr lang="en-GB" sz="1100" dirty="0"/>
                        <a:t>{{</a:t>
                      </a:r>
                      <a:r>
                        <a:rPr lang="en-GB" sz="1100" dirty="0" err="1"/>
                        <a:t>compliance_esd_immunity_standard</a:t>
                      </a:r>
                      <a:r>
                        <a:rPr lang="en-GB" sz="1100" dirty="0"/>
                        <a:t>}}</a:t>
                      </a:r>
                      <a:endParaRPr sz="1100" dirty="0">
                        <a:solidFill>
                          <a:srgbClr val="004455"/>
                        </a:solidFill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87246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67051274"/>
                  </a:ext>
                </a:extLst>
              </a:tr>
              <a:tr h="848394">
                <a:tc>
                  <a:txBody>
                    <a:bodyPr/>
                    <a:lstStyle/>
                    <a:p>
                      <a:pPr marL="87313" indent="0" algn="l">
                        <a:lnSpc>
                          <a:spcPct val="100000"/>
                        </a:lnSpc>
                      </a:pPr>
                      <a:r>
                        <a:rPr lang="en-GB" sz="1100" dirty="0"/>
                        <a:t>{{</a:t>
                      </a:r>
                      <a:r>
                        <a:rPr lang="en-GB" sz="1100" dirty="0" err="1"/>
                        <a:t>compliance_emi_feature</a:t>
                      </a:r>
                      <a:r>
                        <a:rPr lang="en-GB" sz="1100" dirty="0"/>
                        <a:t>}}</a:t>
                      </a:r>
                      <a:endParaRPr sz="1100" dirty="0">
                        <a:solidFill>
                          <a:srgbClr val="004455"/>
                        </a:solidFill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188564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67945" algn="l">
                        <a:lnSpc>
                          <a:spcPts val="1240"/>
                        </a:lnSpc>
                      </a:pPr>
                      <a:r>
                        <a:rPr lang="en-GB" sz="1100" dirty="0"/>
                        <a:t>{{</a:t>
                      </a:r>
                      <a:r>
                        <a:rPr lang="en-GB" sz="1100" dirty="0" err="1"/>
                        <a:t>compliance_emi_standard</a:t>
                      </a:r>
                      <a:r>
                        <a:rPr lang="en-GB" sz="1100" dirty="0"/>
                        <a:t>}}</a:t>
                      </a:r>
                      <a:endParaRPr sz="1100" dirty="0">
                        <a:solidFill>
                          <a:srgbClr val="004455"/>
                        </a:solidFill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87246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85169300"/>
                  </a:ext>
                </a:extLst>
              </a:tr>
              <a:tr h="647406">
                <a:tc>
                  <a:txBody>
                    <a:bodyPr/>
                    <a:lstStyle/>
                    <a:p>
                      <a:pPr marL="87313" indent="0" algn="l">
                        <a:lnSpc>
                          <a:spcPct val="100000"/>
                        </a:lnSpc>
                      </a:pPr>
                      <a:r>
                        <a:rPr lang="en-GB" sz="1100" dirty="0"/>
                        <a:t>{{</a:t>
                      </a:r>
                      <a:r>
                        <a:rPr lang="en-GB" sz="1100" dirty="0" err="1"/>
                        <a:t>compliance_immunity_feature</a:t>
                      </a:r>
                      <a:r>
                        <a:rPr lang="en-GB" sz="1100" dirty="0"/>
                        <a:t>}}</a:t>
                      </a:r>
                      <a:endParaRPr sz="1100" dirty="0">
                        <a:solidFill>
                          <a:srgbClr val="004455"/>
                        </a:solidFill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188564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67945" algn="l">
                        <a:lnSpc>
                          <a:spcPts val="1240"/>
                        </a:lnSpc>
                      </a:pPr>
                      <a:r>
                        <a:rPr lang="en-GB" sz="11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{{</a:t>
                      </a:r>
                      <a:r>
                        <a:rPr lang="en-GB" sz="1100" dirty="0" err="1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compliance_immunity_standard</a:t>
                      </a:r>
                      <a:r>
                        <a:rPr lang="en-GB" sz="11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}}</a:t>
                      </a:r>
                      <a:endParaRPr sz="1100" dirty="0">
                        <a:solidFill>
                          <a:srgbClr val="004455"/>
                        </a:solidFill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87246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32183289"/>
                  </a:ext>
                </a:extLst>
              </a:tr>
              <a:tr h="1259555">
                <a:tc>
                  <a:txBody>
                    <a:bodyPr/>
                    <a:lstStyle/>
                    <a:p>
                      <a:pPr marL="87313" indent="0" algn="l">
                        <a:lnSpc>
                          <a:spcPct val="100000"/>
                        </a:lnSpc>
                      </a:pPr>
                      <a:r>
                        <a:rPr lang="en-GB" sz="11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{{</a:t>
                      </a:r>
                      <a:r>
                        <a:rPr lang="en-GB" sz="1100" dirty="0" err="1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compliance_laser_feature</a:t>
                      </a:r>
                      <a:r>
                        <a:rPr lang="en-GB" sz="11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}}</a:t>
                      </a:r>
                      <a:endParaRPr sz="1100" dirty="0">
                        <a:solidFill>
                          <a:srgbClr val="004455"/>
                        </a:solidFill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188564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67945" algn="l">
                        <a:lnSpc>
                          <a:spcPts val="1240"/>
                        </a:lnSpc>
                      </a:pPr>
                      <a:r>
                        <a:rPr lang="en-GB" sz="1100" dirty="0"/>
                        <a:t>{{</a:t>
                      </a:r>
                      <a:r>
                        <a:rPr lang="en-GB" sz="1100" dirty="0" err="1"/>
                        <a:t>compliance_laser_standard</a:t>
                      </a:r>
                      <a:r>
                        <a:rPr lang="en-GB" sz="1100" dirty="0"/>
                        <a:t>}}</a:t>
                      </a:r>
                      <a:endParaRPr lang="en-US" sz="1100" dirty="0">
                        <a:solidFill>
                          <a:srgbClr val="004455"/>
                        </a:solidFill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87246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12356028"/>
                  </a:ext>
                </a:extLst>
              </a:tr>
              <a:tr h="520500">
                <a:tc>
                  <a:txBody>
                    <a:bodyPr/>
                    <a:lstStyle/>
                    <a:p>
                      <a:pPr marL="87313" indent="0" algn="l">
                        <a:lnSpc>
                          <a:spcPct val="100000"/>
                        </a:lnSpc>
                      </a:pPr>
                      <a:r>
                        <a:rPr lang="en-GB" sz="1100" dirty="0"/>
                        <a:t>{{</a:t>
                      </a:r>
                      <a:r>
                        <a:rPr lang="en-GB" sz="1100" dirty="0" err="1"/>
                        <a:t>compliance_environmental_feature</a:t>
                      </a:r>
                      <a:r>
                        <a:rPr lang="en-GB" sz="1100" dirty="0"/>
                        <a:t>}}</a:t>
                      </a:r>
                      <a:endParaRPr sz="1100" dirty="0">
                        <a:solidFill>
                          <a:srgbClr val="004455"/>
                        </a:solidFill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188564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67945" algn="l">
                        <a:lnSpc>
                          <a:spcPts val="1240"/>
                        </a:lnSpc>
                      </a:pPr>
                      <a:r>
                        <a:rPr lang="en-GB" sz="11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{{</a:t>
                      </a:r>
                      <a:r>
                        <a:rPr lang="en-GB" sz="1100" dirty="0" err="1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compliance_environmental_standard</a:t>
                      </a:r>
                      <a:r>
                        <a:rPr lang="en-GB" sz="11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}}</a:t>
                      </a:r>
                      <a:endParaRPr sz="1100" dirty="0">
                        <a:solidFill>
                          <a:srgbClr val="004455"/>
                        </a:solidFill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87246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55079934"/>
                  </a:ext>
                </a:extLst>
              </a:tr>
            </a:tbl>
          </a:graphicData>
        </a:graphic>
      </p:graphicFrame>
      <p:sp>
        <p:nvSpPr>
          <p:cNvPr id="16" name="object 9"/>
          <p:cNvSpPr txBox="1"/>
          <p:nvPr/>
        </p:nvSpPr>
        <p:spPr>
          <a:xfrm>
            <a:off x="9435613" y="2464243"/>
            <a:ext cx="7406640" cy="3297056"/>
          </a:xfrm>
          <a:prstGeom prst="rect">
            <a:avLst/>
          </a:prstGeom>
        </p:spPr>
        <p:txBody>
          <a:bodyPr vert="horz" wrap="square" lIns="0" tIns="100330" rIns="0" bIns="0" rtlCol="0">
            <a:spAutoFit/>
          </a:bodyPr>
          <a:lstStyle/>
          <a:p>
            <a:pPr marL="12701" algn="just">
              <a:spcBef>
                <a:spcPts val="790"/>
              </a:spcBef>
            </a:pPr>
            <a:r>
              <a:rPr lang="en-GB" sz="1400" b="1" dirty="0">
                <a:solidFill>
                  <a:srgbClr val="004455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Im</a:t>
            </a:r>
            <a:r>
              <a:rPr sz="1400" b="1" dirty="0" err="1">
                <a:solidFill>
                  <a:srgbClr val="004455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portant</a:t>
            </a:r>
            <a:r>
              <a:rPr lang="en-GB" sz="1400" b="1" spc="-75" dirty="0">
                <a:solidFill>
                  <a:srgbClr val="004455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b="1" spc="-10" dirty="0">
                <a:solidFill>
                  <a:srgbClr val="004455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Notice</a:t>
            </a:r>
            <a:endParaRPr lang="en-GB" sz="1400" b="1" spc="-10" dirty="0">
              <a:solidFill>
                <a:srgbClr val="004455"/>
              </a:solidFill>
              <a:latin typeface="Roboto" panose="02000000000000000000" pitchFamily="2" charset="0"/>
              <a:ea typeface="Roboto" panose="02000000000000000000" pitchFamily="2" charset="0"/>
              <a:cs typeface="Arial"/>
            </a:endParaRPr>
          </a:p>
          <a:p>
            <a:pPr marL="12701" marR="5081" algn="l">
              <a:spcBef>
                <a:spcPts val="65"/>
              </a:spcBef>
            </a:pPr>
            <a:endParaRPr lang="en-GB" sz="1400" dirty="0">
              <a:solidFill>
                <a:srgbClr val="221F1F"/>
              </a:solidFill>
              <a:latin typeface="Roboto" panose="02000000000000000000" pitchFamily="2" charset="0"/>
              <a:ea typeface="Roboto" panose="02000000000000000000" pitchFamily="2" charset="0"/>
              <a:cs typeface="Arial"/>
            </a:endParaRPr>
          </a:p>
          <a:p>
            <a:pPr marL="12701" marR="5081" algn="l">
              <a:spcBef>
                <a:spcPts val="65"/>
              </a:spcBef>
            </a:pP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Performance</a:t>
            </a:r>
            <a:r>
              <a:rPr sz="1400" spc="15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figures,</a:t>
            </a:r>
            <a:r>
              <a:rPr sz="1400" spc="25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data</a:t>
            </a:r>
            <a:r>
              <a:rPr sz="1400" spc="3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and</a:t>
            </a:r>
            <a:r>
              <a:rPr sz="1400" spc="3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any</a:t>
            </a:r>
            <a:r>
              <a:rPr sz="1400" spc="25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illustrative</a:t>
            </a:r>
            <a:r>
              <a:rPr sz="1400" spc="4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material</a:t>
            </a:r>
            <a:r>
              <a:rPr sz="1400" spc="4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provided</a:t>
            </a:r>
            <a:r>
              <a:rPr sz="1400" spc="35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in</a:t>
            </a:r>
            <a:r>
              <a:rPr sz="1400" spc="3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this</a:t>
            </a:r>
            <a:r>
              <a:rPr sz="1400" spc="3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data</a:t>
            </a:r>
            <a:r>
              <a:rPr sz="1400" spc="15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sheet</a:t>
            </a:r>
            <a:r>
              <a:rPr sz="1400" spc="35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are</a:t>
            </a:r>
            <a:r>
              <a:rPr sz="1400" spc="3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typical</a:t>
            </a:r>
            <a:r>
              <a:rPr sz="1400" spc="35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and</a:t>
            </a:r>
            <a:r>
              <a:rPr sz="1400" spc="15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spc="-2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must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be</a:t>
            </a:r>
            <a:r>
              <a:rPr sz="1400" spc="-35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spc="-1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specifically</a:t>
            </a:r>
            <a:r>
              <a:rPr sz="1400" spc="-35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confirmed</a:t>
            </a:r>
            <a:r>
              <a:rPr sz="1400" spc="-4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in</a:t>
            </a:r>
            <a:r>
              <a:rPr sz="1400" spc="-35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writing</a:t>
            </a:r>
            <a:r>
              <a:rPr sz="1400" spc="-3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by</a:t>
            </a:r>
            <a:r>
              <a:rPr sz="1400" spc="-35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lang="en-GB" sz="1400" dirty="0"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Complete Connect</a:t>
            </a:r>
            <a:r>
              <a:rPr sz="1400" spc="-40" dirty="0"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before</a:t>
            </a:r>
            <a:r>
              <a:rPr sz="1400" spc="-3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they</a:t>
            </a:r>
            <a:r>
              <a:rPr sz="1400" spc="-4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become</a:t>
            </a:r>
            <a:r>
              <a:rPr sz="1400" spc="-4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spc="-1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applicable</a:t>
            </a:r>
            <a:r>
              <a:rPr sz="1400" spc="-25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to</a:t>
            </a:r>
            <a:r>
              <a:rPr sz="1400" spc="-4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any</a:t>
            </a:r>
            <a:r>
              <a:rPr sz="1400" spc="-35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particular</a:t>
            </a:r>
            <a:r>
              <a:rPr sz="1400" spc="-25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spc="-1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order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or</a:t>
            </a:r>
            <a:r>
              <a:rPr sz="1400" spc="8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contract.</a:t>
            </a:r>
            <a:endParaRPr lang="en-GB" sz="1400" spc="80" dirty="0">
              <a:solidFill>
                <a:srgbClr val="221F1F"/>
              </a:solidFill>
              <a:latin typeface="Roboto" panose="02000000000000000000" pitchFamily="2" charset="0"/>
              <a:ea typeface="Roboto" panose="02000000000000000000" pitchFamily="2" charset="0"/>
              <a:cs typeface="Arial"/>
            </a:endParaRPr>
          </a:p>
          <a:p>
            <a:pPr marL="12701" marR="5081" algn="l">
              <a:spcBef>
                <a:spcPts val="65"/>
              </a:spcBef>
            </a:pPr>
            <a:endParaRPr lang="en-GB" sz="1400" spc="80" dirty="0">
              <a:solidFill>
                <a:srgbClr val="221F1F"/>
              </a:solidFill>
              <a:latin typeface="Roboto" panose="02000000000000000000" pitchFamily="2" charset="0"/>
              <a:ea typeface="Roboto" panose="02000000000000000000" pitchFamily="2" charset="0"/>
              <a:cs typeface="Arial"/>
            </a:endParaRPr>
          </a:p>
          <a:p>
            <a:pPr marL="12701" marR="5081" algn="l">
              <a:spcBef>
                <a:spcPts val="65"/>
              </a:spcBef>
            </a:pP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In</a:t>
            </a:r>
            <a:r>
              <a:rPr sz="1400" spc="7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accordance</a:t>
            </a:r>
            <a:r>
              <a:rPr sz="1400" spc="9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with</a:t>
            </a:r>
            <a:r>
              <a:rPr sz="1400" spc="95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the</a:t>
            </a:r>
            <a:r>
              <a:rPr sz="1400" spc="7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lang="en-GB" sz="1400" dirty="0"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Complete Connect</a:t>
            </a:r>
            <a:r>
              <a:rPr sz="1400" spc="80" dirty="0"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policy</a:t>
            </a:r>
            <a:r>
              <a:rPr sz="1400" spc="1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of</a:t>
            </a:r>
            <a:r>
              <a:rPr sz="1400" spc="95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continuous</a:t>
            </a:r>
            <a:r>
              <a:rPr sz="1400" spc="75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improvement</a:t>
            </a:r>
            <a:r>
              <a:rPr sz="1400" spc="8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specifications</a:t>
            </a:r>
            <a:r>
              <a:rPr sz="1400" spc="75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spc="-25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may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change</a:t>
            </a:r>
            <a:r>
              <a:rPr sz="1400" spc="-4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without</a:t>
            </a:r>
            <a:r>
              <a:rPr sz="1400" spc="-3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spc="-1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notice.</a:t>
            </a:r>
            <a:endParaRPr lang="en-GB" sz="1400" spc="-10" dirty="0">
              <a:solidFill>
                <a:srgbClr val="221F1F"/>
              </a:solidFill>
              <a:latin typeface="Roboto" panose="02000000000000000000" pitchFamily="2" charset="0"/>
              <a:ea typeface="Roboto" panose="02000000000000000000" pitchFamily="2" charset="0"/>
              <a:cs typeface="Arial"/>
            </a:endParaRPr>
          </a:p>
          <a:p>
            <a:pPr marL="12701" marR="5081" algn="l">
              <a:spcBef>
                <a:spcPts val="65"/>
              </a:spcBef>
            </a:pPr>
            <a:endParaRPr lang="en-GB" sz="1400" spc="-10" dirty="0">
              <a:solidFill>
                <a:srgbClr val="221F1F"/>
              </a:solidFill>
              <a:latin typeface="Roboto" panose="02000000000000000000" pitchFamily="2" charset="0"/>
              <a:ea typeface="Roboto" panose="02000000000000000000" pitchFamily="2" charset="0"/>
              <a:cs typeface="Arial"/>
            </a:endParaRPr>
          </a:p>
          <a:p>
            <a:pPr marL="12701" marR="5081" algn="l">
              <a:spcBef>
                <a:spcPts val="65"/>
              </a:spcBef>
            </a:pP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The</a:t>
            </a:r>
            <a:r>
              <a:rPr sz="1400" spc="1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publication</a:t>
            </a:r>
            <a:r>
              <a:rPr sz="1400" spc="25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of</a:t>
            </a:r>
            <a:r>
              <a:rPr sz="1400" spc="2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information</a:t>
            </a:r>
            <a:r>
              <a:rPr sz="1400" spc="1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in</a:t>
            </a:r>
            <a:r>
              <a:rPr sz="1400" spc="2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this</a:t>
            </a:r>
            <a:r>
              <a:rPr sz="1400" spc="2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data</a:t>
            </a:r>
            <a:r>
              <a:rPr sz="1400" spc="1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sheet</a:t>
            </a:r>
            <a:r>
              <a:rPr sz="1400" spc="2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does</a:t>
            </a:r>
            <a:r>
              <a:rPr sz="1400" spc="15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not</a:t>
            </a:r>
            <a:r>
              <a:rPr sz="1400" spc="2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imply</a:t>
            </a:r>
            <a:r>
              <a:rPr sz="1400" spc="25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freedom</a:t>
            </a:r>
            <a:r>
              <a:rPr sz="1400" spc="2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from</a:t>
            </a:r>
            <a:r>
              <a:rPr sz="1400" spc="15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patent</a:t>
            </a:r>
            <a:r>
              <a:rPr sz="1400" spc="5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or</a:t>
            </a:r>
            <a:r>
              <a:rPr sz="1400" spc="15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other</a:t>
            </a:r>
            <a:r>
              <a:rPr sz="1400" spc="15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spc="-1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protective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rights</a:t>
            </a:r>
            <a:r>
              <a:rPr sz="1400" spc="-4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of</a:t>
            </a:r>
            <a:r>
              <a:rPr sz="1400" spc="-25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lang="en-GB"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Complete Connect</a:t>
            </a:r>
            <a:r>
              <a:rPr sz="1400" spc="-25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or</a:t>
            </a:r>
            <a:r>
              <a:rPr sz="1400" spc="-25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others.</a:t>
            </a:r>
            <a:endParaRPr lang="en-GB" sz="1400" spc="-35" dirty="0">
              <a:solidFill>
                <a:srgbClr val="221F1F"/>
              </a:solidFill>
              <a:latin typeface="Roboto" panose="02000000000000000000" pitchFamily="2" charset="0"/>
              <a:ea typeface="Roboto" panose="02000000000000000000" pitchFamily="2" charset="0"/>
              <a:cs typeface="Arial"/>
            </a:endParaRPr>
          </a:p>
          <a:p>
            <a:pPr marL="12701" marR="5081" algn="l">
              <a:spcBef>
                <a:spcPts val="65"/>
              </a:spcBef>
            </a:pPr>
            <a:endParaRPr lang="en-GB" sz="1400" spc="-35" dirty="0">
              <a:solidFill>
                <a:srgbClr val="221F1F"/>
              </a:solidFill>
              <a:latin typeface="Roboto" panose="02000000000000000000" pitchFamily="2" charset="0"/>
              <a:ea typeface="Roboto" panose="02000000000000000000" pitchFamily="2" charset="0"/>
              <a:cs typeface="Arial"/>
            </a:endParaRPr>
          </a:p>
          <a:p>
            <a:pPr marL="12701" marR="5081" algn="l">
              <a:spcBef>
                <a:spcPts val="65"/>
              </a:spcBef>
            </a:pP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Further</a:t>
            </a:r>
            <a:r>
              <a:rPr sz="1400" spc="-25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details</a:t>
            </a:r>
            <a:r>
              <a:rPr sz="1400" spc="-15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are</a:t>
            </a:r>
            <a:r>
              <a:rPr sz="1400" spc="-3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available</a:t>
            </a:r>
            <a:r>
              <a:rPr sz="1400" spc="-2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from</a:t>
            </a:r>
            <a:r>
              <a:rPr sz="1400" spc="-2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any</a:t>
            </a:r>
            <a:r>
              <a:rPr sz="1400" spc="-3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lang="en-GB"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Complete Connect</a:t>
            </a:r>
            <a:r>
              <a:rPr sz="1400" spc="-25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sales</a:t>
            </a:r>
            <a:r>
              <a:rPr sz="1400" spc="-3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spc="-1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representative.</a:t>
            </a:r>
            <a:endParaRPr sz="1400" dirty="0">
              <a:latin typeface="Roboto" panose="02000000000000000000" pitchFamily="2" charset="0"/>
              <a:ea typeface="Roboto" panose="02000000000000000000" pitchFamily="2" charset="0"/>
              <a:cs typeface="Arial"/>
            </a:endParaRPr>
          </a:p>
          <a:p>
            <a:pPr>
              <a:spcBef>
                <a:spcPts val="640"/>
              </a:spcBef>
            </a:pPr>
            <a:endParaRPr lang="en-GB" sz="1400" dirty="0">
              <a:latin typeface="Roboto" panose="02000000000000000000" pitchFamily="2" charset="0"/>
              <a:ea typeface="Roboto" panose="02000000000000000000" pitchFamily="2" charset="0"/>
              <a:cs typeface="Arial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2391797-6FAD-4DB0-DA7B-4E4760F4A78D}"/>
              </a:ext>
            </a:extLst>
          </p:cNvPr>
          <p:cNvSpPr txBox="1"/>
          <p:nvPr/>
        </p:nvSpPr>
        <p:spPr>
          <a:xfrm>
            <a:off x="9338630" y="1499123"/>
            <a:ext cx="7406640" cy="954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1400" b="1" dirty="0">
                <a:solidFill>
                  <a:srgbClr val="004455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Diagnostic Monitoring Interface</a:t>
            </a:r>
          </a:p>
          <a:p>
            <a:endParaRPr lang="en-GB" sz="1400" dirty="0">
              <a:latin typeface="Roboto" panose="02000000000000000000" pitchFamily="2" charset="0"/>
              <a:ea typeface="Roboto" panose="02000000000000000000" pitchFamily="2" charset="0"/>
            </a:endParaRPr>
          </a:p>
          <a:p>
            <a:pPr defTabSz="179388"/>
            <a:r>
              <a:rPr lang="en-GB" sz="1400" dirty="0">
                <a:latin typeface="Roboto" panose="02000000000000000000" pitchFamily="2" charset="0"/>
                <a:ea typeface="Roboto" panose="02000000000000000000" pitchFamily="2" charset="0"/>
              </a:rPr>
              <a:t>Digital diagnostics monitoring function is available on all Complete Connect {{</a:t>
            </a:r>
            <a:r>
              <a:rPr lang="en-GB" sz="1400" dirty="0" err="1">
                <a:latin typeface="Roboto" panose="02000000000000000000" pitchFamily="2" charset="0"/>
                <a:ea typeface="Roboto" panose="02000000000000000000" pitchFamily="2" charset="0"/>
              </a:rPr>
              <a:t>form_factor</a:t>
            </a:r>
            <a:r>
              <a:rPr lang="en-GB" sz="1400" dirty="0">
                <a:latin typeface="Roboto" panose="02000000000000000000" pitchFamily="2" charset="0"/>
                <a:ea typeface="Roboto" panose="02000000000000000000" pitchFamily="2" charset="0"/>
              </a:rPr>
              <a:t>}} products. {{</a:t>
            </a:r>
            <a:r>
              <a:rPr lang="en-GB" sz="1400" dirty="0" err="1">
                <a:latin typeface="Roboto" panose="02000000000000000000" pitchFamily="2" charset="0"/>
                <a:ea typeface="Roboto" panose="02000000000000000000" pitchFamily="2" charset="0"/>
              </a:rPr>
              <a:t>dmi_interface_description</a:t>
            </a:r>
            <a:r>
              <a:rPr lang="en-GB" sz="1400" dirty="0">
                <a:latin typeface="Roboto" panose="02000000000000000000" pitchFamily="2" charset="0"/>
                <a:ea typeface="Roboto" panose="02000000000000000000" pitchFamily="2" charset="0"/>
              </a:rPr>
              <a:t>}}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DFB13DC2-987C-4042-92E4-F7333CCB4C66}"/>
              </a:ext>
            </a:extLst>
          </p:cNvPr>
          <p:cNvSpPr txBox="1"/>
          <p:nvPr/>
        </p:nvSpPr>
        <p:spPr>
          <a:xfrm>
            <a:off x="3683000" y="514552"/>
            <a:ext cx="723900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745"/>
              </a:spcBef>
            </a:pPr>
            <a:r>
              <a:rPr lang="en-GB" sz="2800" b="1" i="0" dirty="0">
                <a:solidFill>
                  <a:srgbClr val="004455"/>
                </a:solidFill>
                <a:latin typeface="Roboto Condensed Black" panose="02000000000000000000" pitchFamily="2" charset="0"/>
                <a:ea typeface="Roboto Condensed Black" panose="02000000000000000000" pitchFamily="2" charset="0"/>
                <a:cs typeface="Roboto Condensed Black" panose="02000000000000000000" pitchFamily="2" charset="0"/>
              </a:rPr>
              <a:t>400Gb/s QSFP-DD </a:t>
            </a:r>
            <a:r>
              <a:rPr lang="en-GB" sz="2800" b="1" dirty="0">
                <a:solidFill>
                  <a:srgbClr val="004455"/>
                </a:solidFill>
                <a:latin typeface="Roboto Condensed Black" panose="02000000000000000000" pitchFamily="2" charset="0"/>
                <a:ea typeface="Roboto Condensed Black" panose="02000000000000000000" pitchFamily="2" charset="0"/>
                <a:cs typeface="Roboto Condensed Black" panose="02000000000000000000" pitchFamily="2" charset="0"/>
              </a:rPr>
              <a:t>S</a:t>
            </a:r>
            <a:r>
              <a:rPr lang="en-GB" sz="2800" b="1" i="0" dirty="0">
                <a:solidFill>
                  <a:srgbClr val="004455"/>
                </a:solidFill>
                <a:latin typeface="Roboto Condensed Black" panose="02000000000000000000" pitchFamily="2" charset="0"/>
                <a:ea typeface="Roboto Condensed Black" panose="02000000000000000000" pitchFamily="2" charset="0"/>
                <a:cs typeface="Roboto Condensed Black" panose="02000000000000000000" pitchFamily="2" charset="0"/>
              </a:rPr>
              <a:t>R8 Transceiver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221</TotalTime>
  <Words>1326</Words>
  <Application>Microsoft Office PowerPoint</Application>
  <PresentationFormat>Custom</PresentationFormat>
  <Paragraphs>232</Paragraphs>
  <Slides>5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13" baseType="lpstr">
      <vt:lpstr>Aptos</vt:lpstr>
      <vt:lpstr>Arial</vt:lpstr>
      <vt:lpstr>Courier New</vt:lpstr>
      <vt:lpstr>Roboto</vt:lpstr>
      <vt:lpstr>Roboto Condensed</vt:lpstr>
      <vt:lpstr>Roboto Condensed Black</vt:lpstr>
      <vt:lpstr>Wingdings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Complete Connect</dc:title>
  <dc:creator>Complete Connect</dc:creator>
  <cp:keywords>Complete Connect</cp:keywords>
  <dc:description/>
  <cp:lastModifiedBy>Sofia Venizelos</cp:lastModifiedBy>
  <cp:revision>77</cp:revision>
  <dcterms:created xsi:type="dcterms:W3CDTF">2024-09-20T08:07:20Z</dcterms:created>
  <dcterms:modified xsi:type="dcterms:W3CDTF">2026-06-23T12:05:09Z</dcterms:modified>
  <cp:category>Complete Connect</cp:category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reated">
    <vt:filetime>2024-09-20T00:00:00Z</vt:filetime>
  </property>
  <property fmtid="{D5CDD505-2E9C-101B-9397-08002B2CF9AE}" pid="3" name="Creator">
    <vt:lpwstr>WPS 文字</vt:lpwstr>
  </property>
  <property fmtid="{D5CDD505-2E9C-101B-9397-08002B2CF9AE}" pid="4" name="LastSaved">
    <vt:filetime>2024-09-20T00:00:00Z</vt:filetime>
  </property>
  <property fmtid="{D5CDD505-2E9C-101B-9397-08002B2CF9AE}" pid="5" name="SourceModified">
    <vt:lpwstr>D:20240920101301+08'00'</vt:lpwstr>
  </property>
</Properties>
</file>