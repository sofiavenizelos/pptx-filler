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7" r:id="rId2"/>
    <p:sldId id="269" r:id="rId3"/>
    <p:sldId id="268" r:id="rId4"/>
    <p:sldId id="270" r:id="rId5"/>
    <p:sldId id="271" r:id="rId6"/>
    <p:sldId id="258" r:id="rId7"/>
    <p:sldId id="266" r:id="rId8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>
        <p:scale>
          <a:sx n="100" d="100"/>
          <a:sy n="100" d="100"/>
        </p:scale>
        <p:origin x="-1164" y="-978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709504" y="3849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78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</a:rPr>
              <a:t>{{</a:t>
            </a:r>
            <a:r>
              <a:rPr lang="en-GB" dirty="0" err="1">
                <a:latin typeface="Courier New" panose="02070309020205020404" pitchFamily="49" charset="0"/>
              </a:rPr>
              <a:t>technical_drawing</a:t>
            </a:r>
            <a:r>
              <a:rPr lang="en-GB" dirty="0">
                <a:latin typeface="Courier New" panose="02070309020205020404" pitchFamily="49" charset="0"/>
              </a:rPr>
              <a:t>}}</a:t>
            </a:r>
            <a:r>
              <a:rPr lang="en-GB" dirty="0"/>
              <a:t>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062344" y="4510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638515"/>
              </p:ext>
            </p:extLst>
          </p:nvPr>
        </p:nvGraphicFramePr>
        <p:xfrm>
          <a:off x="444501" y="1822801"/>
          <a:ext cx="8496300" cy="77886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6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375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795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1">
                  <a:extLst>
                    <a:ext uri="{9D8B030D-6E8A-4147-A177-3AD203B41FA5}">
                      <a16:colId xmlns:a16="http://schemas.microsoft.com/office/drawing/2014/main" val="35989859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628530"/>
              </p:ext>
            </p:extLst>
          </p:nvPr>
        </p:nvGraphicFramePr>
        <p:xfrm>
          <a:off x="9363074" y="1818817"/>
          <a:ext cx="8074025" cy="711435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4599">
                  <a:extLst>
                    <a:ext uri="{9D8B030D-6E8A-4147-A177-3AD203B41FA5}">
                      <a16:colId xmlns:a16="http://schemas.microsoft.com/office/drawing/2014/main" val="1032077835"/>
                    </a:ext>
                  </a:extLst>
                </a:gridCol>
              </a:tblGrid>
              <a:tr h="35288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1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</a:t>
                      </a:r>
                      <a:r>
                        <a:rPr lang="en-GB" sz="1200" dirty="0" err="1"/>
                        <a:t>op_supply_current_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op_data_rate_accuracy_notes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300158"/>
              </p:ext>
            </p:extLst>
          </p:nvPr>
        </p:nvGraphicFramePr>
        <p:xfrm>
          <a:off x="560280" y="1802178"/>
          <a:ext cx="8129552" cy="795364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3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0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1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3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1919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107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6793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579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79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372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Average Receive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3612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Receive Power (OMA outer)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9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Receiver Sensitivity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61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Stressed Receiver Sensitivity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481209"/>
              </p:ext>
            </p:extLst>
          </p:nvPr>
        </p:nvGraphicFramePr>
        <p:xfrm>
          <a:off x="9347201" y="1802178"/>
          <a:ext cx="8027951" cy="732277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2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5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9802">
                  <a:extLst>
                    <a:ext uri="{9D8B030D-6E8A-4147-A177-3AD203B41FA5}">
                      <a16:colId xmlns:a16="http://schemas.microsoft.com/office/drawing/2014/main" val="3561619983"/>
                    </a:ext>
                  </a:extLst>
                </a:gridCol>
              </a:tblGrid>
              <a:tr h="36907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6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Damage Threshold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634215"/>
                  </a:ext>
                </a:extLst>
              </a:tr>
              <a:tr h="8148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Input Overload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11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Receiver 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BER Floor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rx_ber_floor_symbol</a:t>
                      </a:r>
                      <a:r>
                        <a:rPr lang="en-GB" sz="11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SECQ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rx_secq_symbol</a:t>
                      </a:r>
                      <a:r>
                        <a:rPr lang="en-GB" sz="11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Aggressor Lane OMA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8148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Receive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rx_receive_power_difference_symbol</a:t>
                      </a:r>
                      <a:r>
                        <a:rPr lang="en-GB" sz="11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LOS Assert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rx_los_assert_symbol</a:t>
                      </a:r>
                      <a:r>
                        <a:rPr lang="en-GB" sz="11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LOS De assert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LOS Hysteresis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188265"/>
              </p:ext>
            </p:extLst>
          </p:nvPr>
        </p:nvGraphicFramePr>
        <p:xfrm>
          <a:off x="493486" y="1929568"/>
          <a:ext cx="8157029" cy="73423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2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8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1637991353"/>
                    </a:ext>
                  </a:extLst>
                </a:gridCol>
              </a:tblGrid>
              <a:tr h="375938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651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18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75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75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13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162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85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681028"/>
              </p:ext>
            </p:extLst>
          </p:nvPr>
        </p:nvGraphicFramePr>
        <p:xfrm>
          <a:off x="8940800" y="1069384"/>
          <a:ext cx="8610601" cy="96841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721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31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80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5315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Modulation Amplitude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Extinction Ratio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and Dispersion Eye Closure for PAM4 (TDECQ),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eye closure for PAM4 (TECQ),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Dispersion Penalty (TDP)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Over/Undershoot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Peak-to-Peak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Excursion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Lane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879306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Return Loss Tolerance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691175"/>
                  </a:ext>
                </a:extLst>
              </a:tr>
              <a:tr h="153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229673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Rise/Fall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374120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Transition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75562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1258</TotalTime>
  <Words>4278</Words>
  <Application>Microsoft Office PowerPoint</Application>
  <PresentationFormat>Custom</PresentationFormat>
  <Paragraphs>597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94</cp:revision>
  <dcterms:created xsi:type="dcterms:W3CDTF">2024-09-20T08:07:20Z</dcterms:created>
  <dcterms:modified xsi:type="dcterms:W3CDTF">2026-06-29T13:12:52Z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