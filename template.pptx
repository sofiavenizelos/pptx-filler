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67" r:id="rId2"/>
    <p:sldId id="269" r:id="rId3"/>
    <p:sldId id="268" r:id="rId4"/>
    <p:sldId id="270" r:id="rId5"/>
    <p:sldId id="271" r:id="rId6"/>
    <p:sldId id="258" r:id="rId7"/>
    <p:sldId id="266" r:id="rId8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6247" autoAdjust="0"/>
  </p:normalViewPr>
  <p:slideViewPr>
    <p:cSldViewPr snapToGrid="0">
      <p:cViewPr>
        <p:scale>
          <a:sx n="75" d="100"/>
          <a:sy n="75" d="100"/>
        </p:scale>
        <p:origin x="864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8268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{{modulation}}{{</a:t>
            </a:r>
            <a:r>
              <a:rPr lang="en-GB" sz="1400" dirty="0" err="1"/>
              <a:t>lane_config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709504" y="384911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78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</a:rPr>
              <a:t>{{</a:t>
            </a:r>
            <a:r>
              <a:rPr lang="en-GB" dirty="0" err="1">
                <a:latin typeface="Courier New" panose="02070309020205020404" pitchFamily="49" charset="0"/>
              </a:rPr>
              <a:t>technical_drawing</a:t>
            </a:r>
            <a:r>
              <a:rPr lang="en-GB" dirty="0">
                <a:latin typeface="Courier New" panose="02070309020205020404" pitchFamily="49" charset="0"/>
              </a:rPr>
              <a:t>}}</a:t>
            </a:r>
            <a:r>
              <a:rPr lang="en-GB" dirty="0"/>
              <a:t>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4062344" y="4510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483205" y="149479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967792"/>
              </p:ext>
            </p:extLst>
          </p:nvPr>
        </p:nvGraphicFramePr>
        <p:xfrm>
          <a:off x="444501" y="1822801"/>
          <a:ext cx="8496300" cy="76057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46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375">
                  <a:extLst>
                    <a:ext uri="{9D8B030D-6E8A-4147-A177-3AD203B41FA5}">
                      <a16:colId xmlns:a16="http://schemas.microsoft.com/office/drawing/2014/main" val="3444705841"/>
                    </a:ext>
                  </a:extLst>
                </a:gridCol>
                <a:gridCol w="795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3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84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5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1">
                  <a:extLst>
                    <a:ext uri="{9D8B030D-6E8A-4147-A177-3AD203B41FA5}">
                      <a16:colId xmlns:a16="http://schemas.microsoft.com/office/drawing/2014/main" val="35989859"/>
                    </a:ext>
                  </a:extLst>
                </a:gridCol>
              </a:tblGrid>
              <a:tr h="31754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Storage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Operating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abs_operating_case_temp_symbol</a:t>
                      </a:r>
                      <a:r>
                        <a:rPr lang="en-GB" sz="1200" dirty="0"/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Relative Humidity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ESD Rating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abs_esd_rating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Input Voltage on Control Pins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8526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Module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288000"/>
                  </a:ext>
                </a:extLst>
              </a:tr>
              <a:tr h="834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576460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9342618" y="1495431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084206"/>
              </p:ext>
            </p:extLst>
          </p:nvPr>
        </p:nvGraphicFramePr>
        <p:xfrm>
          <a:off x="9363074" y="1818817"/>
          <a:ext cx="8074025" cy="711435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3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4599">
                  <a:extLst>
                    <a:ext uri="{9D8B030D-6E8A-4147-A177-3AD203B41FA5}">
                      <a16:colId xmlns:a16="http://schemas.microsoft.com/office/drawing/2014/main" val="1032077835"/>
                    </a:ext>
                  </a:extLst>
                </a:gridCol>
              </a:tblGrid>
              <a:tr h="35288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Operating Case Temperature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Supply Voltage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5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Supply Current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 Accuracy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op_data_rate_accuracy_symbol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op_data_rate_accuracy_min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op_data_rate_accuracy_typical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884492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Pre-FEC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04807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/>
                        <a:t>Post-FEC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4505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Fiber Length 9/125</a:t>
                      </a:r>
                      <a:r>
                        <a:rPr lang="el-GR" sz="1100" dirty="0"/>
                        <a:t>μ</a:t>
                      </a:r>
                      <a:r>
                        <a:rPr lang="en-GB" sz="1100" dirty="0"/>
                        <a:t>m core SMF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68146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FEC Requirement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op_fec_requirment_symbol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906222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Dissipation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op_power_dissipation_typical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12615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860800" y="25294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1389493"/>
              </p:ext>
            </p:extLst>
          </p:nvPr>
        </p:nvGraphicFramePr>
        <p:xfrm>
          <a:off x="404848" y="1802178"/>
          <a:ext cx="8129552" cy="741936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30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08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1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3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333544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48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lang="en-GB"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6375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6194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Data Rate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Modulation Format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rx_modulation_format_unit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Average Receive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rx_average_receive_power_unit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 Power (OMA outer)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6055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Stressed Receiver Sensitivity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rx_stressed_receiver_sensitivity_unit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804011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AC002B7D-0AA6-D993-E337-3969F6495031}"/>
              </a:ext>
            </a:extLst>
          </p:cNvPr>
          <p:cNvSpPr txBox="1"/>
          <p:nvPr/>
        </p:nvSpPr>
        <p:spPr>
          <a:xfrm>
            <a:off x="506448" y="132544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9E96D691-A839-5053-FBA3-555027B47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9335438"/>
              </p:ext>
            </p:extLst>
          </p:nvPr>
        </p:nvGraphicFramePr>
        <p:xfrm>
          <a:off x="9347201" y="1802178"/>
          <a:ext cx="8027951" cy="740175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2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55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9952">
                  <a:extLst>
                    <a:ext uri="{9D8B030D-6E8A-4147-A177-3AD203B41FA5}">
                      <a16:colId xmlns:a16="http://schemas.microsoft.com/office/drawing/2014/main" val="3561619983"/>
                    </a:ext>
                  </a:extLst>
                </a:gridCol>
              </a:tblGrid>
              <a:tr h="38220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Threshold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rx_damage_threshold_unit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634215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Overload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rx_optical_input_overload_unit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1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Receiver Reflectance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rx_receiver_reflectance_unit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BER Floor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rx_ber_floor_unit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SECQ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rx_secq_unit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Aggressor Lane OMA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rx_aggressor_lane_oma_unit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Difference Between Receive Powers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rx_receive_power_difference_unit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60786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106048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De assert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rx_los_deassert_unit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59893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LOS Hysteresis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rx_los_hysteresis_typ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rx_los_hysteresis_unit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33036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6525A80-2451-A546-AB91-E6E884999DF7}"/>
              </a:ext>
            </a:extLst>
          </p:cNvPr>
          <p:cNvSpPr txBox="1"/>
          <p:nvPr/>
        </p:nvSpPr>
        <p:spPr>
          <a:xfrm>
            <a:off x="4219432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1800" dirty="0"/>
              <a:t>{{</a:t>
            </a:r>
            <a:r>
              <a:rPr lang="en-GB" sz="1800" dirty="0" err="1"/>
              <a:t>product_title</a:t>
            </a:r>
            <a:r>
              <a:rPr lang="en-GB" sz="1800" dirty="0"/>
              <a:t>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F050F449-BAD1-4C4A-09C9-E67A515AF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516178"/>
              </p:ext>
            </p:extLst>
          </p:nvPr>
        </p:nvGraphicFramePr>
        <p:xfrm>
          <a:off x="493486" y="1929568"/>
          <a:ext cx="8157029" cy="707891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25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87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48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1637991353"/>
                    </a:ext>
                  </a:extLst>
                </a:gridCol>
              </a:tblGrid>
              <a:tr h="38183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794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L0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L1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L2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{{tx_wavelength_l2_max}}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L3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{{tx_wavelength_l3_max}}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L4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{{tx_wavelength_l4_max}}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747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L5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{{tx_wavelength_l5_max}}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L6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{{tx_wavelength_l6_max}}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279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L7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025245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910634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Modulation Format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2182687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78"/>
                  </a:ext>
                </a:extLst>
              </a:tr>
              <a:tr h="625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Total Average Launch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709884"/>
                  </a:ext>
                </a:extLst>
              </a:tr>
              <a:tr h="5210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452835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337CA71C-FC53-F4CE-86FB-44E8B09A9BD5}"/>
              </a:ext>
            </a:extLst>
          </p:cNvPr>
          <p:cNvSpPr txBox="1"/>
          <p:nvPr/>
        </p:nvSpPr>
        <p:spPr>
          <a:xfrm>
            <a:off x="473432" y="138868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 - Transmitter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6A8295DD-8CE7-A6F8-DD94-BF5E35D99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3039658"/>
              </p:ext>
            </p:extLst>
          </p:nvPr>
        </p:nvGraphicFramePr>
        <p:xfrm>
          <a:off x="8940800" y="1069384"/>
          <a:ext cx="8610601" cy="90135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5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721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217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79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3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72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5315">
                  <a:extLst>
                    <a:ext uri="{9D8B030D-6E8A-4147-A177-3AD203B41FA5}">
                      <a16:colId xmlns:a16="http://schemas.microsoft.com/office/drawing/2014/main" val="833981636"/>
                    </a:ext>
                  </a:extLst>
                </a:gridCol>
              </a:tblGrid>
              <a:tr h="3572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Modulation Amplitude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Extinction Ratio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and Dispersion Eye Closure for PAM4 (TDECQ),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eye closure for PAM4 (TECQ),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Dispersion Penalty (TDP)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Over/Undershoot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Peak-to-Peak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Excursion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Difference Between Lane Powers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879306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Return Loss Tolerance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691175"/>
                  </a:ext>
                </a:extLst>
              </a:tr>
              <a:tr h="153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Reflectance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229673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Rise/Fall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374120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Transition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75562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200B808-03D4-B782-F89B-D4F74205078F}"/>
              </a:ext>
            </a:extLst>
          </p:cNvPr>
          <p:cNvSpPr txBox="1"/>
          <p:nvPr/>
        </p:nvSpPr>
        <p:spPr>
          <a:xfrm>
            <a:off x="4186416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1800" dirty="0"/>
              <a:t>{{</a:t>
            </a:r>
            <a:r>
              <a:rPr lang="en-GB" sz="1800" dirty="0" err="1"/>
              <a:t>product_title</a:t>
            </a:r>
            <a:r>
              <a:rPr lang="en-GB" sz="1800" dirty="0"/>
              <a:t>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95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compliance_laser_standard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1248</TotalTime>
  <Words>3766</Words>
  <Application>Microsoft Office PowerPoint</Application>
  <PresentationFormat>Custom</PresentationFormat>
  <Paragraphs>543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93</cp:revision>
  <dcterms:created xsi:type="dcterms:W3CDTF">2024-09-20T08:07:20Z</dcterms:created>
  <dcterms:modified xsi:type="dcterms:W3CDTF">2026-06-29T13:01:58Z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