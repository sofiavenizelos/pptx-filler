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67" r:id="rId2"/>
    <p:sldId id="269" r:id="rId3"/>
    <p:sldId id="268" r:id="rId4"/>
    <p:sldId id="270" r:id="rId5"/>
    <p:sldId id="271" r:id="rId6"/>
    <p:sldId id="258" r:id="rId7"/>
    <p:sldId id="272" r:id="rId8"/>
    <p:sldId id="266" r:id="rId9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54" autoAdjust="0"/>
    <p:restoredTop sz="96247" autoAdjust="0"/>
  </p:normalViewPr>
  <p:slideViewPr>
    <p:cSldViewPr snapToGrid="0">
      <p:cViewPr varScale="1">
        <p:scale>
          <a:sx n="76" d="100"/>
          <a:sy n="76" d="100"/>
        </p:scale>
        <p:origin x="864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25/06/2026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709504" y="3849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DF11ED-D53F-11B5-3ED8-C12519D97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1128" y="1900097"/>
            <a:ext cx="7127438" cy="348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643244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2493982"/>
              </p:ext>
            </p:extLst>
          </p:nvPr>
        </p:nvGraphicFramePr>
        <p:xfrm>
          <a:off x="483205" y="1822801"/>
          <a:ext cx="8139491" cy="642937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4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2860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894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32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88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54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Operating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{{abs_op_case_temp_symbol}}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{{abs_op_case_temp_min}}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{{abs_op_case_temp_typ}}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{{abs_op_case_temp_max}}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{{abs_op_case_temp_unit}}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5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Ambient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{{abs_ambient_temp_symbol}}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{{abs_ambient_temp_min}}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{{abs_ambient_temp_typ}}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{{abs_ambient_temp_max}}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abs_ambient_temp_unit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5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{{abs_power_dissipation_symbol}}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abs_power_dissipation_min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{{abs_power_dissipation_typ}}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{{abs_power_dissipation_max}}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{{abs_power_dissipation_unit}}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Operating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abs_op_humidity_symbol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{{abs_op_humidity_min}}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abs_op_humidity_typ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{{abs_op_humidity_max}}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{{abs_op_humidity_unit}}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Signal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abs_signal_input_voltage_symbol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abs_signal_input_voltage_min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abs_signal_input_voltage_typ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abs_signal_input_voltage_max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abs_signal_input_voltage_unit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Control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{{abs_control_input_voltage_symbol}}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{{abs_control_input_voltage_min}}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abs_control_input_voltage_typ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abs_control_input_voltage_max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abs_control_input_voltage_unit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Relative Humidity (non-condensing)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{{abs_rh_noncondensing_symbol}}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{{abs_rh_noncondensing_min}}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{{abs_rh_noncondensing_typ}}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abs_rh_noncondensing_max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abs_rh_noncondensing_unit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Receiver Damage Threshold,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{{abs_rx_damage_threshold_symbol}}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{{abs_rx_damage_threshold_min}}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abs_rx_damage_threshold_typ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abs_rx_damage_threshold_max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abs_rx_damage_threshold_unit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4736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ESD, Electrical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{{abs_esd_pins_symbol}}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{{abs_esd_pins_min}}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abs_esd_pins_typ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abs_esd_pins_max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abs_esd_pins_unit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1441323"/>
              </p:ext>
            </p:extLst>
          </p:nvPr>
        </p:nvGraphicFramePr>
        <p:xfrm>
          <a:off x="9173029" y="1831316"/>
          <a:ext cx="8374746" cy="758499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455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1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75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090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84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1839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92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{{op_supply_current_symbol}}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{{op_supply_current_min}}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{{op_supply_current_typ}}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{{op_supply_current_max}}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{{op_supply_current_unit}}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4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Total Power Consumption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{{op_total_power_symbol}}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{{op_total_power_min}}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{{op_total_power_typ}}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{{op_total_power_max}}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{{op_total_power_unit}}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{{op_data_rate_accuracy_symbol}}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{{op_data_rate_accuracy_min}}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{{op_data_rate_accuracy_typ}}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{{op_data_rate_accuracy_max}}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{{op_data_rate_accuracy_unit}}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434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Bit Error Ratio (BER) with FEC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{{op_ber_with_fec_symbol}}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{{op_ber_with_fec_min}}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{{op_ber_with_fec_typ}}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{{op_ber_with_fec_max}}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{{op_ber_with_fec_unit}}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4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Fiber Length, 50/125μm core MMF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{{op_fiber_length_mmf_symbol}}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{{op_fiber_length_mmf_min}}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{{op_fiber_length_mmf_typ}}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{{op_fiber_length_mmf_max}}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{{op_fiber_length_mmf_unit}}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3978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Control Input Voltage High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{{op_ctrl_voltage_high_symbol}}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{{op_ctrl_voltage_high_min}}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{{op_ctrl_voltage_high_typ}}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{{op_ctrl_voltage_high_max}}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{{op_ctrl_voltage_high_unit}}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434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Control Input Voltage Low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op_ctrl_voltage_low_symbol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{{op_ctrl_voltage_low_min}}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{{op_ctrl_voltage_low_typ}}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{{op_ctrl_voltage_low_max}}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{{op_ctrl_voltage_low_unit}}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434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Differential Data Input/Output 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{{op_diff_data_io_load_symbol}}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{{op_diff_data_io_load_min}}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{{op_diff_data_io_load_typ}}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{{op_diff_data_io_load_max}}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{{op_diff_data_io_load_unit}}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434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Pre-FEC Bit Error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{{op_pre_fec_ber_symbol}}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{{op_pre_fec_ber_min}}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{{op_pre_fec_ber_typ}}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{{op_pre_fec_ber_max}}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{{op_pre_fec_ber_unit}}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608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Post-FEC Bit Error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{{op_post_fec_ber_symbol}}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{{op_post_fec_ber_min}}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op_post_fec_ber_typ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{{op_post_fec_ber_max}}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{{op_post_fec_ber_unit}}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  <a:tr h="316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Link Distance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4434310"/>
                  </a:ext>
                </a:extLst>
              </a:tr>
              <a:tr h="3979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SM Fiber Length (DR1)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{{op_sm_fiber_length_dr1_symbol}}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{{op_sm_fiber_length_dr1_min}}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{{op_sm_fiber_length_dr1_typ}}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{{op_sm_fiber_length_dr1_max}}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{{op_sm_fiber_length_dr1_unit}}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37117"/>
                  </a:ext>
                </a:extLst>
              </a:tr>
              <a:tr h="4344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Link Distance with OM3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{{op_link_distance_om3_symbol}}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{{op_link_distance_om3_min}}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{{op_link_distance_om3_typ}}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{{op_link_distance_om3_unit}}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6235373"/>
                  </a:ext>
                </a:extLst>
              </a:tr>
              <a:tr h="269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Link Distance with OM4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{{op_link_distance_om4_symbol}}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{{op_link_distance_om4_min}}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{{op_link_distance_om4_typ}}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{{op_link_distance_om4_max}}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{{op_link_distance_om4_unit}}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2869807"/>
                  </a:ext>
                </a:extLst>
              </a:tr>
              <a:tr h="608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Data Reach, each lane (PAM4)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{{op_data_reach_pam4_symbol}}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{{op_data_reach_pam4_min}}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{{op_data_reach_pam4_typ}}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{{op_data_reach_pam4_max}}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{{op_data_reach_pam4_unit}}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9623281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4420441"/>
              </p:ext>
            </p:extLst>
          </p:nvPr>
        </p:nvGraphicFramePr>
        <p:xfrm>
          <a:off x="506449" y="1929200"/>
          <a:ext cx="8128000" cy="737075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65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0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8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55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11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797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5293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8800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rx_wavelength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71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725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7071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7071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7071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7071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70715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60587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Signal Speed per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{{rx_signal_speed_lane_symbol}}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{{rx_signal_speed_lane_min}}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{{rx_signal_speed_lane_typ}}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{{rx_signal_speed_lane_max}}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{{rx_signal_speed_lane_unit}}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620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{{rx_optical_data_rate_symbol}}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{{rx_optical_data_rate_min}}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{{rx_optical_data_rate_typ}}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{{rx_optical_data_rate_max}}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{{rx_optical_data_rate_unit}}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4430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{{rx_modulation_format_symbol}}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{{rx_modulation_format_min}}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{{rx_modulation_format_typ}}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{{rx_modulation_format_max}}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{{rx_modulation_format_unit}}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7437288"/>
                  </a:ext>
                </a:extLst>
              </a:tr>
              <a:tr h="620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Receiver Wavelength Range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{{rx_wavelength_range_symbol}}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{{rx_wavelength_range_min}}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{{rx_wavelength_range_typ}}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{{rx_wavelength_range_max}}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{{rx_wavelength_range_unit}}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540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Damage Threshold,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{{rx_damage_threshold_symbol}}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{{rx_damage_threshold_min}}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{{rx_damage_threshold_typ}}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{{rx_damage_threshold_max}}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{{rx_damage_threshold_unit}}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024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Average Receiver Power per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rx_avg_power_lane_symbol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{{rx_avg_power_lane_min}}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{{rx_avg_power_lane_typ}}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{{rx_avg_power_lane_max}}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rx_avg_power_lane_unit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</a:t>
            </a:r>
            <a:r>
              <a:rPr sz="1400" b="1" spc="-10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9865415"/>
              </p:ext>
            </p:extLst>
          </p:nvPr>
        </p:nvGraphicFramePr>
        <p:xfrm>
          <a:off x="9347200" y="1929199"/>
          <a:ext cx="8027951" cy="3987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76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6137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959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7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9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9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4768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Receiver Sensitivity per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{{rx_sensitivity_lane_symbol}}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{{rx_sensitivity_lane_min}}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{{rx_sensitivity_lane_typ}}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{{rx_sensitivity_lane_max}}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{{rx_sensitivity_lane_unit}}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14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Stressed Receiver Sensitivity (OMA outer), each lane (max)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{{rx_stressed_sensitivity_symbol}}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{{rx_stressed_sensitivity_min}}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{{rx_stressed_sensitivity_typ}}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{{rx_stressed_sensitivity_max}}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{{rx_stressed_sensitivity_unit}}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{{rx_los_assert_symbol}}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{{rx_los_assert_min}}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{{rx_los_assert_typ}}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{{rx_los_assert_max}}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{{rx_los_assert_unit}}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LOS De-assert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{{rx_los_deassert_symbol}}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{{rx_los_deassert_min}}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{{rx_los_deassert_typ}}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{{rx_los_deassert_max}}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{{rx_los_deassert_unit}}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5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{{rx_los_hysteresis_symbol}}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{{rx_los_hysteresis_min}}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{{rx_los_hysteresis_typ}}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{{rx_los_hysteresis_max}}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rx_los_hysteresis_unit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6149405"/>
              </p:ext>
            </p:extLst>
          </p:nvPr>
        </p:nvGraphicFramePr>
        <p:xfrm>
          <a:off x="493486" y="1929569"/>
          <a:ext cx="8157027" cy="728633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6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570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40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57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490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30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65314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169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1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3083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16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{{rx_wavelength_13_typ}}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2608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{{rx_wavelength_14_typ}}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5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{{rx_wavelength_15_typ}}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{{rx_wavelength_15_max}}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957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{{rx_wavelength_16_typ}}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{{rx_wavelength_16_max}}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8519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{{rx_wavelength_17_typ}}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{{rx_wavelength_17_max}}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480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{{tx_optical_data_rate_symbol}}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{{tx_optical_data_rate_min}}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{{tx_optical_data_rate_typ}}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{{tx_optical_data_rate_max}}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{{tx_optical_data_rate_unit}}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480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{{tx_modulation_format_symbol}}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{{tx_modulation_format_min}}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{{tx_modulation_format_typ}}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{{tx_modulation_format_max}}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{{tx_modulation_format_unit}}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480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{{tx_signal_rate_symbol}}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{{tx_signal_rate_min}}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{{tx_signal_rate_typ}}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{{tx_signal_rate_max}}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{{tx_signal_rate_unit}}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480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Launched Power (avg.) per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{{tx_launched_power_lane_symbol}}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{{tx_launched_power_lane_min}}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{{tx_launched_power_lane_typ}}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{{tx_launched_power_lane_max}}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{{tx_launched_power_lane_unit}}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480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{{tx_oma_outer_symbol}}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{{tx_oma_outer_min}}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{{tx_oma_outer_typ}}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{{tx_oma_outer_max}}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{{tx_oma_outer_unit}}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505769"/>
                  </a:ext>
                </a:extLst>
              </a:tr>
              <a:tr h="4804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Wavelength Range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{{tx_wavelength_range_symbol}}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tx_wavelength_range_min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{{tx_wavelength_range_typ}}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>
                          <a:latin typeface="+mn-lt"/>
                        </a:rPr>
                        <a:t>{{tx_wavelength_range_max}}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tx_wavelength_range_unit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7815124"/>
              </p:ext>
            </p:extLst>
          </p:nvPr>
        </p:nvGraphicFramePr>
        <p:xfrm>
          <a:off x="9347200" y="1929199"/>
          <a:ext cx="8027951" cy="734395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76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6137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959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7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9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9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429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99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Overshoot/Undershoot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{{tx_overshoot_undershoot_symbol}}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{{tx_overshoot_undershoot_min}}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{{tx_overshoot_undershoot_typ}}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{{tx_overshoot_undershoot_max}}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{{tx_overshoot_undershoot_unit}}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1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{{tx_power_excursion_symbol}}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{{tx_power_excursion_min}}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{{tx_power_excursion_typ}}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{{tx_power_excursion_max}}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{{tx_power_excursion_unit}}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3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Spectral Width (-20dB)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{{tx_spectral_width_20db_symbol}}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{{tx_spectral_width_20db_min}}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{{tx_spectral_width_20db_typ}}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{{tx_spectral_width_20db_max}}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{{tx_spectral_width_20db_unit}}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3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Side-Mode Suppression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{{tx_smsr_symbol}}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{{tx_smsr_min}}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{{tx_smsr_typ}}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{{tx_smsr_max}}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{{tx_smsr_unit}}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3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{{tx_extinction_ratio_symbol}}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{{tx_extinction_ratio_min}}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{{tx_extinction_ratio_typ}}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{{tx_extinction_ratio_max}}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{{tx_extinction_ratio_unit}}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61633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{{tx_peak_to_peak_power_symbol}}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{{tx_peak_to_peak_power_min}}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{{tx_peak_to_peak_power_typ}}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{{tx_peak_to_peak_power_max}}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{{tx_peak_to_peak_power_unit}}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761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Transmitter OFF Output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{{tx_off_output_power_symbol}}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{{tx_off_output_power_min}}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{{tx_off_output_power_typ}}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{{tx_off_output_power_max}}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{{tx_off_output_power_unit}}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543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RIN (OMA)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{{tx_rin_oma_symbol}}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{{tx_rin_oma_min}}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{{tx_rin_oma_typ}}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{{tx_rin_oma_max}}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{{tx_rin_oma_unit}}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  <a:tr h="543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Launch Power in OMA minus TDECQ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{{tx_oma_minus_tdecq_symbol}}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{{tx_oma_minus_tdecq_min}}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{{tx_oma_minus_tdecq_typ}}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{{tx_oma_minus_tdecq_max}}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{{tx_oma_minus_tdecq_unit}}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879306"/>
                  </a:ext>
                </a:extLst>
              </a:tr>
              <a:tr h="5438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Closure for PAM4,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{{tx_closure_pam4_symbol}}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{{tx_closure_pam4_min}}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{{tx_closure_pam4_typ}}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{{tx_closure_pam4_max}}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{{tx_closure_pam4_unit}}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691175"/>
                  </a:ext>
                </a:extLst>
              </a:tr>
              <a:tr h="7613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Optical Modulation Amplitude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{{tx_oma_outer2_symbol}}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{{tx_oma_outer2_min}}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{{tx_oma_outer2_typ}}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>
                          <a:latin typeface="+mn-lt"/>
                        </a:rPr>
                        <a:t>{{tx_oma_outer2_max}}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{{tx_oma_outer2_unit}}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7FDA9A8-CBE4-726F-C77C-DBD309720C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92688"/>
              </p:ext>
            </p:extLst>
          </p:nvPr>
        </p:nvGraphicFramePr>
        <p:xfrm>
          <a:off x="1228725" y="2678113"/>
          <a:ext cx="6980196" cy="472713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7732">
                  <a:extLst>
                    <a:ext uri="{9D8B030D-6E8A-4147-A177-3AD203B41FA5}">
                      <a16:colId xmlns:a16="http://schemas.microsoft.com/office/drawing/2014/main" val="2604083978"/>
                    </a:ext>
                  </a:extLst>
                </a:gridCol>
                <a:gridCol w="870857">
                  <a:extLst>
                    <a:ext uri="{9D8B030D-6E8A-4147-A177-3AD203B41FA5}">
                      <a16:colId xmlns:a16="http://schemas.microsoft.com/office/drawing/2014/main" val="3863312432"/>
                    </a:ext>
                  </a:extLst>
                </a:gridCol>
                <a:gridCol w="1161143">
                  <a:extLst>
                    <a:ext uri="{9D8B030D-6E8A-4147-A177-3AD203B41FA5}">
                      <a16:colId xmlns:a16="http://schemas.microsoft.com/office/drawing/2014/main" val="2758575595"/>
                    </a:ext>
                  </a:extLst>
                </a:gridCol>
                <a:gridCol w="1291772">
                  <a:extLst>
                    <a:ext uri="{9D8B030D-6E8A-4147-A177-3AD203B41FA5}">
                      <a16:colId xmlns:a16="http://schemas.microsoft.com/office/drawing/2014/main" val="2276185609"/>
                    </a:ext>
                  </a:extLst>
                </a:gridCol>
                <a:gridCol w="1407885">
                  <a:extLst>
                    <a:ext uri="{9D8B030D-6E8A-4147-A177-3AD203B41FA5}">
                      <a16:colId xmlns:a16="http://schemas.microsoft.com/office/drawing/2014/main" val="2198860943"/>
                    </a:ext>
                  </a:extLst>
                </a:gridCol>
                <a:gridCol w="980807">
                  <a:extLst>
                    <a:ext uri="{9D8B030D-6E8A-4147-A177-3AD203B41FA5}">
                      <a16:colId xmlns:a16="http://schemas.microsoft.com/office/drawing/2014/main" val="2377272687"/>
                    </a:ext>
                  </a:extLst>
                </a:gridCol>
              </a:tblGrid>
              <a:tr h="0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/>
                        <a:t>L0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{{rx_wavelength_l0_min}}</a:t>
                      </a:r>
                      <a:endParaRPr lang="en-GB" sz="1100" dirty="0"/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{{rx_wavelength_l0_typ}}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{{rx_wavelength_l0_max}}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2261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/>
                        <a:t>L1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{{rx_wavelength_l1_min}}</a:t>
                      </a:r>
                      <a:endParaRPr lang="en-GB" sz="1100" dirty="0"/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{{rx_wavelength_l1_typ}}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{{rx_wavelength_l1_max}}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5939603"/>
                  </a:ext>
                </a:extLst>
              </a:tr>
              <a:tr h="19716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/>
                        <a:t>L2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{{rx_wavelength_l2_min}}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{{rx_wavelength_l2_typ}}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{{rx_wavelength_l2_max}}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nm</a:t>
                      </a: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4769259"/>
                  </a:ext>
                </a:extLst>
              </a:tr>
              <a:tr h="42966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/>
                        <a:t>L3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{{rx_wavelength_l3_min}}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{{rx_wavelength_13_typ}}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{{rx_wavelength_l3_max}}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nm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3103545"/>
                  </a:ext>
                </a:extLst>
              </a:tr>
              <a:tr h="34007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/>
                        <a:t>L4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{{rx_wavelength_l4_min}}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{{rx_wavelength_14_typ}}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{{rx_wavelength_l4_max}}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nm</a:t>
                      </a: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59812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/>
                        <a:t>L5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{{rx_wavelength_l5_min}}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{{rx_wavelength_15_typ}}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{{rx_wavelength_15_max}}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nm</a:t>
                      </a:r>
                    </a:p>
                    <a:p>
                      <a:pPr marL="635"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13794032"/>
                  </a:ext>
                </a:extLst>
              </a:tr>
              <a:tr h="51565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/>
                        <a:t>L6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{{rx_wavelength_l6_min}}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{{rx_wavelength_16_typ}}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{{rx_wavelength_16_max}}</a:t>
                      </a:r>
                      <a:endParaRPr lang="en-GB" sz="1100" dirty="0"/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nm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5036861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50" dirty="0"/>
                        <a:t>L7</a:t>
                      </a: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{{rx_wavelength_l7_min}}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Courier New" panose="02070309020205020404" pitchFamily="49" charset="0"/>
                        </a:rPr>
                        <a:t>{{rx_wavelength_17_typ}}</a:t>
                      </a:r>
                      <a:endParaRPr lang="en-GB" sz="1050" dirty="0"/>
                    </a:p>
                    <a:p>
                      <a:pPr algn="ctr">
                        <a:lnSpc>
                          <a:spcPct val="100000"/>
                        </a:lnSpc>
                      </a:pPr>
                      <a:endParaRPr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Courier New" panose="02070309020205020404" pitchFamily="49" charset="0"/>
                        </a:rPr>
                        <a:t>{{rx_wavelength_17_max}}</a:t>
                      </a:r>
                      <a:endParaRPr lang="en-GB" sz="1100" dirty="0"/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nm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66719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821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799</TotalTime>
  <Words>4073</Words>
  <Application>Microsoft Office PowerPoint</Application>
  <PresentationFormat>Custom</PresentationFormat>
  <Paragraphs>559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81</cp:revision>
  <dcterms:created xsi:type="dcterms:W3CDTF">2024-09-20T08:07:20Z</dcterms:created>
  <dcterms:modified xsi:type="dcterms:W3CDTF">2026-06-25T13:40:03Z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