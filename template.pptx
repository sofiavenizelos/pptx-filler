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7" r:id="rId2"/>
    <p:sldId id="269" r:id="rId3"/>
    <p:sldId id="268" r:id="rId4"/>
    <p:sldId id="258" r:id="rId5"/>
    <p:sldId id="266" r:id="rId6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54" autoAdjust="0"/>
    <p:restoredTop sz="94649"/>
  </p:normalViewPr>
  <p:slideViewPr>
    <p:cSldViewPr snapToGrid="0">
      <p:cViewPr varScale="1">
        <p:scale>
          <a:sx n="72" d="100"/>
          <a:sy n="72" d="100"/>
        </p:scale>
        <p:origin x="1038" y="7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738086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Digital Diagnostics Monitoring Interface {{</a:t>
            </a:r>
            <a:r>
              <a:rPr lang="en-GB" sz="1400" dirty="0" err="1"/>
              <a:t>dmi_standard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dsp_statement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Reach up to {{reach_om4}} over OM4 &amp; {{reach_om3}} over OM3 MMF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Hot-pluggable {{</a:t>
            </a:r>
            <a:r>
              <a:rPr lang="en-GB" sz="1400" dirty="0" err="1"/>
              <a:t>form_factor</a:t>
            </a:r>
            <a:r>
              <a:rPr lang="en-GB" sz="1400" dirty="0"/>
              <a:t>}} form factor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tx_channels</a:t>
            </a:r>
            <a:r>
              <a:rPr lang="en-GB" sz="1400" dirty="0"/>
              <a:t>}} channels {{wavelength}} VCSEL array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rx_channels</a:t>
            </a:r>
            <a:r>
              <a:rPr lang="en-GB" sz="1400" dirty="0"/>
              <a:t>}} channels PIN photodetector array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Commercial operating case temperature range: {{</a:t>
            </a:r>
            <a:r>
              <a:rPr lang="en-GB" sz="1400" dirty="0" err="1"/>
              <a:t>temp_min</a:t>
            </a:r>
            <a:r>
              <a:rPr lang="en-GB" sz="1400" dirty="0"/>
              <a:t>}} ~ {{</a:t>
            </a:r>
            <a:r>
              <a:rPr lang="en-GB" sz="1400" dirty="0" err="1"/>
              <a:t>temp_max</a:t>
            </a:r>
            <a:r>
              <a:rPr lang="en-GB" sz="1400" dirty="0"/>
              <a:t>}}ºC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rohs_status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Power dissipation &lt; {{</a:t>
            </a:r>
            <a:r>
              <a:rPr lang="en-GB" sz="1400" dirty="0" err="1"/>
              <a:t>power_max</a:t>
            </a:r>
            <a:r>
              <a:rPr lang="en-GB" sz="1400" dirty="0"/>
              <a:t>}}TDEC&lt; 4.5dB{{</a:t>
            </a:r>
            <a:r>
              <a:rPr lang="en-GB" sz="1400" dirty="0" err="1"/>
              <a:t>tdec_param</a:t>
            </a:r>
            <a:r>
              <a:rPr lang="en-GB" sz="1400" dirty="0"/>
              <a:t>}} &lt; {{</a:t>
            </a:r>
            <a:r>
              <a:rPr lang="en-GB" sz="1400" dirty="0" err="1"/>
              <a:t>tdec_value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connector_type</a:t>
            </a:r>
            <a:r>
              <a:rPr lang="en-GB" sz="1400" dirty="0"/>
              <a:t>}} port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683000" y="52840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F11ED-D53F-11B5-3ED8-C12519D9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1128" y="1900097"/>
            <a:ext cx="7127438" cy="348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304801" y="151016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139647"/>
              </p:ext>
            </p:extLst>
          </p:nvPr>
        </p:nvGraphicFramePr>
        <p:xfrm>
          <a:off x="304801" y="1943757"/>
          <a:ext cx="8772938" cy="17467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25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14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7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2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60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648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946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143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abs_storage_unit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abs_humidity_symbol</a:t>
                      </a:r>
                      <a:r>
                        <a:rPr lang="en-GB" sz="1100" dirty="0"/>
                        <a:t>}}</a:t>
                      </a:r>
                      <a:endParaRPr sz="1100" baseline="-25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2069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/>
                        <a:t>{{</a:t>
                      </a:r>
                      <a:r>
                        <a:rPr lang="en-GB" sz="1100" dirty="0" err="1"/>
                        <a:t>abs_vcc_min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483205" y="3799193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126341"/>
              </p:ext>
            </p:extLst>
          </p:nvPr>
        </p:nvGraphicFramePr>
        <p:xfrm>
          <a:off x="304800" y="4215495"/>
          <a:ext cx="8772938" cy="14573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427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2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5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4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5"/>
                        </a:spcBef>
                        <a:tabLst>
                          <a:tab pos="92075" algn="l"/>
                        </a:tabLst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op_temp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25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25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op_temp_symbol</a:t>
                      </a:r>
                      <a:r>
                        <a:rPr lang="en-GB" sz="1100" spc="-25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op_temp_min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25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25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op_temp_max</a:t>
                      </a:r>
                      <a:r>
                        <a:rPr lang="en-GB" sz="1100" spc="-25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op_temp_unit</a:t>
                      </a:r>
                      <a:r>
                        <a:rPr lang="en-GB"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op_vcc_symbol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op_vcc_min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op_vcc_typ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data_rate_lane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data_rate_lane_typ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810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data_rate_lane_unit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fiber_length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841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35"/>
                        </a:spcBef>
                      </a:pPr>
                      <a:r>
                        <a:rPr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933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fiber_length_max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fiber_length_unit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EC435DC7-7A42-2847-80D8-E6A0E11129C0}"/>
              </a:ext>
            </a:extLst>
          </p:cNvPr>
          <p:cNvSpPr txBox="1"/>
          <p:nvPr/>
        </p:nvSpPr>
        <p:spPr>
          <a:xfrm>
            <a:off x="9342618" y="1429663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22FCFA24-4BD0-5FD9-16BB-A5BAA35DB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548868"/>
              </p:ext>
            </p:extLst>
          </p:nvPr>
        </p:nvGraphicFramePr>
        <p:xfrm>
          <a:off x="9392060" y="1783691"/>
          <a:ext cx="8006335" cy="356723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0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2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7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9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15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3891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18542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tx_wavelength_typical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365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03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5826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737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tx_tdec_max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9" name="object 6">
            <a:extLst>
              <a:ext uri="{FF2B5EF4-FFF2-40B4-BE49-F238E27FC236}">
                <a16:creationId xmlns:a16="http://schemas.microsoft.com/office/drawing/2014/main" id="{71D8D539-8E4C-C47B-9018-856F247A5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6334505"/>
              </p:ext>
            </p:extLst>
          </p:nvPr>
        </p:nvGraphicFramePr>
        <p:xfrm>
          <a:off x="9342618" y="5816114"/>
          <a:ext cx="8093005" cy="24380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73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51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3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43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35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8298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GB"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GB"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7366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GB"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rx_re_flectance_max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object 5">
            <a:extLst>
              <a:ext uri="{FF2B5EF4-FFF2-40B4-BE49-F238E27FC236}">
                <a16:creationId xmlns:a16="http://schemas.microsoft.com/office/drawing/2014/main" id="{C9457412-8DE7-8668-65AB-E824347C9F58}"/>
              </a:ext>
            </a:extLst>
          </p:cNvPr>
          <p:cNvSpPr txBox="1"/>
          <p:nvPr/>
        </p:nvSpPr>
        <p:spPr>
          <a:xfrm>
            <a:off x="9342618" y="5350925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9342618" y="8396219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067922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 Complete Connects QSFP DD products. A 2-wire serial interface provides user to contact with module.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Words>1202</Words>
  <Application>Microsoft Office PowerPoint</Application>
  <PresentationFormat>Custom</PresentationFormat>
  <Paragraphs>207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74</cp:revision>
  <dcterms:created xsi:type="dcterms:W3CDTF">2024-09-20T08:07:20Z</dcterms:created>
  <dcterms:modified xsi:type="dcterms:W3CDTF">2026-06-22T15:23:24Z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