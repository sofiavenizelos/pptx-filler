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6" r:id="rId2"/>
    <p:sldMasterId id="2147483678" r:id="rId3"/>
  </p:sldMasterIdLst>
  <p:notesMasterIdLst>
    <p:notesMasterId r:id="rId14"/>
  </p:notesMasterIdLst>
  <p:handoutMasterIdLst>
    <p:handoutMasterId r:id="rId15"/>
  </p:handoutMasterIdLst>
  <p:sldIdLst>
    <p:sldId id="267" r:id="rId4"/>
    <p:sldId id="269" r:id="rId5"/>
    <p:sldId id="268" r:id="rId6"/>
    <p:sldId id="273" r:id="rId7"/>
    <p:sldId id="270" r:id="rId8"/>
    <p:sldId id="274" r:id="rId9"/>
    <p:sldId id="271" r:id="rId10"/>
    <p:sldId id="275" r:id="rId11"/>
    <p:sldId id="258" r:id="rId12"/>
    <p:sldId id="266" r:id="rId13"/>
  </p:sldIdLst>
  <p:sldSz cx="17881600" cy="10058400"/>
  <p:notesSz cx="7772400" cy="10058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 userDrawn="1">
          <p15:clr>
            <a:srgbClr val="A4A3A4"/>
          </p15:clr>
        </p15:guide>
        <p15:guide id="2" pos="4969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45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9927" autoAdjust="0"/>
    <p:restoredTop sz="96247" autoAdjust="0"/>
  </p:normalViewPr>
  <p:slideViewPr>
    <p:cSldViewPr snapToGrid="0">
      <p:cViewPr>
        <p:scale>
          <a:sx n="75" d="100"/>
          <a:sy n="75" d="100"/>
        </p:scale>
        <p:origin x="900" y="102"/>
      </p:cViewPr>
      <p:guideLst>
        <p:guide orient="horz" pos="2880"/>
        <p:guide pos="4969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4" d="100"/>
          <a:sy n="74" d="100"/>
        </p:scale>
        <p:origin x="3816" y="6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theme" Target="theme/theme1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5" Type="http://schemas.openxmlformats.org/officeDocument/2006/relationships/slide" Target="slides/slide2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7.xml"/><Relationship Id="rId19" Type="http://schemas.openxmlformats.org/officeDocument/2006/relationships/tableStyles" Target="tableStyle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61A36AF-244D-6EFD-B5E0-B984446CCA7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1FE9FF1-F8EA-82B9-6BD3-1A34A039581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402138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BA462C-7B8E-41CC-A074-F2F31662260A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EEECF1-22B8-6DF9-D838-292DCF94A69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9E3512-641B-EACA-7998-1ACC71B9D88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402138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F90B1C-02A5-43DA-8D2F-65BE895173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739624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402138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82EEEB-836D-594B-9F80-250148AC8146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869950" y="1257300"/>
            <a:ext cx="6032500" cy="3394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77875" y="4840288"/>
            <a:ext cx="6216650" cy="39608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402138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6F8E8C-FAAB-A446-9714-2504BBD1DA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26522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6F8E8C-FAAB-A446-9714-2504BBD1DADC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3544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49DEE-0B44-7DC8-E7B6-49467CE2E1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C963D1-57AB-9FEE-F986-5D5185DE30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1AE9CF-854F-FBA0-2A4E-1E67617F7A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2B8DA8-D1DE-F533-2E35-2B1DC9067D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6F8E8C-FAAB-A446-9714-2504BBD1DADC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17308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F8D089-E960-7BDB-DD6C-098B4506E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C35B5F-953D-1439-39F7-7C7E1791E2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E68B43-4F36-7B71-16E8-FCC18E6F6B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2D0998-7319-668B-7D4F-63A61BCBB8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6F8E8C-FAAB-A446-9714-2504BBD1DADC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0452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9FA5F-397F-C625-5063-CB4AA6CC3E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35200" y="1646238"/>
            <a:ext cx="13411200" cy="3502025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6FF2F84-178C-9112-EED5-086DD18F489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35200" y="5283200"/>
            <a:ext cx="13411200" cy="2428875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2B67CC-BCA8-AE95-B162-D1D2721A2B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54C207-DABC-7A51-6014-924D2A0E28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CF299E-7D40-5881-C92E-0D177F0B5F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42940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2DCF73-7B2E-CCF5-CB37-5136F562B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FE1851-D0EE-D8E1-0686-9FEBC7D0AB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7564DE-E007-DF66-538F-E097BCA69F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C2B3A3-C63E-741B-C23A-D1794A06A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0E81B9-27A7-0D11-59F0-5C4844E2E5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27777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838636-FE79-CDC6-FB7D-9DD2989B5E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0788" y="2508250"/>
            <a:ext cx="15422562" cy="4183063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06D59F-58C0-CB6B-31EC-828DF3EDBB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20788" y="6731000"/>
            <a:ext cx="15422562" cy="2200275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8EC1F5-E547-D825-44E2-168F176FE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5717C3-3585-190C-4F5B-F0046371E7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CF73D9-5330-CFBF-580E-B37ED3AEC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6869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098467-0233-0ECA-AE97-A17EEE0D56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4EB1D8-9FE1-C942-3FDE-6FAF60D0F4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28725" y="2678113"/>
            <a:ext cx="7635875" cy="638175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D465C0-D8AA-BAA3-BB16-966DC027EA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017000" y="2678113"/>
            <a:ext cx="7635875" cy="638175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DC3301-B3A6-B6C2-E97A-F87D324D5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85B152-1F42-3E8D-9367-AA42F46A1A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CE5315-C8B5-C051-C64E-1FDABC9D63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67387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383E6-EA59-879A-AD44-5B84DD72DE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1900" y="534988"/>
            <a:ext cx="15422563" cy="1944687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F46430-44AD-4982-A328-10128CCFF5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31900" y="2465388"/>
            <a:ext cx="7564438" cy="120808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29C99C-17BE-5389-92FF-986A1B7875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31900" y="3673475"/>
            <a:ext cx="7564438" cy="54054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0DCE2DC-6258-8889-BBC0-7FD386A9E7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051925" y="2465388"/>
            <a:ext cx="7602538" cy="120808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92B53D6-2EF0-2DFE-888A-2DC5BC4E609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9051925" y="3673475"/>
            <a:ext cx="7602538" cy="54054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16F0C8C-C7E7-1770-71E3-27AE9A51CA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8D1734-28CB-9B19-88BE-2B1774206D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F03B469-0A09-35B4-A566-38F5B5688E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32195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323162-ED9D-E053-66FE-6F79A1F290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DE5DEC-AAFA-8170-8405-35F4E155D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01047D4-7073-0F9C-E4AF-41309F9CF8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6BD237-338D-1815-AEBF-4CFD783F27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15671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36B6C51-1C99-0732-ECC6-0963002C3F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E9EF89B-E810-8C07-72F3-013387BE5B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EF4F22-C628-E04C-706E-AA5431A601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1421049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DAEB82-FBC8-1407-4870-176091FDDA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1900" y="669925"/>
            <a:ext cx="5767388" cy="234791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0F970E-E956-E110-38B4-5F28CD8FB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2538" y="1447800"/>
            <a:ext cx="9051925" cy="71485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724D96-6021-C0EB-2DA1-900DC7C95E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31900" y="3017838"/>
            <a:ext cx="5767388" cy="558958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C8858B-CDAD-5303-6E88-E80BD464D1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C71FC0-44EE-F252-505A-4B7EB7A92F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923612-52E8-C8E6-569B-703068FD5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775149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B9D5F-A95D-CBB7-6483-F0BF2D6F07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1900" y="669925"/>
            <a:ext cx="5767388" cy="234791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88E6FBA-FA6C-8BB2-C6F4-DF0A303826E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7602538" y="1447800"/>
            <a:ext cx="9051925" cy="714851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EFCDAD-52D4-3CD8-D66B-D5D99E5DEA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31900" y="3017838"/>
            <a:ext cx="5767388" cy="558958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330917-F0BF-A86C-8FB2-087D8278B7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36B503-6CB6-320E-321A-9BDD3E1B95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6B7082-0B70-A0BE-A947-D1F0038A20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506868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94C825-A442-A8D2-6A3D-FC54B394D2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359A412-2FCE-FCFB-98CE-34CE1E14FF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676939-BFAB-F3FE-A96F-7679A7EA52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E1D564-4548-A45D-8186-0DF4B1C57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077B48-D508-C25C-98E7-E56DEC4421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1969602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1647346-89C6-58A8-202B-CFCD5DDE44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2796838" y="534988"/>
            <a:ext cx="3856037" cy="8524875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CD2D5AC-27FD-7679-E4AD-122410EBB3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228725" y="534988"/>
            <a:ext cx="11415713" cy="852487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CBBA63-2A82-A931-7A53-966A5C953F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D1DDB5-1B06-79B6-9171-69F5845C33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725511-8925-CE6D-89ED-AC49DA418F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809591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2FC913-49B1-2C83-890E-669F5FE8DD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35200" y="1646238"/>
            <a:ext cx="13411200" cy="3502025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920FA2-483C-8097-585F-98A6146B7F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35200" y="5283200"/>
            <a:ext cx="13411200" cy="2428875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09DB27-DD13-B642-56E9-9B0E8C5899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8EA49F-4769-35E0-BBE7-88B855000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57C44A-DA37-4418-2C3D-4EFB1BEEB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574937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F96B5-4A0C-CA4F-F8D1-1E85044282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85394B-119A-7A2B-9E35-4B08948ADF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E7F3E1-EC6C-AE58-912E-B57E091EC1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DBF682-1B15-9FF0-26CD-15CBCCF4D7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041351-4EC4-0F08-A0EF-2847DC4C5E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933424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B41A74-AED4-4D4F-D883-7528B010D3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0788" y="2508250"/>
            <a:ext cx="15422562" cy="4183063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95084A-77AD-B081-83B6-A1E03144C8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20788" y="6731000"/>
            <a:ext cx="15422562" cy="2200275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A7C515-C88C-F3D8-C825-8B15E37FC8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D907BE-4AAC-BD76-C704-48F89D2D5A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821E1B-AA60-F729-D670-AA78188333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802926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7986D-03D8-A5C9-E80C-FD6E0FF97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5BDDE4-4496-0F0B-5990-6655000860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28725" y="2678113"/>
            <a:ext cx="7635875" cy="638175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ABB70A-657D-2DE6-0A7E-778D90AF00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017000" y="2678113"/>
            <a:ext cx="7635875" cy="638175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D36918-A679-6F9B-D977-9C9EAFA3D4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E90FDE-1DF8-4B6A-BF5C-716892AAE2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54CA2D-1DF1-88FE-9FE2-0E814D2A5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9751088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8AF645-5CE5-B168-6B43-40CA943D94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1900" y="534988"/>
            <a:ext cx="15422563" cy="1944687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92097D-EA38-B2D0-2B5D-654D16FDEA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31900" y="2465388"/>
            <a:ext cx="7564438" cy="120808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62B49E-62FA-0AA0-0309-983ED60ADF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31900" y="3673475"/>
            <a:ext cx="7564438" cy="54054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FCDFD2B-7018-9033-D6B0-55A54EF319F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051925" y="2465388"/>
            <a:ext cx="7602538" cy="120808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8DF81AB-C360-4A5B-8381-0468E9A6921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9051925" y="3673475"/>
            <a:ext cx="7602538" cy="54054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0A25AD4-B86D-11D5-0906-589D4D7AD7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4EA6E8D-758C-8574-83A6-0FFF6B388E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3B08CE9-A337-9EE6-1848-193EF5EB8F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571079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65E82-DD24-69C8-F897-C9CF68DE63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517A71-F2AB-80E4-D5D1-555AD27F9D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821928-B55B-1BD6-7154-9A8D09F775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E14056-F0F8-5467-3371-F6D538630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721891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F3BBF1F-84B1-F14C-DF08-3CC5A9D120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002F8E5-53AD-B7B9-56C7-CF0708A0E5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08877C-B29C-E1AD-4FF0-694AF602A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794076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D7F5EC-BD54-4C57-2905-2638BCE3B6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1900" y="669925"/>
            <a:ext cx="5767388" cy="234791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1A94A2-8511-3703-59ED-11D91E8B46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2538" y="1447800"/>
            <a:ext cx="9051925" cy="71485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F72773-0F81-18AA-06A0-2A9E8E4603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31900" y="3017838"/>
            <a:ext cx="5767388" cy="558958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B1A696-4B59-26EC-C377-52D5ABFD61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94EB9E-4568-CA19-9D87-26F0303A19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72DF68-5C9B-FF05-E2DE-96967C3097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674974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0278E-EB47-5946-FBDC-52BD8B587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1900" y="669925"/>
            <a:ext cx="5767388" cy="234791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7E3C64C-F122-B580-01DE-42255BE1F25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7602538" y="1447800"/>
            <a:ext cx="9051925" cy="714851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CE1BACB-3305-14CA-25E9-849F8E4800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31900" y="3017838"/>
            <a:ext cx="5767388" cy="558958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146FD6-C194-BB73-FB99-9FCFCD0DE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7CD385-7505-9D9E-8A63-1A4BECAA97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3E9C46-9F59-87D4-B60C-FB6DD812A2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970470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D572CD-DAD2-69CF-F7D2-07F846F53E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EE4708-7AFE-82E2-5FBF-BBE13E80A1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8235D9-811A-525F-AEAC-6FC8413EB6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B0C02D-E2FA-8731-7606-FD524661CE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22B75D-4C59-F2CC-B2A1-BB774300E1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148394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7620155-ED36-03F4-05C3-A3F38A03506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2796838" y="534988"/>
            <a:ext cx="3856037" cy="8524875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B785B5E-336E-176F-B484-BF15DEDF83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228725" y="534988"/>
            <a:ext cx="11415713" cy="852487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FD05C8-48B0-A01D-C318-C32E137EC7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796688-290C-B16C-0907-38ABBA49C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470EAD-1DD5-2330-0121-B0B2AAA7F1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36595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13" Type="http://schemas.openxmlformats.org/officeDocument/2006/relationships/image" Target="../media/image5.sv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12" Type="http://schemas.openxmlformats.org/officeDocument/2006/relationships/image" Target="../media/image4.sv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11" Type="http://schemas.openxmlformats.org/officeDocument/2006/relationships/image" Target="../media/image3.svg"/><Relationship Id="rId5" Type="http://schemas.openxmlformats.org/officeDocument/2006/relationships/slideLayout" Target="../slideLayouts/slideLayout5.xml"/><Relationship Id="rId10" Type="http://schemas.openxmlformats.org/officeDocument/2006/relationships/hyperlink" Target="mailto:sales@completeconnect.co.uk?subject=MTP%20Fibre%20Cables" TargetMode="External"/><Relationship Id="rId4" Type="http://schemas.openxmlformats.org/officeDocument/2006/relationships/slideLayout" Target="../slideLayouts/slideLayout4.xml"/><Relationship Id="rId9" Type="http://schemas.openxmlformats.org/officeDocument/2006/relationships/hyperlink" Target="https://www.completeconnect.co.uk/40g-ethernet-mtp-mpo-fibre-networking/" TargetMode="Externa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3.xml"/><Relationship Id="rId3" Type="http://schemas.openxmlformats.org/officeDocument/2006/relationships/slideLayout" Target="../slideLayouts/slideLayout8.xml"/><Relationship Id="rId7" Type="http://schemas.openxmlformats.org/officeDocument/2006/relationships/slideLayout" Target="../slideLayouts/slideLayout12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6" Type="http://schemas.openxmlformats.org/officeDocument/2006/relationships/slideLayout" Target="../slideLayouts/slideLayout11.xml"/><Relationship Id="rId11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15.xml"/><Relationship Id="rId4" Type="http://schemas.openxmlformats.org/officeDocument/2006/relationships/slideLayout" Target="../slideLayouts/slideLayout9.xml"/><Relationship Id="rId9" Type="http://schemas.openxmlformats.org/officeDocument/2006/relationships/slideLayout" Target="../slideLayouts/slideLayout14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4.xml"/><Relationship Id="rId3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3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een and blue text on a black background&#10;&#10;Description automatically generated">
            <a:extLst>
              <a:ext uri="{FF2B5EF4-FFF2-40B4-BE49-F238E27FC236}">
                <a16:creationId xmlns:a16="http://schemas.microsoft.com/office/drawing/2014/main" id="{61283C21-452F-6F63-F846-3C81E4CC2930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486" y="317009"/>
            <a:ext cx="3533956" cy="853268"/>
          </a:xfrm>
          <a:prstGeom prst="rect">
            <a:avLst/>
          </a:prstGeom>
        </p:spPr>
      </p:pic>
      <p:pic>
        <p:nvPicPr>
          <p:cNvPr id="3" name="Picture 2" descr="A black background with a curved line&#10;&#10;Description automatically generated">
            <a:extLst>
              <a:ext uri="{FF2B5EF4-FFF2-40B4-BE49-F238E27FC236}">
                <a16:creationId xmlns:a16="http://schemas.microsoft.com/office/drawing/2014/main" id="{7EEF87CA-BD4C-4606-571B-3BC5807B1F1D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7803" y="6024880"/>
            <a:ext cx="10083797" cy="403351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19769B4-2DE1-B12A-B227-4A3F7D156652}"/>
              </a:ext>
            </a:extLst>
          </p:cNvPr>
          <p:cNvSpPr txBox="1"/>
          <p:nvPr userDrawn="1"/>
        </p:nvSpPr>
        <p:spPr>
          <a:xfrm>
            <a:off x="791073" y="9601200"/>
            <a:ext cx="42672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4455"/>
                </a:solidFill>
              </a:rPr>
              <a:t>Company No. 07246926. Registered in England and Wales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A7DEC85-7F22-0674-9FC8-A098A74C1D68}"/>
              </a:ext>
            </a:extLst>
          </p:cNvPr>
          <p:cNvSpPr txBox="1"/>
          <p:nvPr userDrawn="1"/>
        </p:nvSpPr>
        <p:spPr>
          <a:xfrm>
            <a:off x="9793167" y="9601200"/>
            <a:ext cx="18337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solidFill>
                  <a:srgbClr val="004455"/>
                </a:solidFill>
                <a:hlinkClick r:id="rId9"/>
              </a:rPr>
              <a:t>completeconnect</a:t>
            </a:r>
            <a:endParaRPr lang="en-US" sz="1200" dirty="0">
              <a:solidFill>
                <a:srgbClr val="004455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987C00-052F-F0F0-7FA4-E52483B1D671}"/>
              </a:ext>
            </a:extLst>
          </p:cNvPr>
          <p:cNvSpPr txBox="1"/>
          <p:nvPr userDrawn="1"/>
        </p:nvSpPr>
        <p:spPr>
          <a:xfrm>
            <a:off x="12655959" y="9601200"/>
            <a:ext cx="23159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4455"/>
                </a:solidFill>
                <a:hlinkClick r:id="rId10"/>
              </a:rPr>
              <a:t>sales@completeconnect.co.uk</a:t>
            </a:r>
            <a:endParaRPr lang="en-US" sz="1200" dirty="0">
              <a:solidFill>
                <a:srgbClr val="004455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408A05-685C-4C78-A98E-86FDE110D3BD}"/>
              </a:ext>
            </a:extLst>
          </p:cNvPr>
          <p:cNvSpPr txBox="1"/>
          <p:nvPr userDrawn="1"/>
        </p:nvSpPr>
        <p:spPr>
          <a:xfrm>
            <a:off x="15825810" y="9601200"/>
            <a:ext cx="16705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4455"/>
                </a:solidFill>
              </a:rPr>
              <a:t>+44 (0)20 8286 6529</a:t>
            </a:r>
          </a:p>
        </p:txBody>
      </p:sp>
      <p:pic>
        <p:nvPicPr>
          <p:cNvPr id="8" name="Graphic 7" descr="Internet outline">
            <a:extLst>
              <a:ext uri="{FF2B5EF4-FFF2-40B4-BE49-F238E27FC236}">
                <a16:creationId xmlns:a16="http://schemas.microsoft.com/office/drawing/2014/main" id="{D9166DC4-01AC-38D5-B802-AB8F66157A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342836" y="9573953"/>
            <a:ext cx="381000" cy="381000"/>
          </a:xfrm>
          <a:prstGeom prst="rect">
            <a:avLst/>
          </a:prstGeom>
        </p:spPr>
      </p:pic>
      <p:pic>
        <p:nvPicPr>
          <p:cNvPr id="9" name="Graphic 8" descr="Receiver outline">
            <a:extLst>
              <a:ext uri="{FF2B5EF4-FFF2-40B4-BE49-F238E27FC236}">
                <a16:creationId xmlns:a16="http://schemas.microsoft.com/office/drawing/2014/main" id="{2CD260E5-6D11-AA23-5C79-A60A5BF7B0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438932" y="9623685"/>
            <a:ext cx="281536" cy="281536"/>
          </a:xfrm>
          <a:prstGeom prst="rect">
            <a:avLst/>
          </a:prstGeom>
        </p:spPr>
      </p:pic>
      <p:pic>
        <p:nvPicPr>
          <p:cNvPr id="10" name="Graphic 9" descr="Envelope outline">
            <a:hlinkClick r:id="rId10"/>
            <a:extLst>
              <a:ext uri="{FF2B5EF4-FFF2-40B4-BE49-F238E27FC236}">
                <a16:creationId xmlns:a16="http://schemas.microsoft.com/office/drawing/2014/main" id="{5AACFDA2-A934-02E0-CEE2-64436357449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2193763" y="9601200"/>
            <a:ext cx="326506" cy="326506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E0CA8B0-CC93-4FB3-780C-5D38989E0CB7}"/>
              </a:ext>
            </a:extLst>
          </p:cNvPr>
          <p:cNvCxnSpPr>
            <a:cxnSpLocks/>
          </p:cNvCxnSpPr>
          <p:nvPr userDrawn="1"/>
        </p:nvCxnSpPr>
        <p:spPr>
          <a:xfrm>
            <a:off x="482600" y="1371600"/>
            <a:ext cx="17013732" cy="0"/>
          </a:xfrm>
          <a:prstGeom prst="line">
            <a:avLst/>
          </a:prstGeom>
          <a:ln w="15875">
            <a:solidFill>
              <a:srgbClr val="0044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15182DF-541B-BE09-DCAA-4D7FEBEF0EFF}"/>
              </a:ext>
            </a:extLst>
          </p:cNvPr>
          <p:cNvCxnSpPr>
            <a:cxnSpLocks/>
          </p:cNvCxnSpPr>
          <p:nvPr userDrawn="1"/>
        </p:nvCxnSpPr>
        <p:spPr>
          <a:xfrm>
            <a:off x="482600" y="1371600"/>
            <a:ext cx="17013732" cy="0"/>
          </a:xfrm>
          <a:prstGeom prst="line">
            <a:avLst/>
          </a:prstGeom>
          <a:ln w="15875">
            <a:solidFill>
              <a:srgbClr val="0044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F52B809-65DD-1F4D-4524-76C110A826E5}"/>
              </a:ext>
            </a:extLst>
          </p:cNvPr>
          <p:cNvSpPr txBox="1"/>
          <p:nvPr userDrawn="1"/>
        </p:nvSpPr>
        <p:spPr>
          <a:xfrm>
            <a:off x="15298061" y="533400"/>
            <a:ext cx="220979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745"/>
              </a:spcBef>
            </a:pPr>
            <a:r>
              <a:rPr lang="en-US" sz="2800" b="1" i="0" dirty="0">
                <a:solidFill>
                  <a:srgbClr val="004455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Transceivers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82B990C-8109-F153-A609-A640D92F1010}"/>
              </a:ext>
            </a:extLst>
          </p:cNvPr>
          <p:cNvCxnSpPr>
            <a:cxnSpLocks/>
          </p:cNvCxnSpPr>
          <p:nvPr userDrawn="1"/>
        </p:nvCxnSpPr>
        <p:spPr>
          <a:xfrm>
            <a:off x="205591" y="915549"/>
            <a:ext cx="1754299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AD93333-EEE0-4EF8-B70B-B460586830E0}"/>
              </a:ext>
            </a:extLst>
          </p:cNvPr>
          <p:cNvCxnSpPr>
            <a:cxnSpLocks/>
          </p:cNvCxnSpPr>
          <p:nvPr userDrawn="1"/>
        </p:nvCxnSpPr>
        <p:spPr>
          <a:xfrm flipH="1">
            <a:off x="9305257" y="719607"/>
            <a:ext cx="7021" cy="835097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E43D97B-29D7-80B5-4C49-64420C7B6940}"/>
              </a:ext>
            </a:extLst>
          </p:cNvPr>
          <p:cNvCxnSpPr>
            <a:cxnSpLocks/>
          </p:cNvCxnSpPr>
          <p:nvPr userDrawn="1"/>
        </p:nvCxnSpPr>
        <p:spPr>
          <a:xfrm>
            <a:off x="466222" y="973681"/>
            <a:ext cx="0" cy="826047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22F178E-4CC5-3F05-49A1-CF92C0A17347}"/>
              </a:ext>
            </a:extLst>
          </p:cNvPr>
          <p:cNvCxnSpPr>
            <a:cxnSpLocks/>
          </p:cNvCxnSpPr>
          <p:nvPr userDrawn="1"/>
        </p:nvCxnSpPr>
        <p:spPr>
          <a:xfrm>
            <a:off x="8625193" y="739580"/>
            <a:ext cx="0" cy="83804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270759A-05EF-B74E-9D1D-37FE7F424EE8}"/>
              </a:ext>
            </a:extLst>
          </p:cNvPr>
          <p:cNvCxnSpPr>
            <a:cxnSpLocks/>
          </p:cNvCxnSpPr>
          <p:nvPr userDrawn="1"/>
        </p:nvCxnSpPr>
        <p:spPr>
          <a:xfrm>
            <a:off x="17399000" y="739580"/>
            <a:ext cx="0" cy="833100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98747A4-FA00-B925-3810-77E538B320D6}"/>
              </a:ext>
            </a:extLst>
          </p:cNvPr>
          <p:cNvCxnSpPr>
            <a:cxnSpLocks/>
          </p:cNvCxnSpPr>
          <p:nvPr userDrawn="1"/>
        </p:nvCxnSpPr>
        <p:spPr>
          <a:xfrm flipV="1">
            <a:off x="169302" y="1930108"/>
            <a:ext cx="17542993" cy="108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81355491-B010-8761-5430-75D42848367F}"/>
              </a:ext>
            </a:extLst>
          </p:cNvPr>
          <p:cNvCxnSpPr>
            <a:cxnSpLocks/>
          </p:cNvCxnSpPr>
          <p:nvPr userDrawn="1"/>
        </p:nvCxnSpPr>
        <p:spPr>
          <a:xfrm>
            <a:off x="169303" y="1703312"/>
            <a:ext cx="1754299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4D22106-7DAD-6CFA-0B81-93CF3A83BBED}"/>
              </a:ext>
            </a:extLst>
          </p:cNvPr>
          <p:cNvCxnSpPr>
            <a:cxnSpLocks/>
          </p:cNvCxnSpPr>
          <p:nvPr userDrawn="1"/>
        </p:nvCxnSpPr>
        <p:spPr>
          <a:xfrm>
            <a:off x="166255" y="2355274"/>
            <a:ext cx="1738745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52">
        <a:defRPr>
          <a:latin typeface="+mn-lt"/>
          <a:ea typeface="+mn-ea"/>
          <a:cs typeface="+mn-cs"/>
        </a:defRPr>
      </a:lvl2pPr>
      <a:lvl3pPr marL="914504">
        <a:defRPr>
          <a:latin typeface="+mn-lt"/>
          <a:ea typeface="+mn-ea"/>
          <a:cs typeface="+mn-cs"/>
        </a:defRPr>
      </a:lvl3pPr>
      <a:lvl4pPr marL="1371757">
        <a:defRPr>
          <a:latin typeface="+mn-lt"/>
          <a:ea typeface="+mn-ea"/>
          <a:cs typeface="+mn-cs"/>
        </a:defRPr>
      </a:lvl4pPr>
      <a:lvl5pPr marL="1829009">
        <a:defRPr>
          <a:latin typeface="+mn-lt"/>
          <a:ea typeface="+mn-ea"/>
          <a:cs typeface="+mn-cs"/>
        </a:defRPr>
      </a:lvl5pPr>
      <a:lvl6pPr marL="2286261">
        <a:defRPr>
          <a:latin typeface="+mn-lt"/>
          <a:ea typeface="+mn-ea"/>
          <a:cs typeface="+mn-cs"/>
        </a:defRPr>
      </a:lvl6pPr>
      <a:lvl7pPr marL="2743513">
        <a:defRPr>
          <a:latin typeface="+mn-lt"/>
          <a:ea typeface="+mn-ea"/>
          <a:cs typeface="+mn-cs"/>
        </a:defRPr>
      </a:lvl7pPr>
      <a:lvl8pPr marL="3200766">
        <a:defRPr>
          <a:latin typeface="+mn-lt"/>
          <a:ea typeface="+mn-ea"/>
          <a:cs typeface="+mn-cs"/>
        </a:defRPr>
      </a:lvl8pPr>
      <a:lvl9pPr marL="3658018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52">
        <a:defRPr>
          <a:latin typeface="+mn-lt"/>
          <a:ea typeface="+mn-ea"/>
          <a:cs typeface="+mn-cs"/>
        </a:defRPr>
      </a:lvl2pPr>
      <a:lvl3pPr marL="914504">
        <a:defRPr>
          <a:latin typeface="+mn-lt"/>
          <a:ea typeface="+mn-ea"/>
          <a:cs typeface="+mn-cs"/>
        </a:defRPr>
      </a:lvl3pPr>
      <a:lvl4pPr marL="1371757">
        <a:defRPr>
          <a:latin typeface="+mn-lt"/>
          <a:ea typeface="+mn-ea"/>
          <a:cs typeface="+mn-cs"/>
        </a:defRPr>
      </a:lvl4pPr>
      <a:lvl5pPr marL="1829009">
        <a:defRPr>
          <a:latin typeface="+mn-lt"/>
          <a:ea typeface="+mn-ea"/>
          <a:cs typeface="+mn-cs"/>
        </a:defRPr>
      </a:lvl5pPr>
      <a:lvl6pPr marL="2286261">
        <a:defRPr>
          <a:latin typeface="+mn-lt"/>
          <a:ea typeface="+mn-ea"/>
          <a:cs typeface="+mn-cs"/>
        </a:defRPr>
      </a:lvl6pPr>
      <a:lvl7pPr marL="2743513">
        <a:defRPr>
          <a:latin typeface="+mn-lt"/>
          <a:ea typeface="+mn-ea"/>
          <a:cs typeface="+mn-cs"/>
        </a:defRPr>
      </a:lvl7pPr>
      <a:lvl8pPr marL="3200766">
        <a:defRPr>
          <a:latin typeface="+mn-lt"/>
          <a:ea typeface="+mn-ea"/>
          <a:cs typeface="+mn-cs"/>
        </a:defRPr>
      </a:lvl8pPr>
      <a:lvl9pPr marL="3658018">
        <a:defRPr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98446A5-3B7E-E6D3-795D-78F23C4E3A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8725" y="534988"/>
            <a:ext cx="15424150" cy="19446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F534B1-340F-C6CA-09A0-C9BE912C7F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28725" y="2678113"/>
            <a:ext cx="15424150" cy="63817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EBDA90-FFEB-DB3F-099C-42F41FBC41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28725" y="9323388"/>
            <a:ext cx="4024313" cy="53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30578D-ADBC-4580-A3C5-AC7FCBB33A82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E1CAC0-E1AC-A776-C698-35F9C4A552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922963" y="9323388"/>
            <a:ext cx="6035675" cy="53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C55CF4-F035-755D-9B77-F2E69BCF13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628563" y="9323388"/>
            <a:ext cx="4024312" cy="53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01438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66B1D7A-0C78-CC8F-FEEC-DF17CF28C1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8725" y="534988"/>
            <a:ext cx="15424150" cy="19446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81808D-446C-6A40-5868-6E3639087E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28725" y="2678113"/>
            <a:ext cx="15424150" cy="63817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583977-E5E1-777C-8277-5E9FBBB15F1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28725" y="9323388"/>
            <a:ext cx="4024313" cy="53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8C35473-3B45-4864-9A06-986AD3C566C4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9F1DF9-2197-F744-FA97-892C28C0C4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922963" y="9323388"/>
            <a:ext cx="6035675" cy="53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2C9A84-A848-B8E5-7191-F11A4DDF79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628563" y="9323388"/>
            <a:ext cx="4024312" cy="53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24577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556491" y="1435162"/>
            <a:ext cx="7729509" cy="7775847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1"/>
            <a:r>
              <a:rPr lang="en-GB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Product Summary</a:t>
            </a:r>
          </a:p>
          <a:p>
            <a:pPr marL="12701"/>
            <a:endParaRPr lang="en-GB" b="1" spc="-1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Supports {{</a:t>
            </a:r>
            <a:r>
              <a:rPr lang="en-GB" sz="12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data_rate</a:t>
            </a: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}} {{modulation}}{{</a:t>
            </a:r>
            <a:r>
              <a:rPr lang="en-GB" sz="12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lane_config</a:t>
            </a: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{{feature_1}}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{{feature_2}}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{{feature_3}}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{{feature_4}}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{{feature_5}}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{{feature_6}}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{{feature_7}}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{{feature_8}}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{{feature_9}}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{{feature_10}}</a:t>
            </a:r>
          </a:p>
          <a:p>
            <a:pPr marL="298450" indent="-285750"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{{feature_11}}</a:t>
            </a:r>
          </a:p>
          <a:p>
            <a:pPr marL="298450" indent="-285750"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{{feature_12}}</a:t>
            </a:r>
          </a:p>
          <a:p>
            <a:pPr marL="298450" indent="-285750"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endParaRPr lang="en-GB" spc="-1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2700">
              <a:spcBef>
                <a:spcPts val="685"/>
              </a:spcBef>
              <a:buClr>
                <a:srgbClr val="40AD49"/>
              </a:buClr>
              <a:tabLst>
                <a:tab pos="278765" algn="l"/>
              </a:tabLst>
            </a:pPr>
            <a:r>
              <a:rPr lang="en-GB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Applications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/>
              <a:t>{{application_1}}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/>
              <a:t>{{application_2}}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/>
              <a:t>{{application_3}}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/>
              <a:t>{{application_4}}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endParaRPr lang="fr-FR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2700">
              <a:spcBef>
                <a:spcPts val="685"/>
              </a:spcBef>
              <a:buClr>
                <a:srgbClr val="40AD49"/>
              </a:buClr>
              <a:tabLst>
                <a:tab pos="278765" algn="l"/>
              </a:tabLst>
            </a:pPr>
            <a:r>
              <a:rPr lang="en-GB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Standards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r>
              <a:rPr lang="en-GB" sz="1200" dirty="0"/>
              <a:t>{{standard_1}}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r>
              <a:rPr lang="en-GB" sz="1200" dirty="0"/>
              <a:t>{{standard_2}}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r>
              <a:rPr lang="en-GB" sz="1200" dirty="0"/>
              <a:t>{{standard_3}}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endParaRPr lang="de-DE" sz="1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243E9A0-A15C-9A4D-8514-AC4D4AEE898D}"/>
              </a:ext>
            </a:extLst>
          </p:cNvPr>
          <p:cNvSpPr txBox="1"/>
          <p:nvPr/>
        </p:nvSpPr>
        <p:spPr>
          <a:xfrm>
            <a:off x="3898191" y="389427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C927628-11BC-6464-32C3-B18C53059406}"/>
              </a:ext>
            </a:extLst>
          </p:cNvPr>
          <p:cNvSpPr txBox="1"/>
          <p:nvPr/>
        </p:nvSpPr>
        <p:spPr>
          <a:xfrm>
            <a:off x="10948504" y="3721100"/>
            <a:ext cx="503172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</a:t>
            </a:r>
            <a:r>
              <a:rPr lang="en-GB" sz="20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technical_drawing</a:t>
            </a:r>
            <a:r>
              <a:rPr lang="en-GB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}} (image placeholder)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127006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4AD5DD-AAD6-8C34-8724-F39D03786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bject 4">
            <a:extLst>
              <a:ext uri="{FF2B5EF4-FFF2-40B4-BE49-F238E27FC236}">
                <a16:creationId xmlns:a16="http://schemas.microsoft.com/office/drawing/2014/main" id="{49F2ECAF-88C9-8FD4-BEFD-C8DB68538278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Ordering Information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3" name="object 5">
            <a:extLst>
              <a:ext uri="{FF2B5EF4-FFF2-40B4-BE49-F238E27FC236}">
                <a16:creationId xmlns:a16="http://schemas.microsoft.com/office/drawing/2014/main" id="{9FAD36F3-A019-9979-C287-C3B7092BB8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3290899"/>
              </p:ext>
            </p:extLst>
          </p:nvPr>
        </p:nvGraphicFramePr>
        <p:xfrm>
          <a:off x="483205" y="1943757"/>
          <a:ext cx="16933937" cy="348458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116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972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62529">
                  <a:extLst>
                    <a:ext uri="{9D8B030D-6E8A-4147-A177-3AD203B41FA5}">
                      <a16:colId xmlns:a16="http://schemas.microsoft.com/office/drawing/2014/main" val="2134188741"/>
                    </a:ext>
                  </a:extLst>
                </a:gridCol>
                <a:gridCol w="3062513">
                  <a:extLst>
                    <a:ext uri="{9D8B030D-6E8A-4147-A177-3AD203B41FA5}">
                      <a16:colId xmlns:a16="http://schemas.microsoft.com/office/drawing/2014/main" val="2661050408"/>
                    </a:ext>
                  </a:extLst>
                </a:gridCol>
              </a:tblGrid>
              <a:tr h="646151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Part Number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Description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Compatibility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Branded Equiv.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{{part_number_1}}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{{part_description_1}}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{{compatibility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_1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{{branded_equiv_1}}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{{part_number_2}}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{{part_description_2}}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{{compatibility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_2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{{branded_equiv_2}}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{{part_number_3}}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{{part_description_3}}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{{compatibility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_3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{{branded_equiv_3}}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{{part_number_4}}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{{part_description_4}}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{{compatibility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_4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{{branded_equiv_4}}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B0BBAE9C-2671-E462-8467-EFDF350A34D0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41168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44887-CBFA-9A72-8D62-51C2ADF29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6DA22369-6E79-960D-BE16-C21E0A438E3A}"/>
              </a:ext>
            </a:extLst>
          </p:cNvPr>
          <p:cNvSpPr txBox="1"/>
          <p:nvPr/>
        </p:nvSpPr>
        <p:spPr>
          <a:xfrm>
            <a:off x="4338818" y="9543848"/>
            <a:ext cx="799288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480"/>
              </a:spcBef>
              <a:tabLst>
                <a:tab pos="240665" algn="l"/>
              </a:tabLst>
            </a:pP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1.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	Suggested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&lt;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700mVpp</a:t>
            </a:r>
            <a:r>
              <a:rPr lang="en-GB" sz="1100" spc="-1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input</a:t>
            </a:r>
            <a:r>
              <a:rPr lang="en-GB" sz="1100" spc="-2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differential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signal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for</a:t>
            </a:r>
            <a:r>
              <a:rPr lang="en-GB" sz="1100" spc="-2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better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BER</a:t>
            </a:r>
            <a:r>
              <a:rPr lang="en-GB" sz="1100" spc="-1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performance</a:t>
            </a:r>
            <a:endParaRPr lang="en-GB" sz="11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5" name="object 4">
            <a:extLst>
              <a:ext uri="{FF2B5EF4-FFF2-40B4-BE49-F238E27FC236}">
                <a16:creationId xmlns:a16="http://schemas.microsoft.com/office/drawing/2014/main" id="{ACF851AF-DA79-D8DD-1C82-91C2CC992DFF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Absolute Maximum ratings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9" name="object 5">
            <a:extLst>
              <a:ext uri="{FF2B5EF4-FFF2-40B4-BE49-F238E27FC236}">
                <a16:creationId xmlns:a16="http://schemas.microsoft.com/office/drawing/2014/main" id="{A167D262-453D-BE49-43AD-2C6F7B82D1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276908"/>
              </p:ext>
            </p:extLst>
          </p:nvPr>
        </p:nvGraphicFramePr>
        <p:xfrm>
          <a:off x="483205" y="1943755"/>
          <a:ext cx="8851295" cy="539813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1263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7616">
                  <a:extLst>
                    <a:ext uri="{9D8B030D-6E8A-4147-A177-3AD203B41FA5}">
                      <a16:colId xmlns:a16="http://schemas.microsoft.com/office/drawing/2014/main" val="529331216"/>
                    </a:ext>
                  </a:extLst>
                </a:gridCol>
                <a:gridCol w="1217729">
                  <a:extLst>
                    <a:ext uri="{9D8B030D-6E8A-4147-A177-3AD203B41FA5}">
                      <a16:colId xmlns:a16="http://schemas.microsoft.com/office/drawing/2014/main" val="3728811590"/>
                    </a:ext>
                  </a:extLst>
                </a:gridCol>
                <a:gridCol w="12337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3761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254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277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37332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6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Notes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69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Storage Temperature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abs_storage_temp_symbol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abs_storage_temp_min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abs_storage_temp_typical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abs_storage_temp_max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abs_storage_temp_unit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abs_storage_temp_notes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69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Operating Case Temperature 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abs_operating_case_temp_symbol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abs_operating_case_temp_min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abs_operating_case_temp_typical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abs_operating_case_temp_max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abs_operating_case_temp_unit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abs_operating_case_temp_notes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69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Power Supply voltage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abs_supply_voltage_symbol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abs_supply_voltage_min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abs_supply_voltage_typical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abs_supply_voltage_max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abs_supply_voltage_unit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abs_supply_voltage_notes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3875897"/>
                  </a:ext>
                </a:extLst>
              </a:tr>
              <a:tr h="3769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Relative Humidity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abs_relative_humidity_symbol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abs_relative_humidity_min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abs_relative_humidity_typical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abs_relative_humidity_max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abs_relative_humidity_unit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abs_relative_humidity_notes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633634"/>
                  </a:ext>
                </a:extLst>
              </a:tr>
              <a:tr h="3769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Damage Power (P max)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abs_damage_power_symbol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abs_damage_power_min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abs_damage_power_typical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abs_damage_power_max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abs_damage_power_unit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abs_damage_power_notes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3907602"/>
                  </a:ext>
                </a:extLst>
              </a:tr>
              <a:tr h="37695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ESD Rating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abs_esd_symbol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abs_esd_min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abs_esd_typical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abs_esd_max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abs_esd_unit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abs_esd_notes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3951239"/>
                  </a:ext>
                </a:extLst>
              </a:tr>
              <a:tr h="3769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Input Voltage on Control Pins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abs_input_voltage_symbol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abs_input_voltage_min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abs_input_voltage_typical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abs_input_voltage_max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abs_input_voltage_unit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abs_input_voltage_notes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553202"/>
                  </a:ext>
                </a:extLst>
              </a:tr>
              <a:tr h="3769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Optical Input Power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abs_optical_input_power_symbol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abs_optical_input_power_min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abs_optical_input_power_typical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abs_optical_input_power_max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abs_optical_input_power_unit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abs_optical_input_power_notes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9756227"/>
                  </a:ext>
                </a:extLst>
              </a:tr>
              <a:tr h="3769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Module Case Temperature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abs_module_case_temp_symbol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abs_module_case_temp_min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abs_module_case_temp_typical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abs_module_case_temp_max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abs_module_case_temp_unit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abs_module_case_temp_notes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7000990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F89818F4-387E-FBC9-D084-DE20E419ACE4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64157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31BCEACB-F024-585B-328A-53684BAAE798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2" name="object 4">
            <a:extLst>
              <a:ext uri="{FF2B5EF4-FFF2-40B4-BE49-F238E27FC236}">
                <a16:creationId xmlns:a16="http://schemas.microsoft.com/office/drawing/2014/main" id="{CB374B85-340C-94FD-D5A5-C395B605A14E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Recommended Operating Conditions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4" name="object 5">
            <a:extLst>
              <a:ext uri="{FF2B5EF4-FFF2-40B4-BE49-F238E27FC236}">
                <a16:creationId xmlns:a16="http://schemas.microsoft.com/office/drawing/2014/main" id="{820F295F-6310-7178-38E4-57F81E556E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8467945"/>
              </p:ext>
            </p:extLst>
          </p:nvPr>
        </p:nvGraphicFramePr>
        <p:xfrm>
          <a:off x="483205" y="1943759"/>
          <a:ext cx="8838594" cy="580961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678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7552">
                  <a:extLst>
                    <a:ext uri="{9D8B030D-6E8A-4147-A177-3AD203B41FA5}">
                      <a16:colId xmlns:a16="http://schemas.microsoft.com/office/drawing/2014/main" val="529331216"/>
                    </a:ext>
                  </a:extLst>
                </a:gridCol>
                <a:gridCol w="1224436">
                  <a:extLst>
                    <a:ext uri="{9D8B030D-6E8A-4147-A177-3AD203B41FA5}">
                      <a16:colId xmlns:a16="http://schemas.microsoft.com/office/drawing/2014/main" val="3728811590"/>
                    </a:ext>
                  </a:extLst>
                </a:gridCol>
                <a:gridCol w="12405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87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311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431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00070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6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Notes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Power Supply Voltage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op_supply_voltage_symbol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op_supply_voltage_min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op_supply_voltage_typical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op_supply_voltage_max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op_supply_voltage_unit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op_supply_voltage_notes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Power Input Voltage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op_power_input_voltage_symbol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kumimoji="0" lang="en-GB" sz="105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op_power_input_voltage_min</a:t>
                      </a:r>
                      <a:r>
                        <a:rPr kumimoji="0" lang="en-GB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kumimoji="0" lang="en-GB" sz="105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op_power_input_voltage_typical</a:t>
                      </a:r>
                      <a:r>
                        <a:rPr kumimoji="0" lang="en-GB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kumimoji="0" lang="en-GB" sz="105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op_power_input_voltage_max</a:t>
                      </a:r>
                      <a:r>
                        <a:rPr kumimoji="0" lang="en-GB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kumimoji="0" lang="en-GB" sz="105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op_power_input_voltage_unit</a:t>
                      </a:r>
                      <a:r>
                        <a:rPr kumimoji="0" lang="en-GB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kumimoji="0" lang="en-GB" sz="105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op_power_input_voltage_notes</a:t>
                      </a:r>
                      <a:r>
                        <a:rPr kumimoji="0" lang="en-GB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6583408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Operating Case Temperature 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op_case_temp_symbol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op_case_temp_min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op_case_temp_typical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op_case_temp_max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op_case_temp_unit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op_case_temp_notes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5865101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Storage Temperature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op_storage_temp_symbol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op_storage_temp_min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op_storage_temp_typical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op_storage_temp_max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op_storage_temp_unit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op_storage_temp_notes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1946445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Data Rate Accuracy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op_data_rate_accuracy_symbol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op_data_rate_accuracy_min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op_data_rate_accuracy_typical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op_data_rate_accuracy_max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op_data_rate_accuracy_unit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op_data_rate_accuracy_notes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396688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Supply Current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op_supply_current_symbol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op_supply_current_min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op_supply_current_typical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op_supply_current_max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op_supply_current_unit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op_supply_current_notes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633634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Data Rate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3907602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Pre-FEC BER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op_pre_fec_symbol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op_pre_fec_min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op_pre_fec_typical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op_pre_fec_max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op_pre_fec_unit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op_pre_fec_notes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553202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Post-FEC BER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op_post_fec_ber_symbol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op_post_fec_ber_min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op_post_fec_ber_typical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op_post_fec_ber_max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op_post_fec_ber_unit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op_post_fec_ber_notes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9756227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 marL="92075" marR="15875" indent="0" algn="l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Fiber Length 9/125</a:t>
                      </a:r>
                      <a:r>
                        <a:rPr lang="el-GR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μ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 core SMF</a:t>
                      </a: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7000990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FEC Requirement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op_fec_requirment_symbol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op_fec_requirment_min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op_fec_requirment_typical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op_fec_requirment_max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op_fec_requirment_unit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op_fec_requirment_notes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0419529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Power Dissipation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op_power_dissipation_symbol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op_power_dissipation_min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op_power_dissipation_typical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op_power_dissipation_max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op_power_dissipation_unit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op_power_dissipation_notes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82447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200493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>
            <a:extLst>
              <a:ext uri="{FF2B5EF4-FFF2-40B4-BE49-F238E27FC236}">
                <a16:creationId xmlns:a16="http://schemas.microsoft.com/office/drawing/2014/main" id="{862E104E-01DA-8B22-2A74-627584C384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0049784"/>
              </p:ext>
            </p:extLst>
          </p:nvPr>
        </p:nvGraphicFramePr>
        <p:xfrm>
          <a:off x="488045" y="1953519"/>
          <a:ext cx="8833753" cy="678154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741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721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656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840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5748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5748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57483">
                  <a:extLst>
                    <a:ext uri="{9D8B030D-6E8A-4147-A177-3AD203B41FA5}">
                      <a16:colId xmlns:a16="http://schemas.microsoft.com/office/drawing/2014/main" val="902713350"/>
                    </a:ext>
                  </a:extLst>
                </a:gridCol>
              </a:tblGrid>
              <a:tr h="108965">
                <a:tc>
                  <a:txBody>
                    <a:bodyPr/>
                    <a:lstStyle/>
                    <a:p>
                      <a:pPr marL="619760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Parameter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Symbol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Typical</a:t>
                      </a:r>
                      <a:endParaRPr lang="en-GB"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Unit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 algn="l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Notes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3131">
                <a:tc rowSpan="8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Centre Wavelength</a:t>
                      </a: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L0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{{rx_wavelength_l0_min}}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{{rx_wavelength_l0_typical}}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{{rx_wavelength_l0_max}}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 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3131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L1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{{rx_wavelength_l1_min}}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{{rx_wavelength_l1_typical}}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{{rx_wavelength_l1_max}}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49271970"/>
                  </a:ext>
                </a:extLst>
              </a:tr>
              <a:tr h="194180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L2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7945" algn="ctr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{{rx_wavelength_l2_min}}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92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{{rx_wavelength_l2_typical}}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{{rx_wavelength_l2_max}}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62148244"/>
                  </a:ext>
                </a:extLst>
              </a:tr>
              <a:tr h="193131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L3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{{rx_wavelength_l3_min}}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{{rx_wavelength_l3_typical}}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{{rx_wavelength_l3_max}}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1641949"/>
                  </a:ext>
                </a:extLst>
              </a:tr>
              <a:tr h="193131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L4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{{rx_wavelength_l4_min}}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{{rx_wavelength_l4_typical}}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{{rx_wavelength_l4_max}}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00762399"/>
                  </a:ext>
                </a:extLst>
              </a:tr>
              <a:tr h="193131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L5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{{rx_wavelength_l5_min}}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{{rx_wavelength_l5_typical}}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{{rx_wavelength_l5_max}}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8269554"/>
                  </a:ext>
                </a:extLst>
              </a:tr>
              <a:tr h="193131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L6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{{rx_wavelength_l6_min}}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{{rx_wavelength_l6_typical}}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{{rx_wavelength_l6_max}}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135669"/>
                  </a:ext>
                </a:extLst>
              </a:tr>
              <a:tr h="193131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L7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{{rx_wavelength_l7_min}}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{{rx_wavelength_l7_typical}}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{{rx_wavelength_l7_max}}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01514542"/>
                  </a:ext>
                </a:extLst>
              </a:tr>
              <a:tr h="38454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Data Rate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tx_data_rate_symbol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  <a:p>
                      <a:pPr algn="ctr">
                        <a:buNone/>
                      </a:pPr>
                      <a:endParaRPr lang="en-GB"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tx_data_rate_min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tx_data_rate_typ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tx_data_rate_max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tx_data_rate_unit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tx_data_rate_notes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  <a:p>
                      <a:pPr algn="ctr">
                        <a:buNone/>
                      </a:pPr>
                      <a:endParaRPr lang="en-GB"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75006905"/>
                  </a:ext>
                </a:extLst>
              </a:tr>
              <a:tr h="25393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Modulation Format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tx_modulation_format_symbol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tx_modulation_format_min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tx_modulation_format_typical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tx_modulation_format_max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tx_modulation_format_unit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tx_modulation_format_notes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3662731"/>
                  </a:ext>
                </a:extLst>
              </a:tr>
              <a:tr h="3009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Average Launch Power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tx_launched_power_lane_symbol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tx_launched_power_lane_min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tx_launched_power_lane_typical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tx_launched_power_lane_max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tx_launched_power_lane_unit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tx_launched_power_lane_notes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78090106"/>
                  </a:ext>
                </a:extLst>
              </a:tr>
              <a:tr h="3009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Optical Modulation Amplitude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tx_optical_modulation_amplitude_symbol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tx_optical_modulation_amplitude_min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tx_optical_modulation_amplitude_typical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tx_optical_modulation_amplitude_max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tx_optical_modulation_amplitude_unit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tx_optical_modulation_amplitude_notes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89019431"/>
                  </a:ext>
                </a:extLst>
              </a:tr>
              <a:tr h="2517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Side Mode Suppression Radio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/>
                        <a:t>{{</a:t>
                      </a:r>
                      <a:r>
                        <a:rPr lang="en-GB" sz="1000" dirty="0" err="1"/>
                        <a:t>tx_smsr_symbol</a:t>
                      </a:r>
                      <a:r>
                        <a:rPr lang="en-GB" sz="1000" dirty="0"/>
                        <a:t>}}</a:t>
                      </a:r>
                      <a:endParaRPr lang="en-GB"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/>
                        <a:t>{{</a:t>
                      </a:r>
                      <a:r>
                        <a:rPr lang="en-GB" sz="1000" dirty="0" err="1"/>
                        <a:t>tx_smsr_min</a:t>
                      </a:r>
                      <a:r>
                        <a:rPr lang="en-GB" sz="1000" dirty="0"/>
                        <a:t>}}</a:t>
                      </a:r>
                      <a:endParaRPr lang="en-GB"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/>
                        <a:t>{{</a:t>
                      </a:r>
                      <a:r>
                        <a:rPr lang="en-GB" sz="1000" dirty="0" err="1"/>
                        <a:t>tx_smsr_typical</a:t>
                      </a:r>
                      <a:r>
                        <a:rPr lang="en-GB" sz="1000" dirty="0"/>
                        <a:t>}}</a:t>
                      </a:r>
                      <a:endParaRPr lang="en-GB"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/>
                        <a:t>{{</a:t>
                      </a:r>
                      <a:r>
                        <a:rPr lang="en-GB" sz="1000" dirty="0" err="1"/>
                        <a:t>tx_smsr_max</a:t>
                      </a:r>
                      <a:r>
                        <a:rPr lang="en-GB" sz="1000" dirty="0"/>
                        <a:t>}}</a:t>
                      </a:r>
                      <a:endParaRPr lang="en-GB"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/>
                        <a:t>{{</a:t>
                      </a:r>
                      <a:r>
                        <a:rPr lang="en-GB" sz="1000" dirty="0" err="1"/>
                        <a:t>tx_smsr_unit</a:t>
                      </a:r>
                      <a:r>
                        <a:rPr lang="en-GB" sz="1000" dirty="0"/>
                        <a:t>}}</a:t>
                      </a:r>
                      <a:endParaRPr lang="en-GB"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/>
                        <a:t>{{</a:t>
                      </a:r>
                      <a:r>
                        <a:rPr lang="en-GB" sz="1000" dirty="0" err="1"/>
                        <a:t>tx_smsr_notes</a:t>
                      </a:r>
                      <a:r>
                        <a:rPr lang="en-GB" sz="1000" dirty="0"/>
                        <a:t>}}</a:t>
                      </a:r>
                      <a:endParaRPr lang="en-GB"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14964833"/>
                  </a:ext>
                </a:extLst>
              </a:tr>
              <a:tr h="3009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Optical Input Overload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tx_optical_input_overload_symbol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tx_optical_input_overload_min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tx_optical_input_overload_</a:t>
                      </a:r>
                      <a:r>
                        <a:rPr lang="en-GB" sz="1000" dirty="0" err="1"/>
                        <a:t>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tx_optical_input_overload_max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tx_optical_input_overload_unit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tx_optical_input_overload_notes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40157070"/>
                  </a:ext>
                </a:extLst>
              </a:tr>
              <a:tr h="3260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Transmitter and Dispersion Eye Closure for PAM4 (TDECQ), each Lane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tx_tdecq_symbol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tx_tdecq_min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tx_tdecq_</a:t>
                      </a:r>
                      <a:r>
                        <a:rPr lang="en-GB" sz="1000" dirty="0" err="1"/>
                        <a:t>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tx_tdecq_max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tx_tdecq_unit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tx_tdecq_notes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31566662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06CDFFB5-C806-0F4E-EED6-9B55D7325459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8" name="object 4">
            <a:extLst>
              <a:ext uri="{FF2B5EF4-FFF2-40B4-BE49-F238E27FC236}">
                <a16:creationId xmlns:a16="http://schemas.microsoft.com/office/drawing/2014/main" id="{9B1B76A7-522F-BA74-B2C9-622E9D264D27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Optical Characteristics - Transmitter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451026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437CD5A-8EE6-35E3-C572-C4D6079EE502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7" name="object 4">
            <a:extLst>
              <a:ext uri="{FF2B5EF4-FFF2-40B4-BE49-F238E27FC236}">
                <a16:creationId xmlns:a16="http://schemas.microsoft.com/office/drawing/2014/main" id="{6A1F451A-2C3C-30EF-2C81-9FF60857EF8A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Optical Characteristics - Transmitter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4" name="object 5">
            <a:extLst>
              <a:ext uri="{FF2B5EF4-FFF2-40B4-BE49-F238E27FC236}">
                <a16:creationId xmlns:a16="http://schemas.microsoft.com/office/drawing/2014/main" id="{6B6A4607-B573-61F4-B9BC-E66FF69AEB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0002297"/>
              </p:ext>
            </p:extLst>
          </p:nvPr>
        </p:nvGraphicFramePr>
        <p:xfrm>
          <a:off x="483205" y="1943759"/>
          <a:ext cx="8838594" cy="553550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170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8352">
                  <a:extLst>
                    <a:ext uri="{9D8B030D-6E8A-4147-A177-3AD203B41FA5}">
                      <a16:colId xmlns:a16="http://schemas.microsoft.com/office/drawing/2014/main" val="529331216"/>
                    </a:ext>
                  </a:extLst>
                </a:gridCol>
                <a:gridCol w="1224436">
                  <a:extLst>
                    <a:ext uri="{9D8B030D-6E8A-4147-A177-3AD203B41FA5}">
                      <a16:colId xmlns:a16="http://schemas.microsoft.com/office/drawing/2014/main" val="3728811590"/>
                    </a:ext>
                  </a:extLst>
                </a:gridCol>
                <a:gridCol w="12405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87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311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431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25164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6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Notes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Transmitter eye closure for PAM4 (TECQ), each Lane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tx_tecq_symbol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tx_tecq_min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tx_tecq_</a:t>
                      </a:r>
                      <a:r>
                        <a:rPr lang="en-GB" sz="1000" dirty="0" err="1"/>
                        <a:t>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tx_tecq_max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tx_tecq_unit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tx_tecq_notes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Extinction Ratio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tx_extinction_ratio_symbol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tx_extinction_ratio_min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tx_extinction_ratio_</a:t>
                      </a:r>
                      <a:r>
                        <a:rPr lang="en-GB" sz="1000" dirty="0" err="1"/>
                        <a:t>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tx_extinction_ratio_max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tx_extinction_ratio_unit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tx_extinction_ratio_notes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6583408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Transmitter Dispersi</a:t>
                      </a:r>
                      <a:r>
                        <a:rPr lang="en-GB" sz="1100" b="1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 Penalty (TDP)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tx_tdp_symbol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tx_tdp_min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tx_tdp_</a:t>
                      </a:r>
                      <a:r>
                        <a:rPr lang="en-GB" sz="1000" dirty="0" err="1"/>
                        <a:t>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tx_tdp_max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tx_tdp_unit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tx_tdp_notes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5865101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Over/Undershoot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tx_over_undershoot_symbol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tx_over_undershoot_min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tx_over_undershoot_</a:t>
                      </a:r>
                      <a:r>
                        <a:rPr lang="en-GB" sz="1000" dirty="0" err="1"/>
                        <a:t>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tx_over_undershoot_max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tx_over_undershoot_unit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tx_over_undershoot_notes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1946445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Transmitter Peak-to-Peak Power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tx_peak_to_peak_power_symbol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tx_peak_to_peak_power_min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tx_peak_to_peak_power_</a:t>
                      </a:r>
                      <a:r>
                        <a:rPr lang="en-GB" sz="1000" dirty="0" err="1"/>
                        <a:t>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tx_peak_to_peak_power_max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tx_peak_to_peak_power_unit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tx_peak_to_peak_power_notes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396688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Transmitter Power Excursion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tx_power_excursion_symbol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tx_power_excursion_min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tx_power_excursion_</a:t>
                      </a:r>
                      <a:r>
                        <a:rPr lang="en-GB" sz="1000" dirty="0" err="1"/>
                        <a:t>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tx_power_excursion_max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tx_power_excursion_unit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tx_power_excursion_notes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633634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Outer OMA, each Lane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tx_oma_outer_symbol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tx_oma_outer_min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tx_oma_outer_</a:t>
                      </a:r>
                      <a:r>
                        <a:rPr lang="en-GB" sz="1000" dirty="0" err="1"/>
                        <a:t>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tx_oma_outer_max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tx_oma_outer_unit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tx_oma_outer_notes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3907602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RIN OMA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tx_rin_symbol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tx_rin_min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tx_rin_</a:t>
                      </a:r>
                      <a:r>
                        <a:rPr lang="en-GB" sz="1000" dirty="0" err="1"/>
                        <a:t>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tx_rin_max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tx_rin_unit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tx_rin_notes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553202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Optical Return Loss Tolerance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kumimoji="0" lang="en-GB" sz="10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tx_optical_return_loss_tolerance_min</a:t>
                      </a:r>
                      <a:r>
                        <a:rPr kumimoji="0" lang="en-GB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kumimoji="0" lang="en-GB" sz="10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</a:t>
                      </a:r>
                      <a:r>
                        <a:rPr kumimoji="0" lang="en-GB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_</a:t>
                      </a:r>
                      <a:r>
                        <a:rPr lang="en-GB" sz="1000" dirty="0"/>
                        <a:t>typical</a:t>
                      </a:r>
                      <a:r>
                        <a:rPr kumimoji="0" lang="en-GB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kumimoji="0" lang="en-GB" sz="10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tx_optical_return_loss_tolerance_max</a:t>
                      </a:r>
                      <a:r>
                        <a:rPr kumimoji="0" lang="en-GB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kumimoji="0" lang="en-GB" sz="10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tx_optical_return_loss_tolerance_unit</a:t>
                      </a:r>
                      <a:r>
                        <a:rPr kumimoji="0" lang="en-GB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kumimoji="0" lang="en-GB" sz="10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tx_optical_return_loss_tolerance_notes</a:t>
                      </a:r>
                      <a:r>
                        <a:rPr kumimoji="0" lang="en-GB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9756227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Transition Time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tx_transition_time_symbol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tx_transition_time_min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tx_transition_time_</a:t>
                      </a:r>
                      <a:r>
                        <a:rPr lang="en-GB" sz="1000" dirty="0" err="1"/>
                        <a:t>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tx_transition_time_max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tx_transition_time_unit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tx_transition_time_notes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7000990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Transmitter Reflectance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tx_reflectance_symbol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tx_reflectance_min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tx_reflectance_typical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tx_reflectance_max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tx_reflectance_unit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tx_reflectance_notes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0419529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b="0" i="0" dirty="0">
                          <a:solidFill>
                            <a:schemeClr val="tx1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Average Launch Power of OFF Transmitter, each Lane</a:t>
                      </a:r>
                      <a:endParaRPr lang="en-GB" sz="1100" b="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tx_avg_launch_power_off_symbol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tx_avg_launch_power_off_min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tx_avg_launch_power_off_typical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tx_avg_launch_power_off_max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tx_avg_launch_power_off_unit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tx_avg_launch_power_off_notes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82447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246375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04D4F23-82A7-5677-59DE-8ACAB6430899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8" name="object 4">
            <a:extLst>
              <a:ext uri="{FF2B5EF4-FFF2-40B4-BE49-F238E27FC236}">
                <a16:creationId xmlns:a16="http://schemas.microsoft.com/office/drawing/2014/main" id="{C21B1FDF-FFB6-ECAA-830D-1855B49B03D7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Optical Characteristics – Receiver 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0" name="object 6">
            <a:extLst>
              <a:ext uri="{FF2B5EF4-FFF2-40B4-BE49-F238E27FC236}">
                <a16:creationId xmlns:a16="http://schemas.microsoft.com/office/drawing/2014/main" id="{18E75969-B767-CC44-9E7F-AB34D8276F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3258061"/>
              </p:ext>
            </p:extLst>
          </p:nvPr>
        </p:nvGraphicFramePr>
        <p:xfrm>
          <a:off x="487680" y="1953514"/>
          <a:ext cx="8834118" cy="6999991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99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65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19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2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1604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228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34482">
                  <a:extLst>
                    <a:ext uri="{9D8B030D-6E8A-4147-A177-3AD203B41FA5}">
                      <a16:colId xmlns:a16="http://schemas.microsoft.com/office/drawing/2014/main" val="902713350"/>
                    </a:ext>
                  </a:extLst>
                </a:gridCol>
              </a:tblGrid>
              <a:tr h="201173">
                <a:tc>
                  <a:txBody>
                    <a:bodyPr/>
                    <a:lstStyle/>
                    <a:p>
                      <a:pPr marL="619760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Parameter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Symbol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Typical</a:t>
                      </a:r>
                      <a:endParaRPr lang="en-GB"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Unit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 algn="l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Notes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143">
                <a:tc rowSpan="8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Centre Wavelength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9201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L0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{{tx_wavelength_l0_min}}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{{tx_wavelength_l0_typical}}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{{tx_wavelength_l0_max}}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143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L1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{{tx_wavelength_l1_min}}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{{tx_wavelength_l1_typical}}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{{tx_wavelength_l1_max}}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49271970"/>
                  </a:ext>
                </a:extLst>
              </a:tr>
              <a:tr h="432143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L2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{{tx_wavelength_l2_min}}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{{tx_wavelength_l2_typical}}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{{tx_wavelength_l2_max}}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62148244"/>
                  </a:ext>
                </a:extLst>
              </a:tr>
              <a:tr h="432143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L3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{{tx_wavelength_l3_min}}</a:t>
                      </a: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{{tx_wavelength_l3_typical}}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{{tx_wavelength_l3_max}}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1641949"/>
                  </a:ext>
                </a:extLst>
              </a:tr>
              <a:tr h="432143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L4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{{tx_wavelength_l4_min}}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{{tx_wavelength_l4_typical}}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{{tx_wavelength_l4_max}}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</a:p>
                  </a:txBody>
                  <a:tcPr marL="0" marR="0" marT="484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00762399"/>
                  </a:ext>
                </a:extLst>
              </a:tr>
              <a:tr h="501879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650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L5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{{tx_wavelength_l5_min}}</a:t>
                      </a: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{{tx_wavelength_l5_typical}}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{{tx_wavelength_l5_max}}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8269554"/>
                  </a:ext>
                </a:extLst>
              </a:tr>
              <a:tr h="432143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650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L6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{{tx_wavelength_l6_min}}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{{tx_wavelength_l6_typical}}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{{tx_wavelength_l6_max}}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135669"/>
                  </a:ext>
                </a:extLst>
              </a:tr>
              <a:tr h="432143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650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L7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{{tx_wavelength_l7_min}}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{{tx_wavelength_l7_typical}}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{{tx_wavelength_l7_max}}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01514542"/>
                  </a:ext>
                </a:extLst>
              </a:tr>
              <a:tr h="43214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Optical Data Rate, each Lane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rx_data_rate_symbol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rx_data_rate_min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rx_data_rate_</a:t>
                      </a:r>
                      <a:r>
                        <a:rPr lang="en-GB" sz="1100" dirty="0" err="1"/>
                        <a:t>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rx_data_rate_max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rx_data_rate_unit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rx_data_rate_notes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75006905"/>
                  </a:ext>
                </a:extLst>
              </a:tr>
              <a:tr h="60191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Modulation Format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rx_modulation_format_symbol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rx_modulation_format_min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rx_modulation_format_</a:t>
                      </a:r>
                      <a:r>
                        <a:rPr lang="en-GB" sz="1100" dirty="0" err="1"/>
                        <a:t>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rx_modulation_format_max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rx_modulation_format_unit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rx_modulation_format_notes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3662731"/>
                  </a:ext>
                </a:extLst>
              </a:tr>
              <a:tr h="60191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Average Receive Power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rx_average_receive_power_symbol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rx_average_receive_power_min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rx_average_receive_power_</a:t>
                      </a:r>
                      <a:r>
                        <a:rPr lang="en-GB" sz="1100" dirty="0" err="1"/>
                        <a:t>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rx_average_receive_power_max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rx_average_receive_power_unit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rx_average_receive_power_notes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6119056"/>
                  </a:ext>
                </a:extLst>
              </a:tr>
              <a:tr h="60191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Receive Power (OMA outer)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rx_receive_power_oma_symbol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rx_receive_power_oma_min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rx_receive_power_oma_</a:t>
                      </a:r>
                      <a:r>
                        <a:rPr lang="en-GB" sz="1100" dirty="0" err="1"/>
                        <a:t>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rx_receive_power_oma_max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rx_receive_power_oma_unit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rx_receive_power_oma_notes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4482100"/>
                  </a:ext>
                </a:extLst>
              </a:tr>
              <a:tr h="60191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Receiver Sensitivity (OMA outer)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rx_receiver_sensitivity_symbol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rx_receiver_sensitivity_min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rx_receiver_sensitivity_</a:t>
                      </a:r>
                      <a:r>
                        <a:rPr lang="en-GB" sz="1100" dirty="0" err="1"/>
                        <a:t>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rx_receiver_sensitivity_max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rx_receiver_sensitivity_unit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rx_receiver_sensitivity_notes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7578081"/>
                  </a:ext>
                </a:extLst>
              </a:tr>
              <a:tr h="43214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Receiver Saturation, each lane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rx_saturation_symbol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rx_saturation_min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rx_saturation_typ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rx_saturation_max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rx_saturation_unit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rx_saturation_notes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657857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834038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72181BC-9A9A-360B-0A66-CE98AA1515EE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0" name="object 4">
            <a:extLst>
              <a:ext uri="{FF2B5EF4-FFF2-40B4-BE49-F238E27FC236}">
                <a16:creationId xmlns:a16="http://schemas.microsoft.com/office/drawing/2014/main" id="{75A58DDE-44EE-E7AB-0334-D8478CF3538A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Optical Characteristics – Receiver </a:t>
            </a:r>
            <a:endParaRPr lang="en-GB"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6" name="object 5">
            <a:extLst>
              <a:ext uri="{FF2B5EF4-FFF2-40B4-BE49-F238E27FC236}">
                <a16:creationId xmlns:a16="http://schemas.microsoft.com/office/drawing/2014/main" id="{FE65ACAF-7676-A274-48C3-F055C970DE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0374364"/>
              </p:ext>
            </p:extLst>
          </p:nvPr>
        </p:nvGraphicFramePr>
        <p:xfrm>
          <a:off x="483206" y="1943755"/>
          <a:ext cx="8876695" cy="608393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7773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6903">
                  <a:extLst>
                    <a:ext uri="{9D8B030D-6E8A-4147-A177-3AD203B41FA5}">
                      <a16:colId xmlns:a16="http://schemas.microsoft.com/office/drawing/2014/main" val="529331216"/>
                    </a:ext>
                  </a:extLst>
                </a:gridCol>
                <a:gridCol w="1237199">
                  <a:extLst>
                    <a:ext uri="{9D8B030D-6E8A-4147-A177-3AD203B41FA5}">
                      <a16:colId xmlns:a16="http://schemas.microsoft.com/office/drawing/2014/main" val="3728811590"/>
                    </a:ext>
                  </a:extLst>
                </a:gridCol>
                <a:gridCol w="12534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58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185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406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11533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6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Notes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1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Damage Threshold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rx_damage_threshold_symbol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rx_damage_threshold_min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rx_damage_threshold_</a:t>
                      </a:r>
                      <a:r>
                        <a:rPr lang="en-GB" sz="1100" dirty="0" err="1"/>
                        <a:t>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rx_damage_threshold_max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rx_damage_threshold_unit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rx_damage_threshold_notes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8714905"/>
                  </a:ext>
                </a:extLst>
              </a:tr>
              <a:tr h="39249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Stressed Receiver Sensitivity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rx_stressed_receiver_sensitivity_symbol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rx_stressed_receiver_sensitivity_min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rx_stressed_receiver_sensitivity_</a:t>
                      </a:r>
                      <a:r>
                        <a:rPr lang="en-GB" sz="1100" dirty="0" err="1"/>
                        <a:t>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rx_stressed_receiver_sensitivity_max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rx_stressed_receiver_sensitivity_unit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rx_stressed_receiver_sensitivity_notes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2093184"/>
                  </a:ext>
                </a:extLst>
              </a:tr>
              <a:tr h="2197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LOS Assert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rx_los_assert_symbol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rx_los_assert_min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rx_los_assert_</a:t>
                      </a:r>
                      <a:r>
                        <a:rPr lang="en-GB" sz="1100" dirty="0" err="1"/>
                        <a:t>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rx_los_assert_max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rx_los_assert_unit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rx_los_assert_notes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9190057"/>
                  </a:ext>
                </a:extLst>
              </a:tr>
              <a:tr h="2197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LOS De assert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rx_los_deassert_symbol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rx_los_deassert_min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rx_los_deassert_</a:t>
                      </a:r>
                      <a:r>
                        <a:rPr lang="en-GB" sz="1100" dirty="0" err="1"/>
                        <a:t>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rx_los_deassert_max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rx_los_deassert_unit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rx_los_deassert_notes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758230"/>
                  </a:ext>
                </a:extLst>
              </a:tr>
              <a:tr h="2197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LOS Hysteresis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rx_los_hysteresis_symbol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rx_los_hysteresis_min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rx_los_hysteresis_</a:t>
                      </a:r>
                      <a:r>
                        <a:rPr lang="en-GB" sz="1100" dirty="0" err="1"/>
                        <a:t>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rx_los_hysteresis_max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rx_los_hysteresis_unit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rx_los_hysteresis_notes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223598"/>
                  </a:ext>
                </a:extLst>
              </a:tr>
              <a:tr h="3061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Difference Between Lane Powers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rx_lane_power_difference_symbol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rx_lane_power_difference_min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rx_lane_power_difference_</a:t>
                      </a:r>
                      <a:r>
                        <a:rPr lang="en-GB" sz="1100" dirty="0" err="1"/>
                        <a:t>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rx_lane_power_difference_max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rx_lane_power_difference_unit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rx_lane_power_difference_notes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4909961"/>
                  </a:ext>
                </a:extLst>
              </a:tr>
              <a:tr h="2197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Receiver Reflectance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rx_reflectance_symbol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rx_reflectance_min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rx_reflectance_</a:t>
                      </a:r>
                      <a:r>
                        <a:rPr lang="en-GB" sz="1100" dirty="0" err="1"/>
                        <a:t>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rx_reflectance_max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rx_reflectance_unit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rx_reflectance_notes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093180"/>
                  </a:ext>
                </a:extLst>
              </a:tr>
              <a:tr h="2197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Rise/Fall Time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rx_rise_fall_time_symbol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rx_rise_fall_time_min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rx_rise_fall_time_</a:t>
                      </a:r>
                      <a:r>
                        <a:rPr lang="en-GB" sz="1100" dirty="0" err="1"/>
                        <a:t>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rx_rise_fall_time_max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rx_rise_fall_time_unit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rx_rise_fall_time_notes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9082500"/>
                  </a:ext>
                </a:extLst>
              </a:tr>
              <a:tr h="3061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Stressed Eye Closure for PAM4 (SECQ), Lane under Test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rx_secq_symbol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rx_secq_min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rx_secq_</a:t>
                      </a:r>
                      <a:r>
                        <a:rPr lang="en-GB" sz="1100" dirty="0" err="1"/>
                        <a:t>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rx_secq_max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rx_secq_unit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rx_secq_notes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046039"/>
                  </a:ext>
                </a:extLst>
              </a:tr>
              <a:tr h="2197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BER Floor (Bit Error Ratio Floor)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rx_ber_floor_symbol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rx_ber_floor_min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rx_ber_floor_</a:t>
                      </a:r>
                      <a:r>
                        <a:rPr lang="en-GB" sz="1100" dirty="0" err="1"/>
                        <a:t>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rx_ber_floor_max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rx_ber_floor_unit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rx_ber_floor_notes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31575"/>
                  </a:ext>
                </a:extLst>
              </a:tr>
              <a:tr h="3924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Aggressor Lane OMA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rx_aggressor_lane_oma_symbol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rx_aggressor_lane_oma_min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rx_aggressor_lane_oma_</a:t>
                      </a:r>
                      <a:r>
                        <a:rPr lang="en-GB" sz="1100" dirty="0" err="1"/>
                        <a:t>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rx_aggressor_lane_oma_max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rx_aggressor_lane_oma_unit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rx_aggressor_lane_oma_notes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57369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761474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4">
            <a:extLst>
              <a:ext uri="{FF2B5EF4-FFF2-40B4-BE49-F238E27FC236}">
                <a16:creationId xmlns:a16="http://schemas.microsoft.com/office/drawing/2014/main" id="{17C3462B-9325-5B32-B22F-89A53BB0626A}"/>
              </a:ext>
            </a:extLst>
          </p:cNvPr>
          <p:cNvSpPr txBox="1"/>
          <p:nvPr/>
        </p:nvSpPr>
        <p:spPr>
          <a:xfrm>
            <a:off x="582984" y="1431051"/>
            <a:ext cx="319979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</a:t>
            </a:r>
            <a:r>
              <a:rPr lang="en-GB" sz="14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technical_drawing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}} 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D6A9301-C21E-46E4-DF91-F5877F25AA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1669808"/>
              </p:ext>
            </p:extLst>
          </p:nvPr>
        </p:nvGraphicFramePr>
        <p:xfrm>
          <a:off x="2182882" y="4506664"/>
          <a:ext cx="15424150" cy="365760"/>
        </p:xfrm>
        <a:graphic>
          <a:graphicData uri="http://schemas.openxmlformats.org/drawingml/2006/table">
            <a:tbl>
              <a:tblPr/>
              <a:tblGrid>
                <a:gridCol w="15424150">
                  <a:extLst>
                    <a:ext uri="{9D8B030D-6E8A-4147-A177-3AD203B41FA5}">
                      <a16:colId xmlns:a16="http://schemas.microsoft.com/office/drawing/2014/main" val="3542911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technical_drawing</a:t>
                      </a:r>
                      <a:r>
                        <a:rPr lang="en-GB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 (image placeholder)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21911563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3AFB1D74-86C3-4D91-3893-5084C0F85050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2633879"/>
              </p:ext>
            </p:extLst>
          </p:nvPr>
        </p:nvGraphicFramePr>
        <p:xfrm>
          <a:off x="481874" y="1942386"/>
          <a:ext cx="8154126" cy="505184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7987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553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892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25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Feature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79741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425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Standard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79741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819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compliance_esd_pins_feature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compliance_esd_pins_standard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3935353"/>
                  </a:ext>
                </a:extLst>
              </a:tr>
              <a:tr h="773819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compliance_esd_immunity_feature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compliance_esd_immunity_standard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7051274"/>
                  </a:ext>
                </a:extLst>
              </a:tr>
              <a:tr h="773819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compliance_emi_feature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compliance_emi_standard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5169300"/>
                  </a:ext>
                </a:extLst>
              </a:tr>
              <a:tr h="773819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compliance_immunity_feature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compliance_immunity_standard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2183289"/>
                  </a:ext>
                </a:extLst>
              </a:tr>
              <a:tr h="773819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compliance_laser_feature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compliance_laser_standard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lang="en-US"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2356028"/>
                  </a:ext>
                </a:extLst>
              </a:tr>
              <a:tr h="773819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compliance_environmental_feature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compliance_environmental_standard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5079934"/>
                  </a:ext>
                </a:extLst>
              </a:tr>
            </a:tbl>
          </a:graphicData>
        </a:graphic>
      </p:graphicFrame>
      <p:sp>
        <p:nvSpPr>
          <p:cNvPr id="16" name="object 9"/>
          <p:cNvSpPr txBox="1"/>
          <p:nvPr/>
        </p:nvSpPr>
        <p:spPr>
          <a:xfrm>
            <a:off x="9435613" y="2464243"/>
            <a:ext cx="7406640" cy="3297056"/>
          </a:xfrm>
          <a:prstGeom prst="rect">
            <a:avLst/>
          </a:prstGeom>
        </p:spPr>
        <p:txBody>
          <a:bodyPr vert="horz" wrap="square" lIns="0" tIns="100330" rIns="0" bIns="0" rtlCol="0">
            <a:spAutoFit/>
          </a:bodyPr>
          <a:lstStyle/>
          <a:p>
            <a:pPr marL="12701" algn="just">
              <a:spcBef>
                <a:spcPts val="790"/>
              </a:spcBef>
            </a:pPr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Im</a:t>
            </a:r>
            <a:r>
              <a:rPr sz="1400" b="1" dirty="0" err="1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portant</a:t>
            </a:r>
            <a:r>
              <a:rPr lang="en-GB" sz="1400" b="1" spc="-7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Notice</a:t>
            </a:r>
            <a:endParaRPr lang="en-GB" sz="1400" b="1" spc="-1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Performance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figures,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data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and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any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illustrative</a:t>
            </a:r>
            <a:r>
              <a:rPr sz="1400" spc="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material</a:t>
            </a:r>
            <a:r>
              <a:rPr sz="1400" spc="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provided</a:t>
            </a:r>
            <a:r>
              <a:rPr sz="1400" spc="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this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data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sheet</a:t>
            </a:r>
            <a:r>
              <a:rPr sz="1400" spc="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are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typical</a:t>
            </a:r>
            <a:r>
              <a:rPr sz="1400" spc="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and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must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be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specifically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confirmed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writing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by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-4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before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they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become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applicable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to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any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particular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order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</a:t>
            </a:r>
            <a:r>
              <a:rPr sz="1400" spc="8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contract.</a:t>
            </a:r>
            <a:endParaRPr lang="en-GB" sz="1400" spc="8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spc="8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7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accordance</a:t>
            </a:r>
            <a:r>
              <a:rPr sz="1400" spc="9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with</a:t>
            </a:r>
            <a:r>
              <a:rPr sz="1400" spc="9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the</a:t>
            </a:r>
            <a:r>
              <a:rPr sz="1400" spc="7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8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policy</a:t>
            </a:r>
            <a:r>
              <a:rPr sz="1400" spc="1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of</a:t>
            </a:r>
            <a:r>
              <a:rPr sz="1400" spc="9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continuous</a:t>
            </a:r>
            <a:r>
              <a:rPr sz="1400" spc="7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improvement</a:t>
            </a:r>
            <a:r>
              <a:rPr sz="1400" spc="8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specifications</a:t>
            </a:r>
            <a:r>
              <a:rPr sz="1400" spc="7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may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change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without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notice.</a:t>
            </a:r>
            <a:endParaRPr lang="en-GB" sz="1400" spc="-1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spc="-1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The</a:t>
            </a:r>
            <a:r>
              <a:rPr sz="1400" spc="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publication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of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information</a:t>
            </a:r>
            <a:r>
              <a:rPr sz="1400" spc="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this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data</a:t>
            </a:r>
            <a:r>
              <a:rPr sz="1400" spc="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sheet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does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not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imply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freedom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from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patent</a:t>
            </a:r>
            <a:r>
              <a:rPr sz="1400" spc="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other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protective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rights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of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others.</a:t>
            </a:r>
            <a:endParaRPr lang="en-GB" sz="1400" spc="-35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spc="-35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Further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details</a:t>
            </a:r>
            <a:r>
              <a:rPr sz="1400" spc="-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are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available</a:t>
            </a:r>
            <a:r>
              <a:rPr sz="1400" spc="-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from</a:t>
            </a:r>
            <a:r>
              <a:rPr sz="1400" spc="-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any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sales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representative.</a:t>
            </a:r>
            <a:endParaRPr sz="1400" dirty="0"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>
              <a:spcBef>
                <a:spcPts val="640"/>
              </a:spcBef>
            </a:pPr>
            <a:endParaRPr lang="en-GB" sz="1400" dirty="0"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391797-6FAD-4DB0-DA7B-4E4760F4A78D}"/>
              </a:ext>
            </a:extLst>
          </p:cNvPr>
          <p:cNvSpPr txBox="1"/>
          <p:nvPr/>
        </p:nvSpPr>
        <p:spPr>
          <a:xfrm>
            <a:off x="9338630" y="1499123"/>
            <a:ext cx="740664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Diagnostic Monitoring Interface</a:t>
            </a:r>
          </a:p>
          <a:p>
            <a:endParaRPr lang="en-GB" sz="140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defTabSz="179388"/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</a:rPr>
              <a:t>Digital diagnostics monitoring function is available on all Complete Connect {{</a:t>
            </a:r>
            <a:r>
              <a:rPr lang="en-GB" sz="1400" dirty="0" err="1">
                <a:latin typeface="Roboto" panose="02000000000000000000" pitchFamily="2" charset="0"/>
                <a:ea typeface="Roboto" panose="02000000000000000000" pitchFamily="2" charset="0"/>
              </a:rPr>
              <a:t>form_factor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</a:rPr>
              <a:t>}} products. {{</a:t>
            </a:r>
            <a:r>
              <a:rPr lang="en-GB" sz="1400" dirty="0" err="1">
                <a:latin typeface="Roboto" panose="02000000000000000000" pitchFamily="2" charset="0"/>
                <a:ea typeface="Roboto" panose="02000000000000000000" pitchFamily="2" charset="0"/>
              </a:rPr>
              <a:t>dmi_interface_description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</a:rPr>
              <a:t>}}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F6687F-BE5E-03CC-BE33-25FC3E3F642D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9" name="object 4">
            <a:extLst>
              <a:ext uri="{FF2B5EF4-FFF2-40B4-BE49-F238E27FC236}">
                <a16:creationId xmlns:a16="http://schemas.microsoft.com/office/drawing/2014/main" id="{E5AFFAB8-8D66-415B-D0D6-F9B6E7CF2690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Regulatory Compliance 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1_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2002</TotalTime>
  <Words>4503</Words>
  <Application>Microsoft Office PowerPoint</Application>
  <PresentationFormat>Custom</PresentationFormat>
  <Paragraphs>623</Paragraphs>
  <Slides>10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10</vt:i4>
      </vt:variant>
    </vt:vector>
  </HeadingPairs>
  <TitlesOfParts>
    <vt:vector size="20" baseType="lpstr">
      <vt:lpstr>Aptos</vt:lpstr>
      <vt:lpstr>Aptos Display</vt:lpstr>
      <vt:lpstr>Arial</vt:lpstr>
      <vt:lpstr>Roboto</vt:lpstr>
      <vt:lpstr>Roboto Condensed</vt:lpstr>
      <vt:lpstr>Roboto Condensed Black</vt:lpstr>
      <vt:lpstr>Wingdings</vt:lpstr>
      <vt:lpstr>Office Theme</vt:lpstr>
      <vt:lpstr>Custom Design</vt:lpstr>
      <vt:lpstr>1_Custom Design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Complete Connect</dc:title>
  <dc:creator>Complete Connect</dc:creator>
  <cp:keywords>Complete Connect</cp:keywords>
  <dc:description/>
  <cp:lastModifiedBy>Sofia Venizelos</cp:lastModifiedBy>
  <cp:revision>138</cp:revision>
  <dcterms:created xsi:type="dcterms:W3CDTF">2024-09-20T08:07:20Z</dcterms:created>
  <dcterms:modified xsi:type="dcterms:W3CDTF">2026-07-07T09:18:03Z</dcterms:modified>
  <cp:category>Complete Connect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2024-09-20T00:00:00Z</vt:filetime>
  </property>
  <property fmtid="{D5CDD505-2E9C-101B-9397-08002B2CF9AE}" pid="3" name="Creator">
    <vt:lpwstr>WPS 文字</vt:lpwstr>
  </property>
  <property fmtid="{D5CDD505-2E9C-101B-9397-08002B2CF9AE}" pid="4" name="LastSaved">
    <vt:filetime>2024-09-20T00:00:00Z</vt:filetime>
  </property>
  <property fmtid="{D5CDD505-2E9C-101B-9397-08002B2CF9AE}" pid="5" name="SourceModified">
    <vt:lpwstr>D:20240920101301+08'00'</vt:lpwstr>
  </property>
</Properties>
</file>