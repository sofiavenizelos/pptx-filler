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4"/>
  </p:notesMasterIdLst>
  <p:handoutMasterIdLst>
    <p:handoutMasterId r:id="rId15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1" r:id="rId10"/>
    <p:sldId id="275" r:id="rId11"/>
    <p:sldId id="258" r:id="rId12"/>
    <p:sldId id="266" r:id="rId13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 varScale="1">
        <p:scale>
          <a:sx n="76" d="100"/>
          <a:sy n="76" d="100"/>
        </p:scale>
        <p:origin x="864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096945"/>
              </p:ext>
            </p:extLst>
          </p:nvPr>
        </p:nvGraphicFramePr>
        <p:xfrm>
          <a:off x="483205" y="1943755"/>
          <a:ext cx="8830612" cy="57320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1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958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14883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30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49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05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029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(Industry)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875897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abs_esd_rating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1484836"/>
              </p:ext>
            </p:extLst>
          </p:nvPr>
        </p:nvGraphicFramePr>
        <p:xfrm>
          <a:off x="457199" y="1943758"/>
          <a:ext cx="8843556" cy="59184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30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817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0402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19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8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3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58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233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(Commercial)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3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3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52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59699"/>
              </p:ext>
            </p:extLst>
          </p:nvPr>
        </p:nvGraphicFramePr>
        <p:xfrm>
          <a:off x="483208" y="1953519"/>
          <a:ext cx="8800492" cy="71079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17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3125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1165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876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48610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4687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909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062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538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8090106"/>
                  </a:ext>
                </a:extLst>
              </a:tr>
              <a:tr h="538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019431"/>
                  </a:ext>
                </a:extLst>
              </a:tr>
              <a:tr h="538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0157070"/>
                  </a:ext>
                </a:extLst>
              </a:tr>
              <a:tr h="538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5666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5">
            <a:extLst>
              <a:ext uri="{FF2B5EF4-FFF2-40B4-BE49-F238E27FC236}">
                <a16:creationId xmlns:a16="http://schemas.microsoft.com/office/drawing/2014/main" id="{BF2ABD49-92DB-D452-CDAF-294D38E98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578850"/>
              </p:ext>
            </p:extLst>
          </p:nvPr>
        </p:nvGraphicFramePr>
        <p:xfrm>
          <a:off x="483206" y="1943758"/>
          <a:ext cx="8825895" cy="572751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4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6121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05422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212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61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50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9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664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9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662746"/>
                  </a:ext>
                </a:extLst>
              </a:tr>
              <a:tr h="51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626336"/>
                  </a:ext>
                </a:extLst>
              </a:tr>
              <a:tr h="4299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705399"/>
                  </a:ext>
                </a:extLst>
              </a:tr>
              <a:tr h="51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068942"/>
                  </a:ext>
                </a:extLst>
              </a:tr>
              <a:tr h="51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93977"/>
                  </a:ext>
                </a:extLst>
              </a:tr>
              <a:tr h="51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04678"/>
                  </a:ext>
                </a:extLst>
              </a:tr>
              <a:tr h="467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35505"/>
                  </a:ext>
                </a:extLst>
              </a:tr>
              <a:tr h="4299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798521"/>
                  </a:ext>
                </a:extLst>
              </a:tr>
              <a:tr h="6589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59040"/>
                  </a:ext>
                </a:extLst>
              </a:tr>
              <a:tr h="51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310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847590"/>
              </p:ext>
            </p:extLst>
          </p:nvPr>
        </p:nvGraphicFramePr>
        <p:xfrm>
          <a:off x="483207" y="1953514"/>
          <a:ext cx="8813194" cy="752674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85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4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95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25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92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1223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75948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896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50275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43289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  <a:tr h="602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Receive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11088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3612059"/>
              </p:ext>
            </p:extLst>
          </p:nvPr>
        </p:nvGraphicFramePr>
        <p:xfrm>
          <a:off x="483208" y="1943755"/>
          <a:ext cx="8851291" cy="720601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7047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08891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247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8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99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947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714905"/>
                  </a:ext>
                </a:extLst>
              </a:tr>
              <a:tr h="68619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3184"/>
                  </a:ext>
                </a:extLst>
              </a:tr>
              <a:tr h="538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190057"/>
                  </a:ext>
                </a:extLst>
              </a:tr>
              <a:tr h="622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58230"/>
                  </a:ext>
                </a:extLst>
              </a:tr>
              <a:tr h="538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23598"/>
                  </a:ext>
                </a:extLst>
              </a:tr>
              <a:tr h="538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909961"/>
                  </a:ext>
                </a:extLst>
              </a:tr>
              <a:tr h="538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93180"/>
                  </a:ext>
                </a:extLst>
              </a:tr>
              <a:tr h="538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82500"/>
                  </a:ext>
                </a:extLst>
              </a:tr>
              <a:tr h="5389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Eye Closure for PAM4 (SECQ), Lane under Test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46039"/>
                  </a:ext>
                </a:extLst>
              </a:tr>
              <a:tr h="6861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 (Bit Error Ratio Floor)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31575"/>
                  </a:ext>
                </a:extLst>
              </a:tr>
              <a:tr h="6861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7369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1813</TotalTime>
  <Words>4232</Words>
  <Application>Microsoft Office PowerPoint</Application>
  <PresentationFormat>Custom</PresentationFormat>
  <Paragraphs>588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120</cp:revision>
  <dcterms:created xsi:type="dcterms:W3CDTF">2024-09-20T08:07:20Z</dcterms:created>
  <dcterms:modified xsi:type="dcterms:W3CDTF">2026-07-02T12:10:05Z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